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charts/chart1.xml" ContentType="application/vnd.openxmlformats-officedocument.drawingml.chart+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NMPC guidance</c:v>
                </c:pt>
              </c:strCache>
            </c:strRef>
          </c:tx>
          <c:spPr>
            <a:solidFill>
              <a:srgbClr val="0E7C86"/>
            </a:solidFill>
            <a:effectLst/>
          </c:spPr>
          <c:invertIfNegative val="0"/>
          <c:dLbls>
            <c:numFmt formatCode="#,##0" sourceLinked="0"/>
            <c:txPr>
              <a:bodyPr/>
              <a:lstStyle/>
              <a:p>
                <a:pPr>
                  <a:defRPr b="0" i="0" strike="noStrike" sz="2400" u="none">
                    <a:solidFill>
                      <a:srgbClr val="14212B"/>
                    </a:solidFill>
                    <a:latin typeface="Arial"/>
                  </a:defRPr>
                </a:pPr>
              </a:p>
            </c:txPr>
            <c:showLegendKey val="0"/>
            <c:showVal val="1"/>
            <c:showCatName val="0"/>
            <c:showSerName val="0"/>
            <c:showPercent val="0"/>
            <c:showBubbleSize val="0"/>
            <c:showLeaderLines val="0"/>
          </c:dLbls>
          <c:cat>
            <c:multiLvlStrRef>
              <c:f>Sheet1!$A$2:$A$5</c:f>
              <c:multiLvlStrCache>
                <c:ptCount val="4"/>
                <c:lvl>
                  <c:pt idx="0">
                    <c:v>Cross</c:v>
                  </c:pt>
                  <c:pt idx="1">
                    <c:v>Angled</c:v>
                  </c:pt>
                  <c:pt idx="2">
                    <c:v>Parallel</c:v>
                  </c:pt>
                  <c:pt idx="3">
                    <c:v>Tandem</c:v>
                  </c:pt>
                </c:lvl>
              </c:multiLvlStrCache>
            </c:multiLvlStrRef>
          </c:cat>
          <c:val>
            <c:numRef>
              <c:f>Sheet1!$B$2:$B$5</c:f>
              <c:numCache>
                <c:formatCode>General</c:formatCode>
                <c:ptCount val="4"/>
                <c:pt idx="0">
                  <c:v>20</c:v>
                </c:pt>
                <c:pt idx="1">
                  <c:v>23</c:v>
                </c:pt>
                <c:pt idx="2">
                  <c:v>17</c:v>
                </c:pt>
                <c:pt idx="3">
                  <c:v>38</c:v>
                </c:pt>
              </c:numCache>
            </c:numRef>
          </c:val>
        </c:ser>
        <c:ser>
          <c:idx val="1"/>
          <c:order val="1"/>
          <c:tx>
            <c:strRef>
              <c:f>Sheet1!$C$1</c:f>
              <c:strCache>
                <c:ptCount val="1"/>
                <c:pt idx="0">
                  <c:v>Unaided</c:v>
                </c:pt>
              </c:strCache>
            </c:strRef>
          </c:tx>
          <c:spPr>
            <a:solidFill>
              <a:srgbClr val="B83227"/>
            </a:solidFill>
            <a:effectLst/>
          </c:spPr>
          <c:invertIfNegative val="0"/>
          <c:dLbls>
            <c:numFmt formatCode="#,##0" sourceLinked="0"/>
            <c:txPr>
              <a:bodyPr/>
              <a:lstStyle/>
              <a:p>
                <a:pPr>
                  <a:defRPr b="0" i="0" strike="noStrike" sz="2400" u="none">
                    <a:solidFill>
                      <a:srgbClr val="14212B"/>
                    </a:solidFill>
                    <a:latin typeface="Arial"/>
                  </a:defRPr>
                </a:pPr>
              </a:p>
            </c:txPr>
            <c:showLegendKey val="0"/>
            <c:showVal val="1"/>
            <c:showCatName val="0"/>
            <c:showSerName val="0"/>
            <c:showPercent val="0"/>
            <c:showBubbleSize val="0"/>
            <c:showLeaderLines val="0"/>
          </c:dLbls>
          <c:cat>
            <c:multiLvlStrRef>
              <c:f>Sheet1!$A$2:$A$5</c:f>
              <c:multiLvlStrCache>
                <c:ptCount val="4"/>
                <c:lvl>
                  <c:pt idx="0">
                    <c:v>Cross</c:v>
                  </c:pt>
                  <c:pt idx="1">
                    <c:v>Angled</c:v>
                  </c:pt>
                  <c:pt idx="2">
                    <c:v>Parallel</c:v>
                  </c:pt>
                  <c:pt idx="3">
                    <c:v>Tandem</c:v>
                  </c:pt>
                </c:lvl>
              </c:multiLvlStrCache>
            </c:multiLvlStrRef>
          </c:cat>
          <c:val>
            <c:numRef>
              <c:f>Sheet1!$C$2:$C$5</c:f>
              <c:numCache>
                <c:formatCode>General</c:formatCode>
                <c:ptCount val="4"/>
                <c:pt idx="0">
                  <c:v>0</c:v>
                </c:pt>
                <c:pt idx="1">
                  <c:v>0</c:v>
                </c:pt>
                <c:pt idx="2">
                  <c:v>0</c:v>
                </c:pt>
                <c:pt idx="3">
                  <c:v>38</c:v>
                </c:pt>
              </c:numCache>
            </c:numRef>
          </c:val>
        </c:ser>
        <c:dLbls>
          <c:numFmt formatCode="#,##0" sourceLinked="0"/>
          <c:txPr>
            <a:bodyPr/>
            <a:lstStyle/>
            <a:p>
              <a:pPr>
                <a:defRPr b="0" i="0" strike="noStrike" sz="2400" u="none">
                  <a:solidFill>
                    <a:srgbClr val="14212B"/>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2400" b="0" i="0" u="none" strike="noStrike">
                <a:solidFill>
                  <a:srgbClr val="14212B"/>
                </a:solidFill>
                <a:latin typeface="Calibri"/>
              </a:defRPr>
            </a:pPr>
            <a:endParaRPr lang="en-US"/>
          </a:p>
        </c:txPr>
        <c:crossAx val="2094734552"/>
        <c:crosses val="autoZero"/>
        <c:auto val="1"/>
        <c:lblAlgn val="ctr"/>
        <c:noMultiLvlLbl val="1"/>
      </c:catAx>
      <c:valAx>
        <c:axId val="2094734552"/>
        <c:scaling>
          <c:orientation val="minMax"/>
          <c:max val="45"/>
          <c:min val="0"/>
        </c:scaling>
        <c:delete val="0"/>
        <c:axPos val="l"/>
        <c:majorGridlines>
          <c:spPr>
            <a:ln w="12700" cap="flat">
              <a:solidFill>
                <a:srgbClr val="E3E9ED"/>
              </a:solidFill>
              <a:prstDash val="solid"/>
              <a:round/>
            </a:ln>
          </c:spPr>
        </c:majorGridlines>
        <c:title>
          <c:tx>
            <c:rich>
              <a:bodyPr/>
              <a:lstStyle/>
              <a:p>
                <a:pPr>
                  <a:defRPr sz="2400" b="0" i="0" u="none" strike="noStrike">
                    <a:solidFill>
                      <a:srgbClr val="44546A"/>
                    </a:solidFill>
                    <a:latin typeface="Arial"/>
                  </a:defRPr>
                </a:pPr>
                <a:r>
                  <a:rPr sz="2400" b="0" i="0" u="none" strike="noStrike">
                    <a:solidFill>
                      <a:srgbClr val="44546A"/>
                    </a:solidFill>
                    <a:latin typeface="Arial"/>
                  </a:rPr>
                  <a:t>bays parked</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2400" b="0" i="0" u="none" strike="noStrike">
                <a:solidFill>
                  <a:srgbClr val="44546A"/>
                </a:solidFill>
                <a:latin typeface="Calibri"/>
              </a:defRPr>
            </a:pPr>
            <a:endParaRPr lang="en-US"/>
          </a:p>
        </c:txPr>
        <c:crossAx val="2094734554"/>
        <c:crosses val="autoZero"/>
        <c:crossBetween val="between"/>
        <c:majorUnit val="15"/>
      </c:valAx>
      <c:spPr>
        <a:noFill/>
        <a:ln>
          <a:noFill/>
        </a:ln>
        <a:effectLst/>
      </c:spPr>
    </c:plotArea>
    <c:legend>
      <c:legendPos val="b"/>
      <c:overlay val="0"/>
      <c:txPr>
        <a:bodyPr/>
        <a:lstStyle/>
        <a:p>
          <a:pPr>
            <a:defRPr sz="2400">
              <a:solidFill>
                <a:srgbClr val="14212B"/>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Group B9. The project: a model-predictive controller that reverses a tractor-trailer into a parking bay without jackknifing, and turns its output into instructions a human driver can follow.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Forward driving is self-stabilising; reversing is not. A small hitch-angle error grows until the rig folds. The picture is our simulated yard: the truck waits at the gate, green bays are free.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works closest to ours. [1] is our base paper (arXiv, May 2026). [2] is the anti-jackknife MPC from Sapienza Rome. [3] is robust NMPC for an agricultural tractor-trailer.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point: [1] proposes exactly our pipeline, Hybrid A* plus NMPC, but only implemented A* and reports jackknifing. [2] solves reverse tracking but needs a given trajectory. [3] is forward-only with no hitch constraint.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gaps. The biggest: the NMPC layer in the base paper was never built, and without it the rig jackknifed.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objectives; each maps to a methodology block and a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Formally: find the input history U(t) = (speed, steering) that takes the rig from the gate to the bay, obeying the kinematics, never exceeding 60 degrees of hitch angle or 35 degrees of steering, and keeping 25 cm from obstacles. The answer must be something a person can execute.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blocks. Maths for each block is on the slides shown under it. Everything runs offline and is replayed, so a live demo cannot stall.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states: rear-axle position x1,y1, tractor heading theta0 and hitch angle psi. Two inputs: speed v (negative in reverse) and steering delta. Parameters are a 4 m tractor and an 8 m trailer.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heart of the problem is psi-dot. Its hitch term, minus v sin psi over L2, has the sign of minus v: going forward it pulls psi back to zero, reversing it pushes psi away. Because every term is proportional to v, dividing by speed gives a model in distance travelled, which is why the base paper parameterises in 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Linearise at psi = 0 with zero steering: psi-dot = -(v/L2) psi. The eigenvalue is -v/L2, negative forward and positive in reverse. Written in distance the equation is separable: tan(psi/2) grows like e^(s/L2). With L2 = 8 m a 2-degree error hits 60 degrees after 28 m. Our simulator gives 28.0 m and 30.3 m, identical to the closed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psi-dot to zero to find the steering that holds a given hitch angle. The curve peaks at 26.6 degrees of steering, at psi near 86 degrees. At 60 degrees you need 24 degrees just to hold, leaving 11 degrees of our 35-degree lock to pull the trailer back. That is the mathematical reason for choosing 60 degrees as the hard limit.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Substituting this steering law into the psi-dot equation cancels the unstable hitch term and leaves psi-dot = -|v| k (psi - psi_des), which is stable whatever the sign of v. With k = 0.5 per metre the error shrinks by e every 2 m. This makes reversing behave like driving forward and is the building block of the planner.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Hybrid A* searches continuous poses snapped to a lattice. Each expansion runs the regulator for 2 m towards one of five hitch set-points, forward or reverse, on the real model. Branches that exceed 52 degrees or come within 35 cm of an obstacle are discarded. The cost adds distance, a reverse premium and penalties for sharp or changing steering, hitch angle and gear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trailer axle is a flat output: its path curvature alone fixes the hitch angle, psi = arctan(L2 kappa). So the trailer axle behaves like a car whose steering is psi, and the shortest Dubins path of the trailer axle is a good cost-to-go estimate. Near the goal we try an analytic shot: simulate that Dubins path on the real model and accept it only if it is collision-free and lands in the bay.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line is the cost from our formulation document: tracking error, control effort and control smoothness. Below is exactly what the code minimises: the trailer axle position and heading are weighted most, the hitch angle deviation is weighted 15, the steering itself is cheap and changes of steering are expensive, so the wheel does not jerk. The trailer axle is the main target because, in reverse, the tractor rear axle initially moves the wrong way: it is the non-minimum-phase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optimiser chooses eight steering corrections, each held for 1.2 s, around the planner steering. States are predicted with RK4 and the hitch limit, steering lock and clearance are hard inequality constraints, solved with SciPy SLSQP. Only the first 0.25 s is applied, then the problem is re-solved from the new state: receding horizon. If no feasible solution exists we keep the hitch limit and drop clearance; failing that, the stable regulator takes over. Measured: 94 to 154 ms per solve, inside the 250 ms control period.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NMPC outputs a road-wheel angle every quarter second; nobody can follow that. We convert to steering-wheel turns at a 20 to 1 ratio, round to quarter turns, and merge short phases, giving 6 to 16 instructions per manoeuvre. Speed is slowed where steering is large and respects acceleration and braking limits. The strip at the top is the live guidance bar from our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layouts, each filled at random six times with parked rigs: 110 free bays. Three layouts need reversing; tandem is a forward pull-in, which acts as a control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free bay goes through the same pipeline. The guided run must pass all five checks to be offered; the unaided run uses the identical path and vehicle, only without the hitch model, so the comparison is fair.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98 of 110 bays pass every check; 12 are flagged as too tight rather than offered. Without guidance every one of the 60 reversing runs jackknifes. With NMPC the hitch limit was never violated; the worst case was 53.3 degrees against the 60-degree limit.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Guidance parks every certified bay in every layout. The unaided driver parks only the tandem bays, which are driven forward, and jackknifes on every reversing layout. Median parking error is 10 to 72 cm laterally and 2 to 6 degrees of heading.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scenario, two drivers. Both follow the same forward set-up. Once reversing starts, the unaided hitch angle runs away and folds at 57 seconds. The NMPC deliberately lets psi go to about minus 40 degrees to swing the trailer, then brings it back, and parks 58 cm from the centre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Screenshots from our app at the end of each run: left with NMPC guidance, parked in bay 6; right, the unaided driver folded the rig short of the bays.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web app during a run. (1) the current instruction with live steering and speed against the advised values, (2) the NMPC 9.6-second look-ahead drawn in the yard, (3) steering wheel, speedometer and hitch gauge, (4) the kinematic equations evaluated live, with the hitch term flagged destabilising, (5) the full instruction table. Playback can be slowed to quarter speed or paused at each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Honest limits: the runs are computed offline and replayed; the model ignores tyre slip, which is acceptable at yard speeds; aisles are generous; 12 bays could not be certified. Next steps: a live solver, a faster NLP solver for tighter yards, closing the loop with real sensing, and trials with human drivers.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one sentence: we turned the Hybrid A* plus NMPC architecture that the base paper proposed into a working, measured system that keeps the hitch angle inside a hard limit and tells a human driver exactly what to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cited on the slides as [n].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cited on the slides as [n].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Offer the live demo: pick a layout, pick a green bay, show guidance, then switch to Unaided on the same bay.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744200" y="6309360"/>
            <a:ext cx="91440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0E7C86"/>
                </a:solidFill>
                <a:latin typeface="Calibri"/>
                <a:ea typeface="Calibri"/>
                <a:cs typeface="Calibri"/>
              </a:defRPr>
            </a:lvl1pPr>
          </a:lstStyle>
          <a:p>
            <a:pPr algn="r"/>
            <a:fld id="{F7021451-1387-4CA6-816F-3879F97B5CBC}" type="slidenum">
              <a:rPr b="1"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744200" y="6309360"/>
            <a:ext cx="91440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0E7C86"/>
                </a:solidFill>
                <a:latin typeface="Calibri"/>
                <a:ea typeface="Calibri"/>
                <a:cs typeface="Calibri"/>
              </a:defRPr>
            </a:lvl1pPr>
          </a:lstStyle>
          <a:p>
            <a:pPr algn="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1.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7315200" cy="411480"/>
          </a:xfrm>
          <a:prstGeom prst="rect">
            <a:avLst/>
          </a:prstGeom>
          <a:noFill/>
          <a:ln/>
        </p:spPr>
        <p:txBody>
          <a:bodyPr wrap="square" lIns="0" tIns="0" rIns="0" bIns="0" rtlCol="0" anchor="t"/>
          <a:lstStyle/>
          <a:p>
            <a:pPr algn="l" indent="0" marL="0">
              <a:buNone/>
            </a:pPr>
            <a:r>
              <a:rPr lang="en-US" sz="2400" b="1" dirty="0">
                <a:solidFill>
                  <a:srgbClr val="0E7C86"/>
                </a:solidFill>
                <a:latin typeface="Calibri" pitchFamily="34" charset="0"/>
                <a:ea typeface="Calibri" pitchFamily="34" charset="-122"/>
                <a:cs typeface="Calibri" pitchFamily="34" charset="-120"/>
              </a:rPr>
              <a:t>Robotics · Semester 3 · Group B9</a:t>
            </a:r>
            <a:endParaRPr lang="en-US" sz="2400" dirty="0"/>
          </a:p>
        </p:txBody>
      </p:sp>
      <p:sp>
        <p:nvSpPr>
          <p:cNvPr id="3" name="Text 1"/>
          <p:cNvSpPr txBox="1"/>
          <p:nvPr/>
        </p:nvSpPr>
        <p:spPr>
          <a:xfrm>
            <a:off x="548640" y="914400"/>
            <a:ext cx="11064240" cy="1371600"/>
          </a:xfrm>
          <a:prstGeom prst="rect">
            <a:avLst/>
          </a:prstGeom>
          <a:noFill/>
          <a:ln/>
        </p:spPr>
        <p:txBody>
          <a:bodyPr wrap="square" lIns="0" tIns="0" rIns="0" bIns="0" rtlCol="0" anchor="t"/>
          <a:lstStyle/>
          <a:p>
            <a:pPr algn="l" indent="0" marL="0">
              <a:buNone/>
            </a:pPr>
            <a:r>
              <a:rPr lang="en-US" sz="3800" b="1" dirty="0">
                <a:solidFill>
                  <a:srgbClr val="14212B"/>
                </a:solidFill>
                <a:latin typeface="Cambria" pitchFamily="34" charset="0"/>
                <a:ea typeface="Cambria" pitchFamily="34" charset="-122"/>
                <a:cs typeface="Cambria" pitchFamily="34" charset="-120"/>
              </a:rPr>
              <a:t>Model Predictive Control for Automated Reverse Docking of an Articulated Tractor-Trailer</a:t>
            </a:r>
            <a:endParaRPr lang="en-US" sz="3800" dirty="0"/>
          </a:p>
        </p:txBody>
      </p:sp>
      <p:sp>
        <p:nvSpPr>
          <p:cNvPr id="4" name="Text 2"/>
          <p:cNvSpPr txBox="1"/>
          <p:nvPr/>
        </p:nvSpPr>
        <p:spPr>
          <a:xfrm>
            <a:off x="548640" y="2377440"/>
            <a:ext cx="11064240" cy="457200"/>
          </a:xfrm>
          <a:prstGeom prst="rect">
            <a:avLst/>
          </a:prstGeom>
          <a:noFill/>
          <a:ln/>
        </p:spPr>
        <p:txBody>
          <a:bodyPr wrap="square" lIns="0" tIns="0" rIns="0" bIns="0" rtlCol="0" anchor="t"/>
          <a:lstStyle/>
          <a:p>
            <a:pPr algn="l" indent="0" marL="0">
              <a:buNone/>
            </a:pPr>
            <a:r>
              <a:rPr lang="en-US" sz="2600" dirty="0">
                <a:solidFill>
                  <a:srgbClr val="44546A"/>
                </a:solidFill>
                <a:latin typeface="Calibri" pitchFamily="34" charset="0"/>
                <a:ea typeface="Calibri" pitchFamily="34" charset="-122"/>
                <a:cs typeface="Calibri" pitchFamily="34" charset="-120"/>
              </a:rPr>
              <a:t>Jackknife-safe trajectory tracking and step-by-step driver guidance</a:t>
            </a:r>
            <a:endParaRPr lang="en-US" sz="2600" dirty="0"/>
          </a:p>
        </p:txBody>
      </p:sp>
      <p:sp>
        <p:nvSpPr>
          <p:cNvPr id="5" name="Shape 3"/>
          <p:cNvSpPr/>
          <p:nvPr/>
        </p:nvSpPr>
        <p:spPr>
          <a:xfrm>
            <a:off x="548640" y="3154680"/>
            <a:ext cx="5486400" cy="2834640"/>
          </a:xfrm>
          <a:prstGeom prst="roundRect">
            <a:avLst>
              <a:gd name="adj" fmla="val 3871"/>
            </a:avLst>
          </a:prstGeom>
          <a:solidFill>
            <a:srgbClr val="E8F3F4"/>
          </a:solidFill>
          <a:ln/>
        </p:spPr>
      </p:sp>
      <p:sp>
        <p:nvSpPr>
          <p:cNvPr id="6" name="Text 4"/>
          <p:cNvSpPr txBox="1"/>
          <p:nvPr/>
        </p:nvSpPr>
        <p:spPr>
          <a:xfrm>
            <a:off x="868680" y="3429000"/>
            <a:ext cx="5029200" cy="2377440"/>
          </a:xfrm>
          <a:prstGeom prst="rect">
            <a:avLst/>
          </a:prstGeom>
          <a:noFill/>
          <a:ln/>
        </p:spPr>
        <p:txBody>
          <a:bodyPr wrap="square" lIns="0" tIns="0" rIns="0" bIns="0" rtlCol="0" anchor="t"/>
          <a:lstStyle/>
          <a:p>
            <a:pPr marL="342900" indent="-342900">
              <a:spcAft>
                <a:spcPts val="1400"/>
              </a:spcAft>
              <a:buSzPct val="100000"/>
              <a:buChar char="•"/>
            </a:pPr>
            <a:r>
              <a:rPr lang="en-US" sz="2400" b="1" dirty="0">
                <a:solidFill>
                  <a:srgbClr val="14212B"/>
                </a:solidFill>
                <a:latin typeface="Calibri" pitchFamily="34" charset="0"/>
                <a:ea typeface="Calibri" pitchFamily="34" charset="-122"/>
                <a:cs typeface="Calibri" pitchFamily="34" charset="-120"/>
              </a:rPr>
              <a:t>Harshith KV</a:t>
            </a:r>
            <a:pPr indent="0" marL="0">
              <a:buNone/>
            </a:pPr>
            <a:r>
              <a:rPr lang="en-US" sz="2400" dirty="0">
                <a:solidFill>
                  <a:srgbClr val="14212B"/>
                </a:solidFill>
                <a:latin typeface="Calibri" pitchFamily="34" charset="0"/>
                <a:ea typeface="Calibri" pitchFamily="34" charset="-122"/>
                <a:cs typeface="Calibri" pitchFamily="34" charset="-120"/>
              </a:rPr>
              <a:t>  AID25119</a:t>
            </a:r>
            <a:endParaRPr lang="en-US" sz="2400" dirty="0"/>
          </a:p>
          <a:p>
            <a:pPr marL="342900" indent="-342900">
              <a:spcAft>
                <a:spcPts val="1400"/>
              </a:spcAft>
              <a:buSzPct val="100000"/>
              <a:buChar char="•"/>
            </a:pPr>
            <a:r>
              <a:rPr lang="en-US" sz="2400" b="1" dirty="0">
                <a:solidFill>
                  <a:srgbClr val="14212B"/>
                </a:solidFill>
                <a:latin typeface="Calibri" pitchFamily="34" charset="0"/>
                <a:ea typeface="Calibri" pitchFamily="34" charset="-122"/>
                <a:cs typeface="Calibri" pitchFamily="34" charset="-120"/>
              </a:rPr>
              <a:t>G Venugopalan</a:t>
            </a:r>
            <a:pPr indent="0" marL="0">
              <a:buNone/>
            </a:pPr>
            <a:r>
              <a:rPr lang="en-US" sz="2400" dirty="0">
                <a:solidFill>
                  <a:srgbClr val="14212B"/>
                </a:solidFill>
                <a:latin typeface="Calibri" pitchFamily="34" charset="0"/>
                <a:ea typeface="Calibri" pitchFamily="34" charset="-122"/>
                <a:cs typeface="Calibri" pitchFamily="34" charset="-120"/>
              </a:rPr>
              <a:t>  AID25115</a:t>
            </a:r>
            <a:endParaRPr lang="en-US" sz="2400" dirty="0"/>
          </a:p>
          <a:p>
            <a:pPr marL="342900" indent="-342900">
              <a:spcAft>
                <a:spcPts val="1400"/>
              </a:spcAft>
              <a:buSzPct val="100000"/>
              <a:buChar char="•"/>
            </a:pPr>
            <a:r>
              <a:rPr lang="en-US" sz="2400" b="1" dirty="0">
                <a:solidFill>
                  <a:srgbClr val="14212B"/>
                </a:solidFill>
                <a:latin typeface="Calibri" pitchFamily="34" charset="0"/>
                <a:ea typeface="Calibri" pitchFamily="34" charset="-122"/>
                <a:cs typeface="Calibri" pitchFamily="34" charset="-120"/>
              </a:rPr>
              <a:t>Rithvik Arulprakash</a:t>
            </a:r>
            <a:pPr indent="0" marL="0">
              <a:buNone/>
            </a:pPr>
            <a:r>
              <a:rPr lang="en-US" sz="2400" dirty="0">
                <a:solidFill>
                  <a:srgbClr val="14212B"/>
                </a:solidFill>
                <a:latin typeface="Calibri" pitchFamily="34" charset="0"/>
                <a:ea typeface="Calibri" pitchFamily="34" charset="-122"/>
                <a:cs typeface="Calibri" pitchFamily="34" charset="-120"/>
              </a:rPr>
              <a:t>  AID25148</a:t>
            </a:r>
            <a:endParaRPr lang="en-US" sz="2400" dirty="0"/>
          </a:p>
          <a:p>
            <a:pPr marL="342900" indent="-342900">
              <a:spcAft>
                <a:spcPts val="1400"/>
              </a:spcAft>
              <a:buSzPct val="100000"/>
              <a:buChar char="•"/>
            </a:pPr>
            <a:r>
              <a:rPr lang="en-US" sz="2400" b="1" dirty="0">
                <a:solidFill>
                  <a:srgbClr val="14212B"/>
                </a:solidFill>
                <a:latin typeface="Calibri" pitchFamily="34" charset="0"/>
                <a:ea typeface="Calibri" pitchFamily="34" charset="-122"/>
                <a:cs typeface="Calibri" pitchFamily="34" charset="-120"/>
              </a:rPr>
              <a:t>Vipin Sudhakar</a:t>
            </a:r>
            <a:pPr indent="0" marL="0">
              <a:buNone/>
            </a:pPr>
            <a:r>
              <a:rPr lang="en-US" sz="2400" dirty="0">
                <a:solidFill>
                  <a:srgbClr val="14212B"/>
                </a:solidFill>
                <a:latin typeface="Calibri" pitchFamily="34" charset="0"/>
                <a:ea typeface="Calibri" pitchFamily="34" charset="-122"/>
                <a:cs typeface="Calibri" pitchFamily="34" charset="-120"/>
              </a:rPr>
              <a:t>  AID25166</a:t>
            </a:r>
            <a:endParaRPr lang="en-US" sz="2400" dirty="0"/>
          </a:p>
        </p:txBody>
      </p:sp>
      <p:pic>
        <p:nvPicPr>
          <p:cNvPr id="7" name="Image 0" descr="Simulated tractor-trailer reversing with the NMPC look-ahead drawn ahead of it">    </p:cNvPr>
          <p:cNvPicPr>
            <a:picLocks noChangeAspect="1"/>
          </p:cNvPicPr>
          <p:nvPr/>
        </p:nvPicPr>
        <p:blipFill>
          <a:blip r:embed="rId1"/>
          <a:stretch>
            <a:fillRect/>
          </a:stretch>
        </p:blipFill>
        <p:spPr>
          <a:xfrm>
            <a:off x="6355080" y="3216506"/>
            <a:ext cx="5303520" cy="2802428"/>
          </a:xfrm>
          <a:prstGeom prst="rect">
            <a:avLst/>
          </a:prstGeom>
        </p:spPr>
      </p:pic>
      <p:sp>
        <p:nvSpPr>
          <p:cNvPr id="25" name="Slide Number Placeholder 0"/>
          <p:cNvSpPr>
            <a:spLocks noGrp="1"/>
          </p:cNvSpPr>
          <p:nvPr>
            <p:ph type="sldNum" sz="quarter" idx="4294967295"/>
          </p:nvPr>
        </p:nvSpPr>
        <p:spPr>
          <a:xfrm>
            <a:off x="10744200" y="6309360"/>
            <a:ext cx="91440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0E7C86"/>
                </a:solidFill>
                <a:latin typeface="Calibri"/>
                <a:ea typeface="Calibri"/>
                <a:cs typeface="Calibri"/>
              </a:defRPr>
            </a:lvl1pPr>
          </a:lstStyle>
          <a:p>
            <a:pPr algn="r"/>
            <a:fld id="{F7021451-1387-4CA6-816F-3879F97B5CBC}" type="slidenum">
              <a:rPr b="1"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777240"/>
          </a:xfrm>
          <a:prstGeom prst="rect">
            <a:avLst/>
          </a:prstGeom>
          <a:noFill/>
          <a:ln/>
        </p:spPr>
        <p:txBody>
          <a:bodyPr wrap="square" lIns="0" tIns="0" rIns="0" bIns="0" rtlCol="0" anchor="ctr"/>
          <a:lstStyle/>
          <a:p>
            <a:pPr indent="0" marL="0">
              <a:buNone/>
            </a:pPr>
            <a:r>
              <a:rPr lang="en-US" sz="3400" b="1" dirty="0">
                <a:solidFill>
                  <a:srgbClr val="14212B"/>
                </a:solidFill>
                <a:latin typeface="Cambria" pitchFamily="34" charset="0"/>
                <a:ea typeface="Cambria" pitchFamily="34" charset="-122"/>
                <a:cs typeface="Cambria" pitchFamily="34" charset="-120"/>
              </a:rPr>
              <a:t>Introduction: reversing an articulated truck</a:t>
            </a:r>
            <a:endParaRPr lang="en-US" sz="3400" dirty="0"/>
          </a:p>
        </p:txBody>
      </p:sp>
      <p:sp>
        <p:nvSpPr>
          <p:cNvPr id="3" name="Text 1"/>
          <p:cNvSpPr txBox="1"/>
          <p:nvPr/>
        </p:nvSpPr>
        <p:spPr>
          <a:xfrm>
            <a:off x="548640" y="6309360"/>
            <a:ext cx="8229600" cy="411480"/>
          </a:xfrm>
          <a:prstGeom prst="rect">
            <a:avLst/>
          </a:prstGeom>
          <a:noFill/>
          <a:ln/>
        </p:spPr>
        <p:txBody>
          <a:bodyPr wrap="square" lIns="0" tIns="0" rIns="0" bIns="0" rtlCol="0" anchor="ctr"/>
          <a:lstStyle/>
          <a:p>
            <a:pPr indent="0" marL="0">
              <a:buNone/>
            </a:pPr>
            <a:r>
              <a:rPr lang="en-US" sz="2400" dirty="0">
                <a:solidFill>
                  <a:srgbClr val="44546A"/>
                </a:solidFill>
                <a:latin typeface="Calibri" pitchFamily="34" charset="0"/>
                <a:ea typeface="Calibri" pitchFamily="34" charset="-122"/>
                <a:cs typeface="Calibri" pitchFamily="34" charset="-120"/>
              </a:rPr>
              <a:t>Introduction</a:t>
            </a:r>
            <a:endParaRPr lang="en-US" sz="2400" dirty="0"/>
          </a:p>
        </p:txBody>
      </p:sp>
      <p:sp>
        <p:nvSpPr>
          <p:cNvPr id="4" name="Text 2"/>
          <p:cNvSpPr txBox="1"/>
          <p:nvPr/>
        </p:nvSpPr>
        <p:spPr>
          <a:xfrm>
            <a:off x="548640" y="1325880"/>
            <a:ext cx="6583680" cy="4663440"/>
          </a:xfrm>
          <a:prstGeom prst="rect">
            <a:avLst/>
          </a:prstGeom>
          <a:noFill/>
          <a:ln/>
        </p:spPr>
        <p:txBody>
          <a:bodyPr wrap="square" lIns="0" tIns="0" rIns="0" bIns="0" rtlCol="0" anchor="t"/>
          <a:lstStyle/>
          <a:p>
            <a:pPr marL="342900" indent="-342900">
              <a:spcAft>
                <a:spcPts val="1600"/>
              </a:spcAft>
              <a:buSzPct val="100000"/>
              <a:buChar char="•"/>
            </a:pPr>
            <a:r>
              <a:rPr lang="en-US" sz="2400" dirty="0">
                <a:solidFill>
                  <a:srgbClr val="14212B"/>
                </a:solidFill>
                <a:latin typeface="Calibri" pitchFamily="34" charset="0"/>
                <a:ea typeface="Calibri" pitchFamily="34" charset="-122"/>
                <a:cs typeface="Calibri" pitchFamily="34" charset="-120"/>
              </a:rPr>
              <a:t>Trailers are docked in reverse, every day</a:t>
            </a:r>
            <a:endParaRPr lang="en-US" sz="2400" dirty="0"/>
          </a:p>
          <a:p>
            <a:pPr marL="342900" indent="-342900">
              <a:spcAft>
                <a:spcPts val="1600"/>
              </a:spcAft>
              <a:buSzPct val="100000"/>
              <a:buChar char="•"/>
            </a:pPr>
            <a:r>
              <a:rPr lang="en-US" sz="2400" b="1" dirty="0">
                <a:solidFill>
                  <a:srgbClr val="1E7A45"/>
                </a:solidFill>
                <a:latin typeface="Calibri" pitchFamily="34" charset="0"/>
                <a:ea typeface="Calibri" pitchFamily="34" charset="-122"/>
                <a:cs typeface="Calibri" pitchFamily="34" charset="-120"/>
              </a:rPr>
              <a:t>Forward: </a:t>
            </a:r>
            <a:pPr indent="0" marL="0">
              <a:buNone/>
            </a:pPr>
            <a:r>
              <a:rPr lang="en-US" sz="2400" dirty="0">
                <a:solidFill>
                  <a:srgbClr val="14212B"/>
                </a:solidFill>
                <a:latin typeface="Calibri" pitchFamily="34" charset="0"/>
                <a:ea typeface="Calibri" pitchFamily="34" charset="-122"/>
                <a:cs typeface="Calibri" pitchFamily="34" charset="-120"/>
              </a:rPr>
              <a:t>the trailer self-aligns (stable)</a:t>
            </a:r>
            <a:endParaRPr lang="en-US" sz="2400" dirty="0"/>
          </a:p>
          <a:p>
            <a:pPr marL="342900" indent="-342900">
              <a:spcAft>
                <a:spcPts val="1600"/>
              </a:spcAft>
              <a:buSzPct val="100000"/>
              <a:buChar char="•"/>
            </a:pPr>
            <a:r>
              <a:rPr lang="en-US" sz="2400" b="1" dirty="0">
                <a:solidFill>
                  <a:srgbClr val="B83227"/>
                </a:solidFill>
                <a:latin typeface="Calibri" pitchFamily="34" charset="0"/>
                <a:ea typeface="Calibri" pitchFamily="34" charset="-122"/>
                <a:cs typeface="Calibri" pitchFamily="34" charset="-120"/>
              </a:rPr>
              <a:t>Reverse: </a:t>
            </a:r>
            <a:pPr indent="0" marL="0">
              <a:buNone/>
            </a:pPr>
            <a:r>
              <a:rPr lang="en-US" sz="2400" dirty="0">
                <a:solidFill>
                  <a:srgbClr val="14212B"/>
                </a:solidFill>
                <a:latin typeface="Calibri" pitchFamily="34" charset="0"/>
                <a:ea typeface="Calibri" pitchFamily="34" charset="-122"/>
                <a:cs typeface="Calibri" pitchFamily="34" charset="-120"/>
              </a:rPr>
              <a:t>hitch angle ψ grows exponentially</a:t>
            </a:r>
            <a:endParaRPr lang="en-US" sz="2400" dirty="0"/>
          </a:p>
          <a:p>
            <a:pPr marL="342900" indent="-342900">
              <a:spcAft>
                <a:spcPts val="1600"/>
              </a:spcAft>
              <a:buSzPct val="100000"/>
              <a:buChar char="•"/>
            </a:pPr>
            <a:r>
              <a:rPr lang="en-US" sz="2400" dirty="0">
                <a:solidFill>
                  <a:srgbClr val="14212B"/>
                </a:solidFill>
                <a:latin typeface="Calibri" pitchFamily="34" charset="0"/>
                <a:ea typeface="Calibri" pitchFamily="34" charset="-122"/>
                <a:cs typeface="Calibri" pitchFamily="34" charset="-120"/>
              </a:rPr>
              <a:t>Uncorrected, the rig folds: a jackknife</a:t>
            </a:r>
            <a:endParaRPr lang="en-US" sz="2400" dirty="0"/>
          </a:p>
          <a:p>
            <a:pPr marL="342900" indent="-342900">
              <a:spcAft>
                <a:spcPts val="1600"/>
              </a:spcAft>
              <a:buSzPct val="100000"/>
              <a:buChar char="•"/>
            </a:pPr>
            <a:r>
              <a:rPr lang="en-US" sz="2400" dirty="0">
                <a:solidFill>
                  <a:srgbClr val="14212B"/>
                </a:solidFill>
                <a:latin typeface="Calibri" pitchFamily="34" charset="0"/>
                <a:ea typeface="Calibri" pitchFamily="34" charset="-122"/>
                <a:cs typeface="Calibri" pitchFamily="34" charset="-120"/>
              </a:rPr>
              <a:t>Drivers must first steer “the wrong way”</a:t>
            </a:r>
            <a:endParaRPr lang="en-US" sz="2400" dirty="0"/>
          </a:p>
          <a:p>
            <a:pPr marL="342900" indent="-342900">
              <a:spcAft>
                <a:spcPts val="1600"/>
              </a:spcAft>
              <a:buSzPct val="100000"/>
              <a:buChar char="•"/>
            </a:pPr>
            <a:r>
              <a:rPr lang="en-US" sz="2400" b="1" dirty="0">
                <a:solidFill>
                  <a:srgbClr val="0E7C86"/>
                </a:solidFill>
                <a:latin typeface="Calibri" pitchFamily="34" charset="0"/>
                <a:ea typeface="Calibri" pitchFamily="34" charset="-122"/>
                <a:cs typeface="Calibri" pitchFamily="34" charset="-120"/>
              </a:rPr>
              <a:t>This project: </a:t>
            </a:r>
            <a:pPr indent="0" marL="0">
              <a:buNone/>
            </a:pPr>
            <a:r>
              <a:rPr lang="en-US" sz="2400" dirty="0">
                <a:solidFill>
                  <a:srgbClr val="14212B"/>
                </a:solidFill>
                <a:latin typeface="Calibri" pitchFamily="34" charset="0"/>
                <a:ea typeface="Calibri" pitchFamily="34" charset="-122"/>
                <a:cs typeface="Calibri" pitchFamily="34" charset="-120"/>
              </a:rPr>
              <a:t>a co-pilot that says how to steer, how fast and how far</a:t>
            </a:r>
            <a:endParaRPr lang="en-US" sz="2400" dirty="0"/>
          </a:p>
        </p:txBody>
      </p:sp>
      <p:pic>
        <p:nvPicPr>
          <p:cNvPr id="5" name="Image 0" descr="Parking yard with the rig at the gate and ten bays, some occupied">    </p:cNvPr>
          <p:cNvPicPr>
            <a:picLocks noChangeAspect="1"/>
          </p:cNvPicPr>
          <p:nvPr/>
        </p:nvPicPr>
        <p:blipFill>
          <a:blip r:embed="rId1"/>
          <a:stretch>
            <a:fillRect/>
          </a:stretch>
        </p:blipFill>
        <p:spPr>
          <a:xfrm>
            <a:off x="7569507" y="1234440"/>
            <a:ext cx="3971946" cy="4343400"/>
          </a:xfrm>
          <a:prstGeom prst="rect">
            <a:avLst/>
          </a:prstGeom>
        </p:spPr>
      </p:pic>
      <p:sp>
        <p:nvSpPr>
          <p:cNvPr id="6" name="Text 3"/>
          <p:cNvSpPr txBox="1"/>
          <p:nvPr/>
        </p:nvSpPr>
        <p:spPr>
          <a:xfrm>
            <a:off x="7452360" y="5669280"/>
            <a:ext cx="4206240" cy="411480"/>
          </a:xfrm>
          <a:prstGeom prst="rect">
            <a:avLst/>
          </a:prstGeom>
          <a:noFill/>
          <a:ln/>
        </p:spPr>
        <p:txBody>
          <a:bodyPr wrap="square" lIns="0" tIns="0" rIns="0" bIns="0" rtlCol="0" anchor="t"/>
          <a:lstStyle/>
          <a:p>
            <a:pPr algn="ctr" indent="0" marL="0">
              <a:buNone/>
            </a:pPr>
            <a:r>
              <a:rPr lang="en-US" sz="2400" dirty="0">
                <a:solidFill>
                  <a:srgbClr val="44546A"/>
                </a:solidFill>
                <a:latin typeface="Calibri" pitchFamily="34" charset="0"/>
                <a:ea typeface="Calibri" pitchFamily="34" charset="-122"/>
                <a:cs typeface="Calibri" pitchFamily="34" charset="-120"/>
              </a:rPr>
              <a:t>Rig at the gate; green = free bays</a:t>
            </a:r>
            <a:endParaRPr lang="en-US" sz="2400" dirty="0"/>
          </a:p>
        </p:txBody>
      </p:sp>
      <p:sp>
        <p:nvSpPr>
          <p:cNvPr id="25" name="Slide Number Placeholder 0"/>
          <p:cNvSpPr>
            <a:spLocks noGrp="1"/>
          </p:cNvSpPr>
          <p:nvPr>
            <p:ph type="sldNum" sz="quarter" idx="4294967295"/>
          </p:nvPr>
        </p:nvSpPr>
        <p:spPr>
          <a:xfrm>
            <a:off x="10744200" y="6309360"/>
            <a:ext cx="91440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0E7C86"/>
                </a:solidFill>
                <a:latin typeface="Calibri"/>
                <a:ea typeface="Calibri"/>
                <a:cs typeface="Calibri"/>
              </a:defRPr>
            </a:lvl1pPr>
          </a:lstStyle>
          <a:p>
            <a:pPr algn="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777240"/>
          </a:xfrm>
          <a:prstGeom prst="rect">
            <a:avLst/>
          </a:prstGeom>
          <a:noFill/>
          <a:ln/>
        </p:spPr>
        <p:txBody>
          <a:bodyPr wrap="square" lIns="0" tIns="0" rIns="0" bIns="0" rtlCol="0" anchor="ctr"/>
          <a:lstStyle/>
          <a:p>
            <a:pPr indent="0" marL="0">
              <a:buNone/>
            </a:pPr>
            <a:r>
              <a:rPr lang="en-US" sz="3400" b="1" dirty="0">
                <a:solidFill>
                  <a:srgbClr val="14212B"/>
                </a:solidFill>
                <a:latin typeface="Cambria" pitchFamily="34" charset="0"/>
                <a:ea typeface="Cambria" pitchFamily="34" charset="-122"/>
                <a:cs typeface="Cambria" pitchFamily="34" charset="-120"/>
              </a:rPr>
              <a:t>Literature review (1/2): the three closest works</a:t>
            </a:r>
            <a:endParaRPr lang="en-US" sz="3400" dirty="0"/>
          </a:p>
        </p:txBody>
      </p:sp>
      <p:sp>
        <p:nvSpPr>
          <p:cNvPr id="3" name="Text 1"/>
          <p:cNvSpPr txBox="1"/>
          <p:nvPr/>
        </p:nvSpPr>
        <p:spPr>
          <a:xfrm>
            <a:off x="548640" y="6309360"/>
            <a:ext cx="8229600" cy="411480"/>
          </a:xfrm>
          <a:prstGeom prst="rect">
            <a:avLst/>
          </a:prstGeom>
          <a:noFill/>
          <a:ln/>
        </p:spPr>
        <p:txBody>
          <a:bodyPr wrap="square" lIns="0" tIns="0" rIns="0" bIns="0" rtlCol="0" anchor="ctr"/>
          <a:lstStyle/>
          <a:p>
            <a:pPr indent="0" marL="0">
              <a:buNone/>
            </a:pPr>
            <a:r>
              <a:rPr lang="en-US" sz="2400" dirty="0">
                <a:solidFill>
                  <a:srgbClr val="44546A"/>
                </a:solidFill>
                <a:latin typeface="Calibri" pitchFamily="34" charset="0"/>
                <a:ea typeface="Calibri" pitchFamily="34" charset="-122"/>
                <a:cs typeface="Calibri" pitchFamily="34" charset="-120"/>
              </a:rPr>
              <a:t>Literature review</a:t>
            </a:r>
            <a:endParaRPr lang="en-US" sz="2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685800"/>
                <a:gridCol w="4892040"/>
                <a:gridCol w="2834640"/>
                <a:gridCol w="914400"/>
                <a:gridCol w="1737360"/>
              </a:tblGrid>
              <a:tr h="502920">
                <a:tc>
                  <a:txBody>
                    <a:bodyPr/>
                    <a:lstStyle/>
                    <a:p>
                      <a:pPr indent="0" marL="0">
                        <a:buNone/>
                      </a:pPr>
                      <a:r>
                        <a:rPr lang="en-US" sz="2400" b="1" dirty="0">
                          <a:solidFill>
                            <a:srgbClr val="FFFFFF"/>
                          </a:solidFill>
                          <a:latin typeface="Calibri" pitchFamily="34" charset="0"/>
                          <a:ea typeface="Calibri" pitchFamily="34" charset="-122"/>
                          <a:cs typeface="Calibri" pitchFamily="34" charset="-120"/>
                        </a:rPr>
                        <a:t>#</a:t>
                      </a:r>
                      <a:endParaRPr lang="en-US" sz="2400" dirty="0">
                        <a:latin typeface="Calibri" charset="0"/>
                        <a:ea typeface="Calibri" charset="0"/>
                        <a:cs typeface="Calibri" charset="0"/>
                      </a:endParaRPr>
                    </a:p>
                  </a:txBody>
                  <a:tcPr marL="64008" marR="64008" marT="64008" marB="64008" anchor="ctr">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solidFill>
                      <a:srgbClr val="0E7C86"/>
                    </a:solidFill>
                  </a:tcPr>
                </a:tc>
                <a:tc>
                  <a:txBody>
                    <a:bodyPr/>
                    <a:lstStyle/>
                    <a:p>
                      <a:pPr indent="0" marL="0">
                        <a:buNone/>
                      </a:pPr>
                      <a:r>
                        <a:rPr lang="en-US" sz="2400" b="1" dirty="0">
                          <a:solidFill>
                            <a:srgbClr val="FFFFFF"/>
                          </a:solidFill>
                          <a:latin typeface="Calibri" pitchFamily="34" charset="0"/>
                          <a:ea typeface="Calibri" pitchFamily="34" charset="-122"/>
                          <a:cs typeface="Calibri" pitchFamily="34" charset="-120"/>
                        </a:rPr>
                        <a:t>Title</a:t>
                      </a:r>
                      <a:endParaRPr lang="en-US" sz="2400" dirty="0">
                        <a:latin typeface="Calibri" charset="0"/>
                        <a:ea typeface="Calibri" charset="0"/>
                        <a:cs typeface="Calibri" charset="0"/>
                      </a:endParaRPr>
                    </a:p>
                  </a:txBody>
                  <a:tcPr marL="64008" marR="64008" marT="64008" marB="64008" anchor="ctr">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solidFill>
                      <a:srgbClr val="0E7C86"/>
                    </a:solidFill>
                  </a:tcPr>
                </a:tc>
                <a:tc>
                  <a:txBody>
                    <a:bodyPr/>
                    <a:lstStyle/>
                    <a:p>
                      <a:pPr indent="0" marL="0">
                        <a:buNone/>
                      </a:pPr>
                      <a:r>
                        <a:rPr lang="en-US" sz="2400" b="1" dirty="0">
                          <a:solidFill>
                            <a:srgbClr val="FFFFFF"/>
                          </a:solidFill>
                          <a:latin typeface="Calibri" pitchFamily="34" charset="0"/>
                          <a:ea typeface="Calibri" pitchFamily="34" charset="-122"/>
                          <a:cs typeface="Calibri" pitchFamily="34" charset="-120"/>
                        </a:rPr>
                        <a:t>Authors</a:t>
                      </a:r>
                      <a:endParaRPr lang="en-US" sz="2400" dirty="0">
                        <a:latin typeface="Calibri" charset="0"/>
                        <a:ea typeface="Calibri" charset="0"/>
                        <a:cs typeface="Calibri" charset="0"/>
                      </a:endParaRPr>
                    </a:p>
                  </a:txBody>
                  <a:tcPr marL="64008" marR="64008" marT="64008" marB="64008" anchor="ctr">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solidFill>
                      <a:srgbClr val="0E7C86"/>
                    </a:solidFill>
                  </a:tcPr>
                </a:tc>
                <a:tc>
                  <a:txBody>
                    <a:bodyPr/>
                    <a:lstStyle/>
                    <a:p>
                      <a:pPr indent="0" marL="0">
                        <a:buNone/>
                      </a:pPr>
                      <a:r>
                        <a:rPr lang="en-US" sz="2400" b="1" dirty="0">
                          <a:solidFill>
                            <a:srgbClr val="FFFFFF"/>
                          </a:solidFill>
                          <a:latin typeface="Calibri" pitchFamily="34" charset="0"/>
                          <a:ea typeface="Calibri" pitchFamily="34" charset="-122"/>
                          <a:cs typeface="Calibri" pitchFamily="34" charset="-120"/>
                        </a:rPr>
                        <a:t>Year</a:t>
                      </a:r>
                      <a:endParaRPr lang="en-US" sz="2400" dirty="0">
                        <a:latin typeface="Calibri" charset="0"/>
                        <a:ea typeface="Calibri" charset="0"/>
                        <a:cs typeface="Calibri" charset="0"/>
                      </a:endParaRPr>
                    </a:p>
                  </a:txBody>
                  <a:tcPr marL="64008" marR="64008" marT="64008" marB="64008" anchor="ctr">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solidFill>
                      <a:srgbClr val="0E7C86"/>
                    </a:solidFill>
                  </a:tcPr>
                </a:tc>
                <a:tc>
                  <a:txBody>
                    <a:bodyPr/>
                    <a:lstStyle/>
                    <a:p>
                      <a:pPr indent="0" marL="0">
                        <a:buNone/>
                      </a:pPr>
                      <a:r>
                        <a:rPr lang="en-US" sz="2400" b="1" dirty="0">
                          <a:solidFill>
                            <a:srgbClr val="FFFFFF"/>
                          </a:solidFill>
                          <a:latin typeface="Calibri" pitchFamily="34" charset="0"/>
                          <a:ea typeface="Calibri" pitchFamily="34" charset="-122"/>
                          <a:cs typeface="Calibri" pitchFamily="34" charset="-120"/>
                        </a:rPr>
                        <a:t>Venue</a:t>
                      </a:r>
                      <a:endParaRPr lang="en-US" sz="2400" dirty="0">
                        <a:latin typeface="Calibri" charset="0"/>
                        <a:ea typeface="Calibri" charset="0"/>
                        <a:cs typeface="Calibri" charset="0"/>
                      </a:endParaRPr>
                    </a:p>
                  </a:txBody>
                  <a:tcPr marL="64008" marR="64008" marT="64008" marB="64008" anchor="ctr">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solidFill>
                      <a:srgbClr val="0E7C86"/>
                    </a:solidFill>
                  </a:tcPr>
                </a:tc>
              </a:tr>
              <a:tr h="1325880">
                <a:tc>
                  <a:txBody>
                    <a:bodyPr/>
                    <a:lstStyle/>
                    <a:p>
                      <a:pPr indent="0" marL="0">
                        <a:buNone/>
                      </a:pPr>
                      <a:r>
                        <a:rPr lang="en-US" sz="2400" b="1" dirty="0">
                          <a:solidFill>
                            <a:srgbClr val="0E7C86"/>
                          </a:solidFill>
                          <a:latin typeface="Calibri" pitchFamily="34" charset="0"/>
                          <a:ea typeface="Calibri" pitchFamily="34" charset="-122"/>
                          <a:cs typeface="Calibri" pitchFamily="34" charset="-120"/>
                        </a:rPr>
                        <a:t>[1]</a:t>
                      </a:r>
                      <a:endParaRPr lang="en-US" sz="2400" dirty="0">
                        <a:latin typeface="Calibri" charset="0"/>
                        <a:ea typeface="Calibri" charset="0"/>
                        <a:cs typeface="Calibri" charset="0"/>
                      </a:endParaRPr>
                    </a:p>
                  </a:txBody>
                  <a:tcPr marL="64008" marR="64008" marT="64008" marB="64008" anchor="ctr">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solidFill>
                      <a:srgbClr val="E8F3F4"/>
                    </a:solidFill>
                  </a:tcPr>
                </a:tc>
                <a:tc>
                  <a:txBody>
                    <a:bodyPr/>
                    <a:lstStyle/>
                    <a:p>
                      <a:pPr indent="0" marL="0">
                        <a:buNone/>
                      </a:pPr>
                      <a:r>
                        <a:rPr lang="en-US" sz="2400" dirty="0">
                          <a:solidFill>
                            <a:srgbClr val="14212B"/>
                          </a:solidFill>
                          <a:latin typeface="Calibri" pitchFamily="34" charset="0"/>
                          <a:ea typeface="Calibri" pitchFamily="34" charset="-122"/>
                          <a:cs typeface="Calibri" pitchFamily="34" charset="-120"/>
                        </a:rPr>
                        <a:t>Parking Assistance for Trailer-Truck Transport Vehicles Using Sensor Fusion and Motion Planning </a:t>
                      </a:r>
                      <a:pPr indent="0" marL="0">
                        <a:buNone/>
                      </a:pPr>
                      <a:r>
                        <a:rPr lang="en-US" sz="2400" b="1" dirty="0">
                          <a:solidFill>
                            <a:srgbClr val="0E7C86"/>
                          </a:solidFill>
                          <a:latin typeface="Calibri" pitchFamily="34" charset="0"/>
                          <a:ea typeface="Calibri" pitchFamily="34" charset="-122"/>
                          <a:cs typeface="Calibri" pitchFamily="34" charset="-120"/>
                        </a:rPr>
                        <a:t>(base paper)</a:t>
                      </a:r>
                      <a:endParaRPr lang="en-US" sz="2400" dirty="0">
                        <a:latin typeface="Calibri" charset="0"/>
                        <a:ea typeface="Calibri" charset="0"/>
                        <a:cs typeface="Calibri" charset="0"/>
                      </a:endParaRPr>
                    </a:p>
                  </a:txBody>
                  <a:tcPr marL="64008" marR="64008" marT="64008" marB="64008" anchor="ctr">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solidFill>
                      <a:srgbClr val="E8F3F4"/>
                    </a:solidFill>
                  </a:tcPr>
                </a:tc>
                <a:tc>
                  <a:txBody>
                    <a:bodyPr/>
                    <a:lstStyle/>
                    <a:p>
                      <a:pPr indent="0" marL="0">
                        <a:buNone/>
                      </a:pPr>
                      <a:r>
                        <a:rPr lang="en-US" sz="2400" dirty="0">
                          <a:solidFill>
                            <a:srgbClr val="14212B"/>
                          </a:solidFill>
                          <a:latin typeface="Calibri" pitchFamily="34" charset="0"/>
                          <a:ea typeface="Calibri" pitchFamily="34" charset="-122"/>
                          <a:cs typeface="Calibri" pitchFamily="34" charset="-120"/>
                        </a:rPr>
                        <a:t>G. Alenchery et al. (7 authors)</a:t>
                      </a:r>
                      <a:endParaRPr lang="en-US" sz="2400" dirty="0">
                        <a:latin typeface="Calibri" charset="0"/>
                        <a:ea typeface="Calibri" charset="0"/>
                        <a:cs typeface="Calibri" charset="0"/>
                      </a:endParaRPr>
                    </a:p>
                  </a:txBody>
                  <a:tcPr marL="64008" marR="64008" marT="64008" marB="64008" anchor="ctr">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solidFill>
                      <a:srgbClr val="E8F3F4"/>
                    </a:solidFill>
                  </a:tcPr>
                </a:tc>
                <a:tc>
                  <a:txBody>
                    <a:bodyPr/>
                    <a:lstStyle/>
                    <a:p>
                      <a:pPr indent="0" marL="0">
                        <a:buNone/>
                      </a:pPr>
                      <a:r>
                        <a:rPr lang="en-US" sz="2400" dirty="0">
                          <a:solidFill>
                            <a:srgbClr val="14212B"/>
                          </a:solidFill>
                          <a:latin typeface="Calibri" pitchFamily="34" charset="0"/>
                          <a:ea typeface="Calibri" pitchFamily="34" charset="-122"/>
                          <a:cs typeface="Calibri" pitchFamily="34" charset="-120"/>
                        </a:rPr>
                        <a:t>2026</a:t>
                      </a:r>
                      <a:endParaRPr lang="en-US" sz="2400" dirty="0">
                        <a:latin typeface="Calibri" charset="0"/>
                        <a:ea typeface="Calibri" charset="0"/>
                        <a:cs typeface="Calibri" charset="0"/>
                      </a:endParaRPr>
                    </a:p>
                  </a:txBody>
                  <a:tcPr marL="64008" marR="64008" marT="64008" marB="64008" anchor="ctr">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solidFill>
                      <a:srgbClr val="E8F3F4"/>
                    </a:solidFill>
                  </a:tcPr>
                </a:tc>
                <a:tc>
                  <a:txBody>
                    <a:bodyPr/>
                    <a:lstStyle/>
                    <a:p>
                      <a:pPr indent="0" marL="0">
                        <a:buNone/>
                      </a:pPr>
                      <a:r>
                        <a:rPr lang="en-US" sz="2400" dirty="0">
                          <a:solidFill>
                            <a:srgbClr val="14212B"/>
                          </a:solidFill>
                          <a:latin typeface="Calibri" pitchFamily="34" charset="0"/>
                          <a:ea typeface="Calibri" pitchFamily="34" charset="-122"/>
                          <a:cs typeface="Calibri" pitchFamily="34" charset="-120"/>
                        </a:rPr>
                        <a:t>arXiv 2605.02716</a:t>
                      </a:r>
                      <a:endParaRPr lang="en-US" sz="2400" dirty="0">
                        <a:latin typeface="Calibri" charset="0"/>
                        <a:ea typeface="Calibri" charset="0"/>
                        <a:cs typeface="Calibri" charset="0"/>
                      </a:endParaRPr>
                    </a:p>
                  </a:txBody>
                  <a:tcPr marL="64008" marR="64008" marT="64008" marB="64008" anchor="ctr">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solidFill>
                      <a:srgbClr val="E8F3F4"/>
                    </a:solidFill>
                  </a:tcPr>
                </a:tc>
              </a:tr>
              <a:tr h="1325880">
                <a:tc>
                  <a:txBody>
                    <a:bodyPr/>
                    <a:lstStyle/>
                    <a:p>
                      <a:pPr indent="0" marL="0">
                        <a:buNone/>
                      </a:pPr>
                      <a:r>
                        <a:rPr lang="en-US" sz="2400" b="1" dirty="0">
                          <a:solidFill>
                            <a:srgbClr val="14212B"/>
                          </a:solidFill>
                          <a:latin typeface="Calibri" pitchFamily="34" charset="0"/>
                          <a:ea typeface="Calibri" pitchFamily="34" charset="-122"/>
                          <a:cs typeface="Calibri" pitchFamily="34" charset="-120"/>
                        </a:rPr>
                        <a:t>[2]</a:t>
                      </a:r>
                      <a:endParaRPr lang="en-US" sz="2400" dirty="0">
                        <a:latin typeface="Calibri" charset="0"/>
                        <a:ea typeface="Calibri" charset="0"/>
                        <a:cs typeface="Calibri" charset="0"/>
                      </a:endParaRPr>
                    </a:p>
                  </a:txBody>
                  <a:tcPr marL="64008" marR="64008" marT="64008" marB="64008" anchor="ctr">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solidFill>
                      <a:srgbClr val="FFFFFF"/>
                    </a:solidFill>
                  </a:tcPr>
                </a:tc>
                <a:tc>
                  <a:txBody>
                    <a:bodyPr/>
                    <a:lstStyle/>
                    <a:p>
                      <a:pPr indent="0" marL="0">
                        <a:buNone/>
                      </a:pPr>
                      <a:r>
                        <a:rPr lang="en-US" sz="2400" dirty="0">
                          <a:solidFill>
                            <a:srgbClr val="14212B"/>
                          </a:solidFill>
                          <a:latin typeface="Calibri" pitchFamily="34" charset="0"/>
                          <a:ea typeface="Calibri" pitchFamily="34" charset="-122"/>
                          <a:cs typeface="Calibri" pitchFamily="34" charset="-120"/>
                        </a:rPr>
                        <a:t>An Intrinsically Stable MPC Approach for Anti-Jackknifing Control of Tractor-Trailer Vehicles</a:t>
                      </a:r>
                      <a:endParaRPr lang="en-US" sz="2400" dirty="0">
                        <a:latin typeface="Calibri" charset="0"/>
                        <a:ea typeface="Calibri" charset="0"/>
                        <a:cs typeface="Calibri" charset="0"/>
                      </a:endParaRPr>
                    </a:p>
                  </a:txBody>
                  <a:tcPr marL="64008" marR="64008" marT="64008" marB="64008" anchor="ctr">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solidFill>
                      <a:srgbClr val="FFFFFF"/>
                    </a:solidFill>
                  </a:tcPr>
                </a:tc>
                <a:tc>
                  <a:txBody>
                    <a:bodyPr/>
                    <a:lstStyle/>
                    <a:p>
                      <a:pPr indent="0" marL="0">
                        <a:buNone/>
                      </a:pPr>
                      <a:r>
                        <a:rPr lang="en-US" sz="2400" dirty="0">
                          <a:solidFill>
                            <a:srgbClr val="14212B"/>
                          </a:solidFill>
                          <a:latin typeface="Calibri" pitchFamily="34" charset="0"/>
                          <a:ea typeface="Calibri" pitchFamily="34" charset="-122"/>
                          <a:cs typeface="Calibri" pitchFamily="34" charset="-120"/>
                        </a:rPr>
                        <a:t>M. Beglini, T. Belvedere, L. Lanari, G. Oriolo</a:t>
                      </a:r>
                      <a:endParaRPr lang="en-US" sz="2400" dirty="0">
                        <a:latin typeface="Calibri" charset="0"/>
                        <a:ea typeface="Calibri" charset="0"/>
                        <a:cs typeface="Calibri" charset="0"/>
                      </a:endParaRPr>
                    </a:p>
                  </a:txBody>
                  <a:tcPr marL="64008" marR="64008" marT="64008" marB="64008" anchor="ctr">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solidFill>
                      <a:srgbClr val="FFFFFF"/>
                    </a:solidFill>
                  </a:tcPr>
                </a:tc>
                <a:tc>
                  <a:txBody>
                    <a:bodyPr/>
                    <a:lstStyle/>
                    <a:p>
                      <a:pPr indent="0" marL="0">
                        <a:buNone/>
                      </a:pPr>
                      <a:r>
                        <a:rPr lang="en-US" sz="2400" dirty="0">
                          <a:solidFill>
                            <a:srgbClr val="14212B"/>
                          </a:solidFill>
                          <a:latin typeface="Calibri" pitchFamily="34" charset="0"/>
                          <a:ea typeface="Calibri" pitchFamily="34" charset="-122"/>
                          <a:cs typeface="Calibri" pitchFamily="34" charset="-120"/>
                        </a:rPr>
                        <a:t>2022</a:t>
                      </a:r>
                      <a:endParaRPr lang="en-US" sz="2400" dirty="0">
                        <a:latin typeface="Calibri" charset="0"/>
                        <a:ea typeface="Calibri" charset="0"/>
                        <a:cs typeface="Calibri" charset="0"/>
                      </a:endParaRPr>
                    </a:p>
                  </a:txBody>
                  <a:tcPr marL="64008" marR="64008" marT="64008" marB="64008" anchor="ctr">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solidFill>
                      <a:srgbClr val="FFFFFF"/>
                    </a:solidFill>
                  </a:tcPr>
                </a:tc>
                <a:tc>
                  <a:txBody>
                    <a:bodyPr/>
                    <a:lstStyle/>
                    <a:p>
                      <a:pPr indent="0" marL="0">
                        <a:buNone/>
                      </a:pPr>
                      <a:r>
                        <a:rPr lang="en-US" sz="2400" dirty="0">
                          <a:solidFill>
                            <a:srgbClr val="14212B"/>
                          </a:solidFill>
                          <a:latin typeface="Calibri" pitchFamily="34" charset="0"/>
                          <a:ea typeface="Calibri" pitchFamily="34" charset="-122"/>
                          <a:cs typeface="Calibri" pitchFamily="34" charset="-120"/>
                        </a:rPr>
                        <a:t>IEEE/ASME T-Mech 27(6)</a:t>
                      </a:r>
                      <a:endParaRPr lang="en-US" sz="2400" dirty="0">
                        <a:latin typeface="Calibri" charset="0"/>
                        <a:ea typeface="Calibri" charset="0"/>
                        <a:cs typeface="Calibri" charset="0"/>
                      </a:endParaRPr>
                    </a:p>
                  </a:txBody>
                  <a:tcPr marL="64008" marR="64008" marT="64008" marB="64008" anchor="ctr">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solidFill>
                      <a:srgbClr val="FFFFFF"/>
                    </a:solidFill>
                  </a:tcPr>
                </a:tc>
              </a:tr>
              <a:tr h="1325880">
                <a:tc>
                  <a:txBody>
                    <a:bodyPr/>
                    <a:lstStyle/>
                    <a:p>
                      <a:pPr indent="0" marL="0">
                        <a:buNone/>
                      </a:pPr>
                      <a:r>
                        <a:rPr lang="en-US" sz="2400" b="1" dirty="0">
                          <a:solidFill>
                            <a:srgbClr val="14212B"/>
                          </a:solidFill>
                          <a:latin typeface="Calibri" pitchFamily="34" charset="0"/>
                          <a:ea typeface="Calibri" pitchFamily="34" charset="-122"/>
                          <a:cs typeface="Calibri" pitchFamily="34" charset="-120"/>
                        </a:rPr>
                        <a:t>[3]</a:t>
                      </a:r>
                      <a:endParaRPr lang="en-US" sz="2400" dirty="0">
                        <a:latin typeface="Calibri" charset="0"/>
                        <a:ea typeface="Calibri" charset="0"/>
                        <a:cs typeface="Calibri" charset="0"/>
                      </a:endParaRPr>
                    </a:p>
                  </a:txBody>
                  <a:tcPr marL="64008" marR="64008" marT="64008" marB="64008" anchor="ctr">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solidFill>
                      <a:srgbClr val="F4F8F9"/>
                    </a:solidFill>
                  </a:tcPr>
                </a:tc>
                <a:tc>
                  <a:txBody>
                    <a:bodyPr/>
                    <a:lstStyle/>
                    <a:p>
                      <a:pPr indent="0" marL="0">
                        <a:buNone/>
                      </a:pPr>
                      <a:r>
                        <a:rPr lang="en-US" sz="2400" dirty="0">
                          <a:solidFill>
                            <a:srgbClr val="14212B"/>
                          </a:solidFill>
                          <a:latin typeface="Calibri" pitchFamily="34" charset="0"/>
                          <a:ea typeface="Calibri" pitchFamily="34" charset="-122"/>
                          <a:cs typeface="Calibri" pitchFamily="34" charset="-120"/>
                        </a:rPr>
                        <a:t>Robust Tube-Based Decentralized Nonlinear MPC of an Autonomous Tractor-Trailer System</a:t>
                      </a:r>
                      <a:endParaRPr lang="en-US" sz="2400" dirty="0">
                        <a:latin typeface="Calibri" charset="0"/>
                        <a:ea typeface="Calibri" charset="0"/>
                        <a:cs typeface="Calibri" charset="0"/>
                      </a:endParaRPr>
                    </a:p>
                  </a:txBody>
                  <a:tcPr marL="64008" marR="64008" marT="64008" marB="64008" anchor="ctr">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solidFill>
                      <a:srgbClr val="F4F8F9"/>
                    </a:solidFill>
                  </a:tcPr>
                </a:tc>
                <a:tc>
                  <a:txBody>
                    <a:bodyPr/>
                    <a:lstStyle/>
                    <a:p>
                      <a:pPr indent="0" marL="0">
                        <a:buNone/>
                      </a:pPr>
                      <a:r>
                        <a:rPr lang="en-US" sz="2400" dirty="0">
                          <a:solidFill>
                            <a:srgbClr val="14212B"/>
                          </a:solidFill>
                          <a:latin typeface="Calibri" pitchFamily="34" charset="0"/>
                          <a:ea typeface="Calibri" pitchFamily="34" charset="-122"/>
                          <a:cs typeface="Calibri" pitchFamily="34" charset="-120"/>
                        </a:rPr>
                        <a:t>E. Kayacan, E. Kayacan, H. Ramon, W. Saeys</a:t>
                      </a:r>
                      <a:endParaRPr lang="en-US" sz="2400" dirty="0">
                        <a:latin typeface="Calibri" charset="0"/>
                        <a:ea typeface="Calibri" charset="0"/>
                        <a:cs typeface="Calibri" charset="0"/>
                      </a:endParaRPr>
                    </a:p>
                  </a:txBody>
                  <a:tcPr marL="64008" marR="64008" marT="64008" marB="64008" anchor="ctr">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solidFill>
                      <a:srgbClr val="F4F8F9"/>
                    </a:solidFill>
                  </a:tcPr>
                </a:tc>
                <a:tc>
                  <a:txBody>
                    <a:bodyPr/>
                    <a:lstStyle/>
                    <a:p>
                      <a:pPr indent="0" marL="0">
                        <a:buNone/>
                      </a:pPr>
                      <a:r>
                        <a:rPr lang="en-US" sz="2400" dirty="0">
                          <a:solidFill>
                            <a:srgbClr val="14212B"/>
                          </a:solidFill>
                          <a:latin typeface="Calibri" pitchFamily="34" charset="0"/>
                          <a:ea typeface="Calibri" pitchFamily="34" charset="-122"/>
                          <a:cs typeface="Calibri" pitchFamily="34" charset="-120"/>
                        </a:rPr>
                        <a:t>2015</a:t>
                      </a:r>
                      <a:endParaRPr lang="en-US" sz="2400" dirty="0">
                        <a:latin typeface="Calibri" charset="0"/>
                        <a:ea typeface="Calibri" charset="0"/>
                        <a:cs typeface="Calibri" charset="0"/>
                      </a:endParaRPr>
                    </a:p>
                  </a:txBody>
                  <a:tcPr marL="64008" marR="64008" marT="64008" marB="64008" anchor="ctr">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solidFill>
                      <a:srgbClr val="F4F8F9"/>
                    </a:solidFill>
                  </a:tcPr>
                </a:tc>
                <a:tc>
                  <a:txBody>
                    <a:bodyPr/>
                    <a:lstStyle/>
                    <a:p>
                      <a:pPr indent="0" marL="0">
                        <a:buNone/>
                      </a:pPr>
                      <a:r>
                        <a:rPr lang="en-US" sz="2400" dirty="0">
                          <a:solidFill>
                            <a:srgbClr val="14212B"/>
                          </a:solidFill>
                          <a:latin typeface="Calibri" pitchFamily="34" charset="0"/>
                          <a:ea typeface="Calibri" pitchFamily="34" charset="-122"/>
                          <a:cs typeface="Calibri" pitchFamily="34" charset="-120"/>
                        </a:rPr>
                        <a:t>IEEE/ASME T-Mech 20(1)</a:t>
                      </a:r>
                      <a:endParaRPr lang="en-US" sz="2400" dirty="0">
                        <a:latin typeface="Calibri" charset="0"/>
                        <a:ea typeface="Calibri" charset="0"/>
                        <a:cs typeface="Calibri" charset="0"/>
                      </a:endParaRPr>
                    </a:p>
                  </a:txBody>
                  <a:tcPr marL="64008" marR="64008" marT="64008" marB="64008" anchor="ctr">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solidFill>
                      <a:srgbClr val="F4F8F9"/>
                    </a:solidFill>
                  </a:tcPr>
                </a:tc>
              </a:tr>
            </a:tbl>
          </a:graphicData>
        </a:graphic>
      </p:graphicFrame>
      <p:sp>
        <p:nvSpPr>
          <p:cNvPr id="25" name="Slide Number Placeholder 0"/>
          <p:cNvSpPr>
            <a:spLocks noGrp="1"/>
          </p:cNvSpPr>
          <p:nvPr>
            <p:ph type="sldNum" sz="quarter" idx="4294967295"/>
          </p:nvPr>
        </p:nvSpPr>
        <p:spPr>
          <a:xfrm>
            <a:off x="10744200" y="6309360"/>
            <a:ext cx="91440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0E7C86"/>
                </a:solidFill>
                <a:latin typeface="Calibri"/>
                <a:ea typeface="Calibri"/>
                <a:cs typeface="Calibri"/>
              </a:defRPr>
            </a:lvl1pPr>
          </a:lstStyle>
          <a:p>
            <a:pPr algn="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777240"/>
          </a:xfrm>
          <a:prstGeom prst="rect">
            <a:avLst/>
          </a:prstGeom>
          <a:noFill/>
          <a:ln/>
        </p:spPr>
        <p:txBody>
          <a:bodyPr wrap="square" lIns="0" tIns="0" rIns="0" bIns="0" rtlCol="0" anchor="ctr"/>
          <a:lstStyle/>
          <a:p>
            <a:pPr indent="0" marL="0">
              <a:buNone/>
            </a:pPr>
            <a:r>
              <a:rPr lang="en-US" sz="3400" b="1" dirty="0">
                <a:solidFill>
                  <a:srgbClr val="14212B"/>
                </a:solidFill>
                <a:latin typeface="Cambria" pitchFamily="34" charset="0"/>
                <a:ea typeface="Cambria" pitchFamily="34" charset="-122"/>
                <a:cs typeface="Cambria" pitchFamily="34" charset="-120"/>
              </a:rPr>
              <a:t>Literature review (2/2): outcomes and limitations</a:t>
            </a:r>
            <a:endParaRPr lang="en-US" sz="3400" dirty="0"/>
          </a:p>
        </p:txBody>
      </p:sp>
      <p:sp>
        <p:nvSpPr>
          <p:cNvPr id="3" name="Text 1"/>
          <p:cNvSpPr txBox="1"/>
          <p:nvPr/>
        </p:nvSpPr>
        <p:spPr>
          <a:xfrm>
            <a:off x="548640" y="6309360"/>
            <a:ext cx="8229600" cy="411480"/>
          </a:xfrm>
          <a:prstGeom prst="rect">
            <a:avLst/>
          </a:prstGeom>
          <a:noFill/>
          <a:ln/>
        </p:spPr>
        <p:txBody>
          <a:bodyPr wrap="square" lIns="0" tIns="0" rIns="0" bIns="0" rtlCol="0" anchor="ctr"/>
          <a:lstStyle/>
          <a:p>
            <a:pPr indent="0" marL="0">
              <a:buNone/>
            </a:pPr>
            <a:r>
              <a:rPr lang="en-US" sz="2400" dirty="0">
                <a:solidFill>
                  <a:srgbClr val="44546A"/>
                </a:solidFill>
                <a:latin typeface="Calibri" pitchFamily="34" charset="0"/>
                <a:ea typeface="Calibri" pitchFamily="34" charset="-122"/>
                <a:cs typeface="Calibri" pitchFamily="34" charset="-120"/>
              </a:rPr>
              <a:t>Literature review</a:t>
            </a:r>
            <a:endParaRPr lang="en-US" sz="2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685800"/>
                <a:gridCol w="5257800"/>
                <a:gridCol w="5120640"/>
              </a:tblGrid>
              <a:tr h="502920">
                <a:tc>
                  <a:txBody>
                    <a:bodyPr/>
                    <a:lstStyle/>
                    <a:p>
                      <a:pPr indent="0" marL="0">
                        <a:buNone/>
                      </a:pPr>
                      <a:r>
                        <a:rPr lang="en-US" sz="2400" b="1" dirty="0">
                          <a:solidFill>
                            <a:srgbClr val="FFFFFF"/>
                          </a:solidFill>
                          <a:latin typeface="Calibri" pitchFamily="34" charset="0"/>
                          <a:ea typeface="Calibri" pitchFamily="34" charset="-122"/>
                          <a:cs typeface="Calibri" pitchFamily="34" charset="-120"/>
                        </a:rPr>
                        <a:t>#</a:t>
                      </a:r>
                      <a:endParaRPr lang="en-US" sz="2400" dirty="0">
                        <a:latin typeface="Calibri" charset="0"/>
                        <a:ea typeface="Calibri" charset="0"/>
                        <a:cs typeface="Calibri" charset="0"/>
                      </a:endParaRPr>
                    </a:p>
                  </a:txBody>
                  <a:tcPr marL="64008" marR="64008" marT="64008" marB="64008" anchor="ctr">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solidFill>
                      <a:srgbClr val="0E7C86"/>
                    </a:solidFill>
                  </a:tcPr>
                </a:tc>
                <a:tc>
                  <a:txBody>
                    <a:bodyPr/>
                    <a:lstStyle/>
                    <a:p>
                      <a:pPr indent="0" marL="0">
                        <a:buNone/>
                      </a:pPr>
                      <a:r>
                        <a:rPr lang="en-US" sz="2400" b="1" dirty="0">
                          <a:solidFill>
                            <a:srgbClr val="FFFFFF"/>
                          </a:solidFill>
                          <a:latin typeface="Calibri" pitchFamily="34" charset="0"/>
                          <a:ea typeface="Calibri" pitchFamily="34" charset="-122"/>
                          <a:cs typeface="Calibri" pitchFamily="34" charset="-120"/>
                        </a:rPr>
                        <a:t>Outcomes</a:t>
                      </a:r>
                      <a:endParaRPr lang="en-US" sz="2400" dirty="0">
                        <a:latin typeface="Calibri" charset="0"/>
                        <a:ea typeface="Calibri" charset="0"/>
                        <a:cs typeface="Calibri" charset="0"/>
                      </a:endParaRPr>
                    </a:p>
                  </a:txBody>
                  <a:tcPr marL="64008" marR="64008" marT="64008" marB="64008" anchor="ctr">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solidFill>
                      <a:srgbClr val="0E7C86"/>
                    </a:solidFill>
                  </a:tcPr>
                </a:tc>
                <a:tc>
                  <a:txBody>
                    <a:bodyPr/>
                    <a:lstStyle/>
                    <a:p>
                      <a:pPr indent="0" marL="0">
                        <a:buNone/>
                      </a:pPr>
                      <a:r>
                        <a:rPr lang="en-US" sz="2400" b="1" dirty="0">
                          <a:solidFill>
                            <a:srgbClr val="FFFFFF"/>
                          </a:solidFill>
                          <a:latin typeface="Calibri" pitchFamily="34" charset="0"/>
                          <a:ea typeface="Calibri" pitchFamily="34" charset="-122"/>
                          <a:cs typeface="Calibri" pitchFamily="34" charset="-120"/>
                        </a:rPr>
                        <a:t>Limitations</a:t>
                      </a:r>
                      <a:endParaRPr lang="en-US" sz="2400" dirty="0">
                        <a:latin typeface="Calibri" charset="0"/>
                        <a:ea typeface="Calibri" charset="0"/>
                        <a:cs typeface="Calibri" charset="0"/>
                      </a:endParaRPr>
                    </a:p>
                  </a:txBody>
                  <a:tcPr marL="64008" marR="64008" marT="64008" marB="64008" anchor="ctr">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solidFill>
                      <a:srgbClr val="0E7C86"/>
                    </a:solidFill>
                  </a:tcPr>
                </a:tc>
              </a:tr>
              <a:tr h="1554480">
                <a:tc>
                  <a:txBody>
                    <a:bodyPr/>
                    <a:lstStyle/>
                    <a:p>
                      <a:pPr indent="0" marL="0">
                        <a:buNone/>
                      </a:pPr>
                      <a:r>
                        <a:rPr lang="en-US" sz="2400" b="1" dirty="0">
                          <a:solidFill>
                            <a:srgbClr val="0E7C86"/>
                          </a:solidFill>
                          <a:latin typeface="Calibri" pitchFamily="34" charset="0"/>
                          <a:ea typeface="Calibri" pitchFamily="34" charset="-122"/>
                          <a:cs typeface="Calibri" pitchFamily="34" charset="-120"/>
                        </a:rPr>
                        <a:t>[1]</a:t>
                      </a:r>
                      <a:endParaRPr lang="en-US" sz="2400" dirty="0">
                        <a:latin typeface="Calibri" charset="0"/>
                        <a:ea typeface="Calibri" charset="0"/>
                        <a:cs typeface="Calibri" charset="0"/>
                      </a:endParaRPr>
                    </a:p>
                  </a:txBody>
                  <a:tcPr marL="64008" marR="64008" marT="64008" marB="64008" anchor="ctr">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solidFill>
                      <a:srgbClr val="E8F3F4"/>
                    </a:solidFill>
                  </a:tcPr>
                </a:tc>
                <a:tc>
                  <a:txBody>
                    <a:bodyPr/>
                    <a:lstStyle/>
                    <a:p>
                      <a:pPr marL="342900" indent="-342900">
                        <a:buSzPct val="100000"/>
                        <a:buChar char="•"/>
                      </a:pPr>
                      <a:r>
                        <a:rPr lang="en-US" sz="2400" dirty="0">
                          <a:solidFill>
                            <a:srgbClr val="14212B"/>
                          </a:solidFill>
                          <a:latin typeface="Calibri" pitchFamily="34" charset="0"/>
                          <a:ea typeface="Calibri" pitchFamily="34" charset="-122"/>
                          <a:cs typeface="Calibri" pitchFamily="34" charset="-120"/>
                        </a:rPr>
                        <a:t>Layered design: sensor fusion → Hybrid A* → NMPC → LQR</a:t>
                      </a:r>
                      <a:endParaRPr lang="en-US" sz="2400" dirty="0">
                        <a:latin typeface="Calibri" charset="0"/>
                        <a:ea typeface="Calibri" charset="0"/>
                        <a:cs typeface="Calibri" charset="0"/>
                      </a:endParaRPr>
                    </a:p>
                    <a:p>
                      <a:pPr marL="342900" indent="-342900">
                        <a:buSzPct val="100000"/>
                        <a:buChar char="•"/>
                      </a:pPr>
                      <a:r>
                        <a:rPr lang="en-US" sz="2400" dirty="0">
                          <a:solidFill>
                            <a:srgbClr val="14212B"/>
                          </a:solidFill>
                          <a:latin typeface="Calibri" pitchFamily="34" charset="0"/>
                          <a:ea typeface="Calibri" pitchFamily="34" charset="-122"/>
                          <a:cs typeface="Calibri" pitchFamily="34" charset="-120"/>
                        </a:rPr>
                        <a:t>A* + B-spline path on a tractor-trailer model (CLI simulation)</a:t>
                      </a:r>
                      <a:endParaRPr lang="en-US" sz="2400" dirty="0">
                        <a:latin typeface="Calibri" charset="0"/>
                        <a:ea typeface="Calibri" charset="0"/>
                        <a:cs typeface="Calibri" charset="0"/>
                      </a:endParaRPr>
                    </a:p>
                  </a:txBody>
                  <a:tcPr marL="64008" marR="64008" marT="64008" marB="64008" anchor="t">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solidFill>
                      <a:srgbClr val="E8F3F4"/>
                    </a:solidFill>
                  </a:tcPr>
                </a:tc>
                <a:tc>
                  <a:txBody>
                    <a:bodyPr/>
                    <a:lstStyle/>
                    <a:p>
                      <a:pPr marL="342900" indent="-342900">
                        <a:buSzPct val="100000"/>
                        <a:buChar char="•"/>
                      </a:pPr>
                      <a:r>
                        <a:rPr lang="en-US" sz="2400" dirty="0">
                          <a:solidFill>
                            <a:srgbClr val="14212B"/>
                          </a:solidFill>
                          <a:latin typeface="Calibri" pitchFamily="34" charset="0"/>
                          <a:ea typeface="Calibri" pitchFamily="34" charset="-122"/>
                          <a:cs typeface="Calibri" pitchFamily="34" charset="-120"/>
                        </a:rPr>
                        <a:t>NMPC only proposed, not implemented</a:t>
                      </a:r>
                      <a:endParaRPr lang="en-US" sz="2400" dirty="0">
                        <a:latin typeface="Calibri" charset="0"/>
                        <a:ea typeface="Calibri" charset="0"/>
                        <a:cs typeface="Calibri" charset="0"/>
                      </a:endParaRPr>
                    </a:p>
                    <a:p>
                      <a:pPr marL="342900" indent="-342900">
                        <a:buSzPct val="100000"/>
                        <a:buChar char="•"/>
                      </a:pPr>
                      <a:r>
                        <a:rPr lang="en-US" sz="2400" dirty="0">
                          <a:solidFill>
                            <a:srgbClr val="14212B"/>
                          </a:solidFill>
                          <a:latin typeface="Calibri" pitchFamily="34" charset="0"/>
                          <a:ea typeface="Calibri" pitchFamily="34" charset="-122"/>
                          <a:cs typeface="Calibri" pitchFamily="34" charset="-120"/>
                        </a:rPr>
                        <a:t>Jackknifing observed in tests</a:t>
                      </a:r>
                      <a:endParaRPr lang="en-US" sz="2400" dirty="0">
                        <a:latin typeface="Calibri" charset="0"/>
                        <a:ea typeface="Calibri" charset="0"/>
                        <a:cs typeface="Calibri" charset="0"/>
                      </a:endParaRPr>
                    </a:p>
                    <a:p>
                      <a:pPr marL="342900" indent="-342900">
                        <a:buSzPct val="100000"/>
                        <a:buChar char="•"/>
                      </a:pPr>
                      <a:r>
                        <a:rPr lang="en-US" sz="2400" dirty="0">
                          <a:solidFill>
                            <a:srgbClr val="14212B"/>
                          </a:solidFill>
                          <a:latin typeface="Calibri" pitchFamily="34" charset="0"/>
                          <a:ea typeface="Calibri" pitchFamily="34" charset="-122"/>
                          <a:cs typeface="Calibri" pitchFamily="34" charset="-120"/>
                        </a:rPr>
                        <a:t>No quantitative results</a:t>
                      </a:r>
                      <a:endParaRPr lang="en-US" sz="2400" dirty="0">
                        <a:latin typeface="Calibri" charset="0"/>
                        <a:ea typeface="Calibri" charset="0"/>
                        <a:cs typeface="Calibri" charset="0"/>
                      </a:endParaRPr>
                    </a:p>
                  </a:txBody>
                  <a:tcPr marL="64008" marR="64008" marT="64008" marB="64008" anchor="t">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solidFill>
                      <a:srgbClr val="E8F3F4"/>
                    </a:solidFill>
                  </a:tcPr>
                </a:tc>
              </a:tr>
              <a:tr h="1463040">
                <a:tc>
                  <a:txBody>
                    <a:bodyPr/>
                    <a:lstStyle/>
                    <a:p>
                      <a:pPr indent="0" marL="0">
                        <a:buNone/>
                      </a:pPr>
                      <a:r>
                        <a:rPr lang="en-US" sz="2400" b="1" dirty="0">
                          <a:solidFill>
                            <a:srgbClr val="14212B"/>
                          </a:solidFill>
                          <a:latin typeface="Calibri" pitchFamily="34" charset="0"/>
                          <a:ea typeface="Calibri" pitchFamily="34" charset="-122"/>
                          <a:cs typeface="Calibri" pitchFamily="34" charset="-120"/>
                        </a:rPr>
                        <a:t>[2]</a:t>
                      </a:r>
                      <a:endParaRPr lang="en-US" sz="2400" dirty="0">
                        <a:latin typeface="Calibri" charset="0"/>
                        <a:ea typeface="Calibri" charset="0"/>
                        <a:cs typeface="Calibri" charset="0"/>
                      </a:endParaRPr>
                    </a:p>
                  </a:txBody>
                  <a:tcPr marL="64008" marR="64008" marT="64008" marB="64008" anchor="ctr">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solidFill>
                      <a:srgbClr val="FFFFFF"/>
                    </a:solidFill>
                  </a:tcPr>
                </a:tc>
                <a:tc>
                  <a:txBody>
                    <a:bodyPr/>
                    <a:lstStyle/>
                    <a:p>
                      <a:pPr marL="342900" indent="-342900">
                        <a:buSzPct val="100000"/>
                        <a:buChar char="•"/>
                      </a:pPr>
                      <a:r>
                        <a:rPr lang="en-US" sz="2400" dirty="0">
                          <a:solidFill>
                            <a:srgbClr val="14212B"/>
                          </a:solidFill>
                          <a:latin typeface="Calibri" pitchFamily="34" charset="0"/>
                          <a:ea typeface="Calibri" pitchFamily="34" charset="-122"/>
                          <a:cs typeface="Calibri" pitchFamily="34" charset="-120"/>
                        </a:rPr>
                        <a:t>Reverse tracking without hitch divergence (I/O linearisation + IS-MPC)</a:t>
                      </a:r>
                      <a:endParaRPr lang="en-US" sz="2400" dirty="0">
                        <a:latin typeface="Calibri" charset="0"/>
                        <a:ea typeface="Calibri" charset="0"/>
                        <a:cs typeface="Calibri" charset="0"/>
                      </a:endParaRPr>
                    </a:p>
                    <a:p>
                      <a:pPr marL="342900" indent="-342900">
                        <a:buSzPct val="100000"/>
                        <a:buChar char="•"/>
                      </a:pPr>
                      <a:r>
                        <a:rPr lang="en-US" sz="2400" dirty="0">
                          <a:solidFill>
                            <a:srgbClr val="14212B"/>
                          </a:solidFill>
                          <a:latin typeface="Calibri" pitchFamily="34" charset="0"/>
                          <a:ea typeface="Calibri" pitchFamily="34" charset="-122"/>
                          <a:cs typeface="Calibri" pitchFamily="34" charset="-120"/>
                        </a:rPr>
                        <a:t>Simulation and prototype experiments</a:t>
                      </a:r>
                      <a:endParaRPr lang="en-US" sz="2400" dirty="0">
                        <a:latin typeface="Calibri" charset="0"/>
                        <a:ea typeface="Calibri" charset="0"/>
                        <a:cs typeface="Calibri" charset="0"/>
                      </a:endParaRPr>
                    </a:p>
                  </a:txBody>
                  <a:tcPr marL="64008" marR="64008" marT="64008" marB="64008" anchor="t">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solidFill>
                      <a:srgbClr val="FFFFFF"/>
                    </a:solidFill>
                  </a:tcPr>
                </a:tc>
                <a:tc>
                  <a:txBody>
                    <a:bodyPr/>
                    <a:lstStyle/>
                    <a:p>
                      <a:pPr marL="342900" indent="-342900">
                        <a:buSzPct val="100000"/>
                        <a:buChar char="•"/>
                      </a:pPr>
                      <a:r>
                        <a:rPr lang="en-US" sz="2400" dirty="0">
                          <a:solidFill>
                            <a:srgbClr val="14212B"/>
                          </a:solidFill>
                          <a:latin typeface="Calibri" pitchFamily="34" charset="0"/>
                          <a:ea typeface="Calibri" pitchFamily="34" charset="-122"/>
                          <a:cs typeface="Calibri" pitchFamily="34" charset="-120"/>
                        </a:rPr>
                        <a:t>Needs a given reference trajectory</a:t>
                      </a:r>
                      <a:endParaRPr lang="en-US" sz="2400" dirty="0">
                        <a:latin typeface="Calibri" charset="0"/>
                        <a:ea typeface="Calibri" charset="0"/>
                        <a:cs typeface="Calibri" charset="0"/>
                      </a:endParaRPr>
                    </a:p>
                    <a:p>
                      <a:pPr marL="342900" indent="-342900">
                        <a:buSzPct val="100000"/>
                        <a:buChar char="•"/>
                      </a:pPr>
                      <a:r>
                        <a:rPr lang="en-US" sz="2400" dirty="0">
                          <a:solidFill>
                            <a:srgbClr val="14212B"/>
                          </a:solidFill>
                          <a:latin typeface="Calibri" pitchFamily="34" charset="0"/>
                          <a:ea typeface="Calibri" pitchFamily="34" charset="-122"/>
                          <a:cs typeface="Calibri" pitchFamily="34" charset="-120"/>
                        </a:rPr>
                        <a:t>No obstacle-aware parking</a:t>
                      </a:r>
                      <a:endParaRPr lang="en-US" sz="2400" dirty="0">
                        <a:latin typeface="Calibri" charset="0"/>
                        <a:ea typeface="Calibri" charset="0"/>
                        <a:cs typeface="Calibri" charset="0"/>
                      </a:endParaRPr>
                    </a:p>
                    <a:p>
                      <a:pPr marL="342900" indent="-342900">
                        <a:buSzPct val="100000"/>
                        <a:buChar char="•"/>
                      </a:pPr>
                      <a:r>
                        <a:rPr lang="en-US" sz="2400" dirty="0">
                          <a:solidFill>
                            <a:srgbClr val="14212B"/>
                          </a:solidFill>
                          <a:latin typeface="Calibri" pitchFamily="34" charset="0"/>
                          <a:ea typeface="Calibri" pitchFamily="34" charset="-122"/>
                          <a:cs typeface="Calibri" pitchFamily="34" charset="-120"/>
                        </a:rPr>
                        <a:t>No driver-facing output</a:t>
                      </a:r>
                      <a:endParaRPr lang="en-US" sz="2400" dirty="0">
                        <a:latin typeface="Calibri" charset="0"/>
                        <a:ea typeface="Calibri" charset="0"/>
                        <a:cs typeface="Calibri" charset="0"/>
                      </a:endParaRPr>
                    </a:p>
                  </a:txBody>
                  <a:tcPr marL="64008" marR="64008" marT="64008" marB="64008" anchor="t">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solidFill>
                      <a:srgbClr val="FFFFFF"/>
                    </a:solidFill>
                  </a:tcPr>
                </a:tc>
              </a:tr>
              <a:tr h="1188720">
                <a:tc>
                  <a:txBody>
                    <a:bodyPr/>
                    <a:lstStyle/>
                    <a:p>
                      <a:pPr indent="0" marL="0">
                        <a:buNone/>
                      </a:pPr>
                      <a:r>
                        <a:rPr lang="en-US" sz="2400" b="1" dirty="0">
                          <a:solidFill>
                            <a:srgbClr val="14212B"/>
                          </a:solidFill>
                          <a:latin typeface="Calibri" pitchFamily="34" charset="0"/>
                          <a:ea typeface="Calibri" pitchFamily="34" charset="-122"/>
                          <a:cs typeface="Calibri" pitchFamily="34" charset="-120"/>
                        </a:rPr>
                        <a:t>[3]</a:t>
                      </a:r>
                      <a:endParaRPr lang="en-US" sz="2400" dirty="0">
                        <a:latin typeface="Calibri" charset="0"/>
                        <a:ea typeface="Calibri" charset="0"/>
                        <a:cs typeface="Calibri" charset="0"/>
                      </a:endParaRPr>
                    </a:p>
                  </a:txBody>
                  <a:tcPr marL="64008" marR="64008" marT="64008" marB="64008" anchor="ctr">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solidFill>
                      <a:srgbClr val="F4F8F9"/>
                    </a:solidFill>
                  </a:tcPr>
                </a:tc>
                <a:tc>
                  <a:txBody>
                    <a:bodyPr/>
                    <a:lstStyle/>
                    <a:p>
                      <a:pPr marL="342900" indent="-342900">
                        <a:buSzPct val="100000"/>
                        <a:buChar char="•"/>
                      </a:pPr>
                      <a:r>
                        <a:rPr lang="en-US" sz="2400" dirty="0">
                          <a:solidFill>
                            <a:srgbClr val="14212B"/>
                          </a:solidFill>
                          <a:latin typeface="Calibri" pitchFamily="34" charset="0"/>
                          <a:ea typeface="Calibri" pitchFamily="34" charset="-122"/>
                          <a:cs typeface="Calibri" pitchFamily="34" charset="-120"/>
                        </a:rPr>
                        <a:t>Robust NMPC + moving-horizon estimation</a:t>
                      </a:r>
                      <a:endParaRPr lang="en-US" sz="2400" dirty="0">
                        <a:latin typeface="Calibri" charset="0"/>
                        <a:ea typeface="Calibri" charset="0"/>
                        <a:cs typeface="Calibri" charset="0"/>
                      </a:endParaRPr>
                    </a:p>
                    <a:p>
                      <a:pPr marL="342900" indent="-342900">
                        <a:buSzPct val="100000"/>
                        <a:buChar char="•"/>
                      </a:pPr>
                      <a:r>
                        <a:rPr lang="en-US" sz="2400" dirty="0">
                          <a:solidFill>
                            <a:srgbClr val="14212B"/>
                          </a:solidFill>
                          <a:latin typeface="Calibri" pitchFamily="34" charset="0"/>
                          <a:ea typeface="Calibri" pitchFamily="34" charset="-122"/>
                          <a:cs typeface="Calibri" pitchFamily="34" charset="-120"/>
                        </a:rPr>
                        <a:t>5–8 cm error on straight lines (field)</a:t>
                      </a:r>
                      <a:endParaRPr lang="en-US" sz="2400" dirty="0">
                        <a:latin typeface="Calibri" charset="0"/>
                        <a:ea typeface="Calibri" charset="0"/>
                        <a:cs typeface="Calibri" charset="0"/>
                      </a:endParaRPr>
                    </a:p>
                  </a:txBody>
                  <a:tcPr marL="64008" marR="64008" marT="64008" marB="64008" anchor="t">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solidFill>
                      <a:srgbClr val="F4F8F9"/>
                    </a:solidFill>
                  </a:tcPr>
                </a:tc>
                <a:tc>
                  <a:txBody>
                    <a:bodyPr/>
                    <a:lstStyle/>
                    <a:p>
                      <a:pPr marL="342900" indent="-342900">
                        <a:buSzPct val="100000"/>
                        <a:buChar char="•"/>
                      </a:pPr>
                      <a:r>
                        <a:rPr lang="en-US" sz="2400" dirty="0">
                          <a:solidFill>
                            <a:srgbClr val="14212B"/>
                          </a:solidFill>
                          <a:latin typeface="Calibri" pitchFamily="34" charset="0"/>
                          <a:ea typeface="Calibri" pitchFamily="34" charset="-122"/>
                          <a:cs typeface="Calibri" pitchFamily="34" charset="-120"/>
                        </a:rPr>
                        <a:t>Forward driving only</a:t>
                      </a:r>
                      <a:endParaRPr lang="en-US" sz="2400" dirty="0">
                        <a:latin typeface="Calibri" charset="0"/>
                        <a:ea typeface="Calibri" charset="0"/>
                        <a:cs typeface="Calibri" charset="0"/>
                      </a:endParaRPr>
                    </a:p>
                    <a:p>
                      <a:pPr marL="342900" indent="-342900">
                        <a:buSzPct val="100000"/>
                        <a:buChar char="•"/>
                      </a:pPr>
                      <a:r>
                        <a:rPr lang="en-US" sz="2400" dirty="0">
                          <a:solidFill>
                            <a:srgbClr val="14212B"/>
                          </a:solidFill>
                          <a:latin typeface="Calibri" pitchFamily="34" charset="0"/>
                          <a:ea typeface="Calibri" pitchFamily="34" charset="-122"/>
                          <a:cs typeface="Calibri" pitchFamily="34" charset="-120"/>
                        </a:rPr>
                        <a:t>No hitch-angle (jackknife) constraint</a:t>
                      </a:r>
                      <a:endParaRPr lang="en-US" sz="2400" dirty="0">
                        <a:latin typeface="Calibri" charset="0"/>
                        <a:ea typeface="Calibri" charset="0"/>
                        <a:cs typeface="Calibri" charset="0"/>
                      </a:endParaRPr>
                    </a:p>
                  </a:txBody>
                  <a:tcPr marL="64008" marR="64008" marT="64008" marB="64008" anchor="t">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solidFill>
                      <a:srgbClr val="F4F8F9"/>
                    </a:solidFill>
                  </a:tcPr>
                </a:tc>
              </a:tr>
            </a:tbl>
          </a:graphicData>
        </a:graphic>
      </p:graphicFrame>
      <p:sp>
        <p:nvSpPr>
          <p:cNvPr id="25" name="Slide Number Placeholder 0"/>
          <p:cNvSpPr>
            <a:spLocks noGrp="1"/>
          </p:cNvSpPr>
          <p:nvPr>
            <p:ph type="sldNum" sz="quarter" idx="4294967295"/>
          </p:nvPr>
        </p:nvSpPr>
        <p:spPr>
          <a:xfrm>
            <a:off x="10744200" y="6309360"/>
            <a:ext cx="91440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0E7C86"/>
                </a:solidFill>
                <a:latin typeface="Calibri"/>
                <a:ea typeface="Calibri"/>
                <a:cs typeface="Calibri"/>
              </a:defRPr>
            </a:lvl1pPr>
          </a:lstStyle>
          <a:p>
            <a:pPr algn="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777240"/>
          </a:xfrm>
          <a:prstGeom prst="rect">
            <a:avLst/>
          </a:prstGeom>
          <a:noFill/>
          <a:ln/>
        </p:spPr>
        <p:txBody>
          <a:bodyPr wrap="square" lIns="0" tIns="0" rIns="0" bIns="0" rtlCol="0" anchor="ctr"/>
          <a:lstStyle/>
          <a:p>
            <a:pPr indent="0" marL="0">
              <a:buNone/>
            </a:pPr>
            <a:r>
              <a:rPr lang="en-US" sz="3400" b="1" dirty="0">
                <a:solidFill>
                  <a:srgbClr val="14212B"/>
                </a:solidFill>
                <a:latin typeface="Cambria" pitchFamily="34" charset="0"/>
                <a:ea typeface="Cambria" pitchFamily="34" charset="-122"/>
                <a:cs typeface="Cambria" pitchFamily="34" charset="-120"/>
              </a:rPr>
              <a:t>Research gaps</a:t>
            </a:r>
            <a:endParaRPr lang="en-US" sz="3400" dirty="0"/>
          </a:p>
        </p:txBody>
      </p:sp>
      <p:sp>
        <p:nvSpPr>
          <p:cNvPr id="3" name="Text 1"/>
          <p:cNvSpPr txBox="1"/>
          <p:nvPr/>
        </p:nvSpPr>
        <p:spPr>
          <a:xfrm>
            <a:off x="548640" y="6309360"/>
            <a:ext cx="8229600" cy="411480"/>
          </a:xfrm>
          <a:prstGeom prst="rect">
            <a:avLst/>
          </a:prstGeom>
          <a:noFill/>
          <a:ln/>
        </p:spPr>
        <p:txBody>
          <a:bodyPr wrap="square" lIns="0" tIns="0" rIns="0" bIns="0" rtlCol="0" anchor="ctr"/>
          <a:lstStyle/>
          <a:p>
            <a:pPr indent="0" marL="0">
              <a:buNone/>
            </a:pPr>
            <a:r>
              <a:rPr lang="en-US" sz="2400" dirty="0">
                <a:solidFill>
                  <a:srgbClr val="44546A"/>
                </a:solidFill>
                <a:latin typeface="Calibri" pitchFamily="34" charset="0"/>
                <a:ea typeface="Calibri" pitchFamily="34" charset="-122"/>
                <a:cs typeface="Calibri" pitchFamily="34" charset="-120"/>
              </a:rPr>
              <a:t>Research gaps</a:t>
            </a:r>
            <a:endParaRPr lang="en-US" sz="2400" dirty="0"/>
          </a:p>
        </p:txBody>
      </p:sp>
      <p:sp>
        <p:nvSpPr>
          <p:cNvPr id="4" name="Shape 2"/>
          <p:cNvSpPr/>
          <p:nvPr/>
        </p:nvSpPr>
        <p:spPr>
          <a:xfrm>
            <a:off x="548640" y="1325880"/>
            <a:ext cx="5394960" cy="2194560"/>
          </a:xfrm>
          <a:prstGeom prst="roundRect">
            <a:avLst>
              <a:gd name="adj" fmla="val 5000"/>
            </a:avLst>
          </a:prstGeom>
          <a:solidFill>
            <a:srgbClr val="E8F3F4"/>
          </a:solidFill>
          <a:ln/>
        </p:spPr>
      </p:sp>
      <p:sp>
        <p:nvSpPr>
          <p:cNvPr id="5" name="Shape 3"/>
          <p:cNvSpPr/>
          <p:nvPr/>
        </p:nvSpPr>
        <p:spPr>
          <a:xfrm>
            <a:off x="822960" y="1600200"/>
            <a:ext cx="566928" cy="566928"/>
          </a:xfrm>
          <a:prstGeom prst="ellipse">
            <a:avLst/>
          </a:prstGeom>
          <a:solidFill>
            <a:srgbClr val="0E7C86"/>
          </a:solidFill>
          <a:ln/>
        </p:spPr>
      </p:sp>
      <p:sp>
        <p:nvSpPr>
          <p:cNvPr id="6" name="Text 4"/>
          <p:cNvSpPr txBox="1"/>
          <p:nvPr/>
        </p:nvSpPr>
        <p:spPr>
          <a:xfrm>
            <a:off x="822960" y="1600200"/>
            <a:ext cx="566928" cy="566928"/>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1</a:t>
            </a:r>
            <a:endParaRPr lang="en-US" sz="2400" dirty="0"/>
          </a:p>
        </p:txBody>
      </p:sp>
      <p:sp>
        <p:nvSpPr>
          <p:cNvPr id="7" name="Text 5"/>
          <p:cNvSpPr txBox="1"/>
          <p:nvPr/>
        </p:nvSpPr>
        <p:spPr>
          <a:xfrm>
            <a:off x="1600200" y="1627632"/>
            <a:ext cx="4114800" cy="502920"/>
          </a:xfrm>
          <a:prstGeom prst="rect">
            <a:avLst/>
          </a:prstGeom>
          <a:noFill/>
          <a:ln/>
        </p:spPr>
        <p:txBody>
          <a:bodyPr wrap="square" lIns="0" tIns="0" rIns="0" bIns="0" rtlCol="0" anchor="t"/>
          <a:lstStyle/>
          <a:p>
            <a:pPr algn="l" indent="0" marL="0">
              <a:buNone/>
            </a:pPr>
            <a:r>
              <a:rPr lang="en-US" sz="2600" b="1" dirty="0">
                <a:solidFill>
                  <a:srgbClr val="14212B"/>
                </a:solidFill>
                <a:latin typeface="Calibri" pitchFamily="34" charset="0"/>
                <a:ea typeface="Calibri" pitchFamily="34" charset="-122"/>
                <a:cs typeface="Calibri" pitchFamily="34" charset="-120"/>
              </a:rPr>
              <a:t>Proposed, not built</a:t>
            </a:r>
            <a:endParaRPr lang="en-US" sz="2600" dirty="0"/>
          </a:p>
        </p:txBody>
      </p:sp>
      <p:sp>
        <p:nvSpPr>
          <p:cNvPr id="8" name="Text 6"/>
          <p:cNvSpPr txBox="1"/>
          <p:nvPr/>
        </p:nvSpPr>
        <p:spPr>
          <a:xfrm>
            <a:off x="1600200" y="2221992"/>
            <a:ext cx="4114800" cy="1188720"/>
          </a:xfrm>
          <a:prstGeom prst="rect">
            <a:avLst/>
          </a:prstGeom>
          <a:noFill/>
          <a:ln/>
        </p:spPr>
        <p:txBody>
          <a:bodyPr wrap="square" lIns="0" tIns="0" rIns="0" bIns="0" rtlCol="0" anchor="t"/>
          <a:lstStyle/>
          <a:p>
            <a:pPr algn="l" indent="0" marL="0">
              <a:buNone/>
            </a:pPr>
            <a:r>
              <a:rPr lang="en-US" sz="2400" dirty="0">
                <a:solidFill>
                  <a:srgbClr val="14212B"/>
                </a:solidFill>
                <a:latin typeface="Calibri" pitchFamily="34" charset="0"/>
                <a:ea typeface="Calibri" pitchFamily="34" charset="-122"/>
                <a:cs typeface="Calibri" pitchFamily="34" charset="-120"/>
              </a:rPr>
              <a:t>NMPC and a hitch limit are only proposed in [1]</a:t>
            </a:r>
            <a:endParaRPr lang="en-US" sz="2400" dirty="0"/>
          </a:p>
        </p:txBody>
      </p:sp>
      <p:sp>
        <p:nvSpPr>
          <p:cNvPr id="9" name="Shape 7"/>
          <p:cNvSpPr/>
          <p:nvPr/>
        </p:nvSpPr>
        <p:spPr>
          <a:xfrm>
            <a:off x="6263640" y="1325880"/>
            <a:ext cx="5394960" cy="2194560"/>
          </a:xfrm>
          <a:prstGeom prst="roundRect">
            <a:avLst>
              <a:gd name="adj" fmla="val 5000"/>
            </a:avLst>
          </a:prstGeom>
          <a:solidFill>
            <a:srgbClr val="FBEAE8"/>
          </a:solidFill>
          <a:ln/>
        </p:spPr>
      </p:sp>
      <p:sp>
        <p:nvSpPr>
          <p:cNvPr id="10" name="Shape 8"/>
          <p:cNvSpPr/>
          <p:nvPr/>
        </p:nvSpPr>
        <p:spPr>
          <a:xfrm>
            <a:off x="6537960" y="1600200"/>
            <a:ext cx="566928" cy="566928"/>
          </a:xfrm>
          <a:prstGeom prst="ellipse">
            <a:avLst/>
          </a:prstGeom>
          <a:solidFill>
            <a:srgbClr val="B83227"/>
          </a:solidFill>
          <a:ln/>
        </p:spPr>
      </p:sp>
      <p:sp>
        <p:nvSpPr>
          <p:cNvPr id="11" name="Text 9"/>
          <p:cNvSpPr txBox="1"/>
          <p:nvPr/>
        </p:nvSpPr>
        <p:spPr>
          <a:xfrm>
            <a:off x="6537960" y="1600200"/>
            <a:ext cx="566928" cy="566928"/>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2</a:t>
            </a:r>
            <a:endParaRPr lang="en-US" sz="2400" dirty="0"/>
          </a:p>
        </p:txBody>
      </p:sp>
      <p:sp>
        <p:nvSpPr>
          <p:cNvPr id="12" name="Text 10"/>
          <p:cNvSpPr txBox="1"/>
          <p:nvPr/>
        </p:nvSpPr>
        <p:spPr>
          <a:xfrm>
            <a:off x="7315200" y="1627632"/>
            <a:ext cx="4114800" cy="502920"/>
          </a:xfrm>
          <a:prstGeom prst="rect">
            <a:avLst/>
          </a:prstGeom>
          <a:noFill/>
          <a:ln/>
        </p:spPr>
        <p:txBody>
          <a:bodyPr wrap="square" lIns="0" tIns="0" rIns="0" bIns="0" rtlCol="0" anchor="t"/>
          <a:lstStyle/>
          <a:p>
            <a:pPr algn="l" indent="0" marL="0">
              <a:buNone/>
            </a:pPr>
            <a:r>
              <a:rPr lang="en-US" sz="2600" b="1" dirty="0">
                <a:solidFill>
                  <a:srgbClr val="14212B"/>
                </a:solidFill>
                <a:latin typeface="Calibri" pitchFamily="34" charset="0"/>
                <a:ea typeface="Calibri" pitchFamily="34" charset="-122"/>
                <a:cs typeface="Calibri" pitchFamily="34" charset="-120"/>
              </a:rPr>
              <a:t>No hard jackknife guarantee</a:t>
            </a:r>
            <a:endParaRPr lang="en-US" sz="2600" dirty="0"/>
          </a:p>
        </p:txBody>
      </p:sp>
      <p:sp>
        <p:nvSpPr>
          <p:cNvPr id="13" name="Text 11"/>
          <p:cNvSpPr txBox="1"/>
          <p:nvPr/>
        </p:nvSpPr>
        <p:spPr>
          <a:xfrm>
            <a:off x="7315200" y="2221992"/>
            <a:ext cx="4114800" cy="1188720"/>
          </a:xfrm>
          <a:prstGeom prst="rect">
            <a:avLst/>
          </a:prstGeom>
          <a:noFill/>
          <a:ln/>
        </p:spPr>
        <p:txBody>
          <a:bodyPr wrap="square" lIns="0" tIns="0" rIns="0" bIns="0" rtlCol="0" anchor="t"/>
          <a:lstStyle/>
          <a:p>
            <a:pPr algn="l" indent="0" marL="0">
              <a:buNone/>
            </a:pPr>
            <a:r>
              <a:rPr lang="en-US" sz="2400" dirty="0">
                <a:solidFill>
                  <a:srgbClr val="14212B"/>
                </a:solidFill>
                <a:latin typeface="Calibri" pitchFamily="34" charset="0"/>
                <a:ea typeface="Calibri" pitchFamily="34" charset="-122"/>
                <a:cs typeface="Calibri" pitchFamily="34" charset="-120"/>
              </a:rPr>
              <a:t>[1] observed jackknifing; [3] has no hitch constraint</a:t>
            </a:r>
            <a:endParaRPr lang="en-US" sz="2400" dirty="0"/>
          </a:p>
        </p:txBody>
      </p:sp>
      <p:sp>
        <p:nvSpPr>
          <p:cNvPr id="14" name="Shape 12"/>
          <p:cNvSpPr/>
          <p:nvPr/>
        </p:nvSpPr>
        <p:spPr>
          <a:xfrm>
            <a:off x="548640" y="3749040"/>
            <a:ext cx="5394960" cy="2194560"/>
          </a:xfrm>
          <a:prstGeom prst="roundRect">
            <a:avLst>
              <a:gd name="adj" fmla="val 5000"/>
            </a:avLst>
          </a:prstGeom>
          <a:solidFill>
            <a:srgbClr val="E8F3F4"/>
          </a:solidFill>
          <a:ln/>
        </p:spPr>
      </p:sp>
      <p:sp>
        <p:nvSpPr>
          <p:cNvPr id="15" name="Shape 13"/>
          <p:cNvSpPr/>
          <p:nvPr/>
        </p:nvSpPr>
        <p:spPr>
          <a:xfrm>
            <a:off x="822960" y="4023360"/>
            <a:ext cx="566928" cy="566928"/>
          </a:xfrm>
          <a:prstGeom prst="ellipse">
            <a:avLst/>
          </a:prstGeom>
          <a:solidFill>
            <a:srgbClr val="0E7C86"/>
          </a:solidFill>
          <a:ln/>
        </p:spPr>
      </p:sp>
      <p:sp>
        <p:nvSpPr>
          <p:cNvPr id="16" name="Text 14"/>
          <p:cNvSpPr txBox="1"/>
          <p:nvPr/>
        </p:nvSpPr>
        <p:spPr>
          <a:xfrm>
            <a:off x="822960" y="4023360"/>
            <a:ext cx="566928" cy="566928"/>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3</a:t>
            </a:r>
            <a:endParaRPr lang="en-US" sz="2400" dirty="0"/>
          </a:p>
        </p:txBody>
      </p:sp>
      <p:sp>
        <p:nvSpPr>
          <p:cNvPr id="17" name="Text 15"/>
          <p:cNvSpPr txBox="1"/>
          <p:nvPr/>
        </p:nvSpPr>
        <p:spPr>
          <a:xfrm>
            <a:off x="1600200" y="4050792"/>
            <a:ext cx="4114800" cy="502920"/>
          </a:xfrm>
          <a:prstGeom prst="rect">
            <a:avLst/>
          </a:prstGeom>
          <a:noFill/>
          <a:ln/>
        </p:spPr>
        <p:txBody>
          <a:bodyPr wrap="square" lIns="0" tIns="0" rIns="0" bIns="0" rtlCol="0" anchor="t"/>
          <a:lstStyle/>
          <a:p>
            <a:pPr algn="l" indent="0" marL="0">
              <a:buNone/>
            </a:pPr>
            <a:r>
              <a:rPr lang="en-US" sz="2600" b="1" dirty="0">
                <a:solidFill>
                  <a:srgbClr val="14212B"/>
                </a:solidFill>
                <a:latin typeface="Calibri" pitchFamily="34" charset="0"/>
                <a:ea typeface="Calibri" pitchFamily="34" charset="-122"/>
                <a:cs typeface="Calibri" pitchFamily="34" charset="-120"/>
              </a:rPr>
              <a:t>Planning kept separate</a:t>
            </a:r>
            <a:endParaRPr lang="en-US" sz="2600" dirty="0"/>
          </a:p>
        </p:txBody>
      </p:sp>
      <p:sp>
        <p:nvSpPr>
          <p:cNvPr id="18" name="Text 16"/>
          <p:cNvSpPr txBox="1"/>
          <p:nvPr/>
        </p:nvSpPr>
        <p:spPr>
          <a:xfrm>
            <a:off x="1600200" y="4645152"/>
            <a:ext cx="4114800" cy="1188720"/>
          </a:xfrm>
          <a:prstGeom prst="rect">
            <a:avLst/>
          </a:prstGeom>
          <a:noFill/>
          <a:ln/>
        </p:spPr>
        <p:txBody>
          <a:bodyPr wrap="square" lIns="0" tIns="0" rIns="0" bIns="0" rtlCol="0" anchor="t"/>
          <a:lstStyle/>
          <a:p>
            <a:pPr algn="l" indent="0" marL="0">
              <a:buNone/>
            </a:pPr>
            <a:r>
              <a:rPr lang="en-US" sz="2400" dirty="0">
                <a:solidFill>
                  <a:srgbClr val="14212B"/>
                </a:solidFill>
                <a:latin typeface="Calibri" pitchFamily="34" charset="0"/>
                <a:ea typeface="Calibri" pitchFamily="34" charset="-122"/>
                <a:cs typeface="Calibri" pitchFamily="34" charset="-120"/>
              </a:rPr>
              <a:t>[2], [3] track a given path; no obstacle-aware parking</a:t>
            </a:r>
            <a:endParaRPr lang="en-US" sz="2400" dirty="0"/>
          </a:p>
        </p:txBody>
      </p:sp>
      <p:sp>
        <p:nvSpPr>
          <p:cNvPr id="19" name="Shape 17"/>
          <p:cNvSpPr/>
          <p:nvPr/>
        </p:nvSpPr>
        <p:spPr>
          <a:xfrm>
            <a:off x="6263640" y="3749040"/>
            <a:ext cx="5394960" cy="2194560"/>
          </a:xfrm>
          <a:prstGeom prst="roundRect">
            <a:avLst>
              <a:gd name="adj" fmla="val 5000"/>
            </a:avLst>
          </a:prstGeom>
          <a:solidFill>
            <a:srgbClr val="E8F3F4"/>
          </a:solidFill>
          <a:ln/>
        </p:spPr>
      </p:sp>
      <p:sp>
        <p:nvSpPr>
          <p:cNvPr id="20" name="Shape 18"/>
          <p:cNvSpPr/>
          <p:nvPr/>
        </p:nvSpPr>
        <p:spPr>
          <a:xfrm>
            <a:off x="6537960" y="4023360"/>
            <a:ext cx="566928" cy="566928"/>
          </a:xfrm>
          <a:prstGeom prst="ellipse">
            <a:avLst/>
          </a:prstGeom>
          <a:solidFill>
            <a:srgbClr val="0E7C86"/>
          </a:solidFill>
          <a:ln/>
        </p:spPr>
      </p:sp>
      <p:sp>
        <p:nvSpPr>
          <p:cNvPr id="21" name="Text 19"/>
          <p:cNvSpPr txBox="1"/>
          <p:nvPr/>
        </p:nvSpPr>
        <p:spPr>
          <a:xfrm>
            <a:off x="6537960" y="4023360"/>
            <a:ext cx="566928" cy="566928"/>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4</a:t>
            </a:r>
            <a:endParaRPr lang="en-US" sz="2400" dirty="0"/>
          </a:p>
        </p:txBody>
      </p:sp>
      <p:sp>
        <p:nvSpPr>
          <p:cNvPr id="22" name="Text 20"/>
          <p:cNvSpPr txBox="1"/>
          <p:nvPr/>
        </p:nvSpPr>
        <p:spPr>
          <a:xfrm>
            <a:off x="7315200" y="4050792"/>
            <a:ext cx="4114800" cy="502920"/>
          </a:xfrm>
          <a:prstGeom prst="rect">
            <a:avLst/>
          </a:prstGeom>
          <a:noFill/>
          <a:ln/>
        </p:spPr>
        <p:txBody>
          <a:bodyPr wrap="square" lIns="0" tIns="0" rIns="0" bIns="0" rtlCol="0" anchor="t"/>
          <a:lstStyle/>
          <a:p>
            <a:pPr algn="l" indent="0" marL="0">
              <a:buNone/>
            </a:pPr>
            <a:r>
              <a:rPr lang="en-US" sz="2600" b="1" dirty="0">
                <a:solidFill>
                  <a:srgbClr val="14212B"/>
                </a:solidFill>
                <a:latin typeface="Calibri" pitchFamily="34" charset="0"/>
                <a:ea typeface="Calibri" pitchFamily="34" charset="-122"/>
                <a:cs typeface="Calibri" pitchFamily="34" charset="-120"/>
              </a:rPr>
              <a:t>No driver output, no metrics</a:t>
            </a:r>
            <a:endParaRPr lang="en-US" sz="2600" dirty="0"/>
          </a:p>
        </p:txBody>
      </p:sp>
      <p:sp>
        <p:nvSpPr>
          <p:cNvPr id="23" name="Text 21"/>
          <p:cNvSpPr txBox="1"/>
          <p:nvPr/>
        </p:nvSpPr>
        <p:spPr>
          <a:xfrm>
            <a:off x="7315200" y="4645152"/>
            <a:ext cx="4114800" cy="1188720"/>
          </a:xfrm>
          <a:prstGeom prst="rect">
            <a:avLst/>
          </a:prstGeom>
          <a:noFill/>
          <a:ln/>
        </p:spPr>
        <p:txBody>
          <a:bodyPr wrap="square" lIns="0" tIns="0" rIns="0" bIns="0" rtlCol="0" anchor="t"/>
          <a:lstStyle/>
          <a:p>
            <a:pPr algn="l" indent="0" marL="0">
              <a:buNone/>
            </a:pPr>
            <a:r>
              <a:rPr lang="en-US" sz="2400" dirty="0">
                <a:solidFill>
                  <a:srgbClr val="14212B"/>
                </a:solidFill>
                <a:latin typeface="Calibri" pitchFamily="34" charset="0"/>
                <a:ea typeface="Calibri" pitchFamily="34" charset="-122"/>
                <a:cs typeface="Calibri" pitchFamily="34" charset="-120"/>
              </a:rPr>
              <a:t>No human-executable guidance; no measured evaluation</a:t>
            </a:r>
            <a:endParaRPr lang="en-US" sz="2400" dirty="0"/>
          </a:p>
        </p:txBody>
      </p:sp>
      <p:sp>
        <p:nvSpPr>
          <p:cNvPr id="25" name="Slide Number Placeholder 0"/>
          <p:cNvSpPr>
            <a:spLocks noGrp="1"/>
          </p:cNvSpPr>
          <p:nvPr>
            <p:ph type="sldNum" sz="quarter" idx="4294967295"/>
          </p:nvPr>
        </p:nvSpPr>
        <p:spPr>
          <a:xfrm>
            <a:off x="10744200" y="6309360"/>
            <a:ext cx="91440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0E7C86"/>
                </a:solidFill>
                <a:latin typeface="Calibri"/>
                <a:ea typeface="Calibri"/>
                <a:cs typeface="Calibri"/>
              </a:defRPr>
            </a:lvl1pPr>
          </a:lstStyle>
          <a:p>
            <a:pPr algn="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777240"/>
          </a:xfrm>
          <a:prstGeom prst="rect">
            <a:avLst/>
          </a:prstGeom>
          <a:noFill/>
          <a:ln/>
        </p:spPr>
        <p:txBody>
          <a:bodyPr wrap="square" lIns="0" tIns="0" rIns="0" bIns="0" rtlCol="0" anchor="ctr"/>
          <a:lstStyle/>
          <a:p>
            <a:pPr indent="0" marL="0">
              <a:buNone/>
            </a:pPr>
            <a:r>
              <a:rPr lang="en-US" sz="3400" b="1" dirty="0">
                <a:solidFill>
                  <a:srgbClr val="14212B"/>
                </a:solidFill>
                <a:latin typeface="Cambria" pitchFamily="34" charset="0"/>
                <a:ea typeface="Cambria" pitchFamily="34" charset="-122"/>
                <a:cs typeface="Cambria" pitchFamily="34" charset="-120"/>
              </a:rPr>
              <a:t>Objectives</a:t>
            </a:r>
            <a:endParaRPr lang="en-US" sz="3400" dirty="0"/>
          </a:p>
        </p:txBody>
      </p:sp>
      <p:sp>
        <p:nvSpPr>
          <p:cNvPr id="3" name="Text 1"/>
          <p:cNvSpPr txBox="1"/>
          <p:nvPr/>
        </p:nvSpPr>
        <p:spPr>
          <a:xfrm>
            <a:off x="548640" y="6309360"/>
            <a:ext cx="8229600" cy="411480"/>
          </a:xfrm>
          <a:prstGeom prst="rect">
            <a:avLst/>
          </a:prstGeom>
          <a:noFill/>
          <a:ln/>
        </p:spPr>
        <p:txBody>
          <a:bodyPr wrap="square" lIns="0" tIns="0" rIns="0" bIns="0" rtlCol="0" anchor="ctr"/>
          <a:lstStyle/>
          <a:p>
            <a:pPr indent="0" marL="0">
              <a:buNone/>
            </a:pPr>
            <a:r>
              <a:rPr lang="en-US" sz="2400" dirty="0">
                <a:solidFill>
                  <a:srgbClr val="44546A"/>
                </a:solidFill>
                <a:latin typeface="Calibri" pitchFamily="34" charset="0"/>
                <a:ea typeface="Calibri" pitchFamily="34" charset="-122"/>
                <a:cs typeface="Calibri" pitchFamily="34" charset="-120"/>
              </a:rPr>
              <a:t>Objectives</a:t>
            </a:r>
            <a:endParaRPr lang="en-US" sz="2400" dirty="0"/>
          </a:p>
        </p:txBody>
      </p:sp>
      <p:sp>
        <p:nvSpPr>
          <p:cNvPr id="4" name="Shape 2"/>
          <p:cNvSpPr/>
          <p:nvPr/>
        </p:nvSpPr>
        <p:spPr>
          <a:xfrm>
            <a:off x="594360" y="1371600"/>
            <a:ext cx="566928" cy="566928"/>
          </a:xfrm>
          <a:prstGeom prst="ellipse">
            <a:avLst/>
          </a:prstGeom>
          <a:solidFill>
            <a:srgbClr val="0E7C86"/>
          </a:solidFill>
          <a:ln/>
        </p:spPr>
      </p:sp>
      <p:sp>
        <p:nvSpPr>
          <p:cNvPr id="5" name="Text 3"/>
          <p:cNvSpPr txBox="1"/>
          <p:nvPr/>
        </p:nvSpPr>
        <p:spPr>
          <a:xfrm>
            <a:off x="594360" y="1371600"/>
            <a:ext cx="566928" cy="566928"/>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1</a:t>
            </a:r>
            <a:endParaRPr lang="en-US" sz="2400" dirty="0"/>
          </a:p>
        </p:txBody>
      </p:sp>
      <p:sp>
        <p:nvSpPr>
          <p:cNvPr id="6" name="Text 4"/>
          <p:cNvSpPr txBox="1"/>
          <p:nvPr/>
        </p:nvSpPr>
        <p:spPr>
          <a:xfrm>
            <a:off x="1417320" y="1389888"/>
            <a:ext cx="10149840" cy="822960"/>
          </a:xfrm>
          <a:prstGeom prst="rect">
            <a:avLst/>
          </a:prstGeom>
          <a:noFill/>
          <a:ln/>
        </p:spPr>
        <p:txBody>
          <a:bodyPr wrap="square" lIns="0" tIns="0" rIns="0" bIns="0" rtlCol="0" anchor="t"/>
          <a:lstStyle/>
          <a:p>
            <a:pPr algn="l" indent="0" marL="0">
              <a:buNone/>
            </a:pPr>
            <a:r>
              <a:rPr lang="en-US" sz="2400" dirty="0">
                <a:solidFill>
                  <a:srgbClr val="14212B"/>
                </a:solidFill>
                <a:latin typeface="Calibri" pitchFamily="34" charset="0"/>
                <a:ea typeface="Calibri" pitchFamily="34" charset="-122"/>
                <a:cs typeface="Calibri" pitchFamily="34" charset="-120"/>
              </a:rPr>
              <a:t>Model the tractor-trailer kinematics and quantify why reversing is unstable</a:t>
            </a:r>
            <a:endParaRPr lang="en-US" sz="2400" dirty="0"/>
          </a:p>
        </p:txBody>
      </p:sp>
      <p:sp>
        <p:nvSpPr>
          <p:cNvPr id="7" name="Shape 5"/>
          <p:cNvSpPr/>
          <p:nvPr/>
        </p:nvSpPr>
        <p:spPr>
          <a:xfrm>
            <a:off x="594360" y="2286000"/>
            <a:ext cx="566928" cy="566928"/>
          </a:xfrm>
          <a:prstGeom prst="ellipse">
            <a:avLst/>
          </a:prstGeom>
          <a:solidFill>
            <a:srgbClr val="0E7C86"/>
          </a:solidFill>
          <a:ln/>
        </p:spPr>
      </p:sp>
      <p:sp>
        <p:nvSpPr>
          <p:cNvPr id="8" name="Text 6"/>
          <p:cNvSpPr txBox="1"/>
          <p:nvPr/>
        </p:nvSpPr>
        <p:spPr>
          <a:xfrm>
            <a:off x="594360" y="2286000"/>
            <a:ext cx="566928" cy="566928"/>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2</a:t>
            </a:r>
            <a:endParaRPr lang="en-US" sz="2400" dirty="0"/>
          </a:p>
        </p:txBody>
      </p:sp>
      <p:sp>
        <p:nvSpPr>
          <p:cNvPr id="9" name="Text 7"/>
          <p:cNvSpPr txBox="1"/>
          <p:nvPr/>
        </p:nvSpPr>
        <p:spPr>
          <a:xfrm>
            <a:off x="1417320" y="2304288"/>
            <a:ext cx="10149840" cy="822960"/>
          </a:xfrm>
          <a:prstGeom prst="rect">
            <a:avLst/>
          </a:prstGeom>
          <a:noFill/>
          <a:ln/>
        </p:spPr>
        <p:txBody>
          <a:bodyPr wrap="square" lIns="0" tIns="0" rIns="0" bIns="0" rtlCol="0" anchor="t"/>
          <a:lstStyle/>
          <a:p>
            <a:pPr algn="l" indent="0" marL="0">
              <a:buNone/>
            </a:pPr>
            <a:r>
              <a:rPr lang="en-US" sz="2400" dirty="0">
                <a:solidFill>
                  <a:srgbClr val="14212B"/>
                </a:solidFill>
                <a:latin typeface="Calibri" pitchFamily="34" charset="0"/>
                <a:ea typeface="Calibri" pitchFamily="34" charset="-122"/>
                <a:cs typeface="Calibri" pitchFamily="34" charset="-120"/>
              </a:rPr>
              <a:t>Plan collision-free, kinematically feasible paths (Hybrid A*) into four bay layouts</a:t>
            </a:r>
            <a:endParaRPr lang="en-US" sz="2400" dirty="0"/>
          </a:p>
        </p:txBody>
      </p:sp>
      <p:sp>
        <p:nvSpPr>
          <p:cNvPr id="10" name="Shape 8"/>
          <p:cNvSpPr/>
          <p:nvPr/>
        </p:nvSpPr>
        <p:spPr>
          <a:xfrm>
            <a:off x="594360" y="3200400"/>
            <a:ext cx="566928" cy="566928"/>
          </a:xfrm>
          <a:prstGeom prst="ellipse">
            <a:avLst/>
          </a:prstGeom>
          <a:solidFill>
            <a:srgbClr val="0E7C86"/>
          </a:solidFill>
          <a:ln/>
        </p:spPr>
      </p:sp>
      <p:sp>
        <p:nvSpPr>
          <p:cNvPr id="11" name="Text 9"/>
          <p:cNvSpPr txBox="1"/>
          <p:nvPr/>
        </p:nvSpPr>
        <p:spPr>
          <a:xfrm>
            <a:off x="594360" y="3200400"/>
            <a:ext cx="566928" cy="566928"/>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3</a:t>
            </a:r>
            <a:endParaRPr lang="en-US" sz="2400" dirty="0"/>
          </a:p>
        </p:txBody>
      </p:sp>
      <p:sp>
        <p:nvSpPr>
          <p:cNvPr id="12" name="Text 10"/>
          <p:cNvSpPr txBox="1"/>
          <p:nvPr/>
        </p:nvSpPr>
        <p:spPr>
          <a:xfrm>
            <a:off x="1417320" y="3218688"/>
            <a:ext cx="10149840" cy="822960"/>
          </a:xfrm>
          <a:prstGeom prst="rect">
            <a:avLst/>
          </a:prstGeom>
          <a:noFill/>
          <a:ln/>
        </p:spPr>
        <p:txBody>
          <a:bodyPr wrap="square" lIns="0" tIns="0" rIns="0" bIns="0" rtlCol="0" anchor="t"/>
          <a:lstStyle/>
          <a:p>
            <a:pPr algn="l" indent="0" marL="0">
              <a:buNone/>
            </a:pPr>
            <a:r>
              <a:rPr lang="en-US" sz="2400" dirty="0">
                <a:solidFill>
                  <a:srgbClr val="14212B"/>
                </a:solidFill>
                <a:latin typeface="Calibri" pitchFamily="34" charset="0"/>
                <a:ea typeface="Calibri" pitchFamily="34" charset="-122"/>
                <a:cs typeface="Calibri" pitchFamily="34" charset="-120"/>
              </a:rPr>
              <a:t>Track the path with NMPC under a hard hitch-angle limit |ψ| ≤ 60°</a:t>
            </a:r>
            <a:endParaRPr lang="en-US" sz="2400" dirty="0"/>
          </a:p>
        </p:txBody>
      </p:sp>
      <p:sp>
        <p:nvSpPr>
          <p:cNvPr id="13" name="Shape 11"/>
          <p:cNvSpPr/>
          <p:nvPr/>
        </p:nvSpPr>
        <p:spPr>
          <a:xfrm>
            <a:off x="594360" y="4114800"/>
            <a:ext cx="566928" cy="566928"/>
          </a:xfrm>
          <a:prstGeom prst="ellipse">
            <a:avLst/>
          </a:prstGeom>
          <a:solidFill>
            <a:srgbClr val="0E7C86"/>
          </a:solidFill>
          <a:ln/>
        </p:spPr>
      </p:sp>
      <p:sp>
        <p:nvSpPr>
          <p:cNvPr id="14" name="Text 12"/>
          <p:cNvSpPr txBox="1"/>
          <p:nvPr/>
        </p:nvSpPr>
        <p:spPr>
          <a:xfrm>
            <a:off x="594360" y="4114800"/>
            <a:ext cx="566928" cy="566928"/>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4</a:t>
            </a:r>
            <a:endParaRPr lang="en-US" sz="2400" dirty="0"/>
          </a:p>
        </p:txBody>
      </p:sp>
      <p:sp>
        <p:nvSpPr>
          <p:cNvPr id="15" name="Text 13"/>
          <p:cNvSpPr txBox="1"/>
          <p:nvPr/>
        </p:nvSpPr>
        <p:spPr>
          <a:xfrm>
            <a:off x="1417320" y="4133088"/>
            <a:ext cx="10149840" cy="822960"/>
          </a:xfrm>
          <a:prstGeom prst="rect">
            <a:avLst/>
          </a:prstGeom>
          <a:noFill/>
          <a:ln/>
        </p:spPr>
        <p:txBody>
          <a:bodyPr wrap="square" lIns="0" tIns="0" rIns="0" bIns="0" rtlCol="0" anchor="t"/>
          <a:lstStyle/>
          <a:p>
            <a:pPr algn="l" indent="0" marL="0">
              <a:buNone/>
            </a:pPr>
            <a:r>
              <a:rPr lang="en-US" sz="2400" dirty="0">
                <a:solidFill>
                  <a:srgbClr val="14212B"/>
                </a:solidFill>
                <a:latin typeface="Calibri" pitchFamily="34" charset="0"/>
                <a:ea typeface="Calibri" pitchFamily="34" charset="-122"/>
                <a:cs typeface="Calibri" pitchFamily="34" charset="-120"/>
              </a:rPr>
              <a:t>Turn the optimal controls into driver instructions: gear, speed, wheel turns, distance</a:t>
            </a:r>
            <a:endParaRPr lang="en-US" sz="2400" dirty="0"/>
          </a:p>
        </p:txBody>
      </p:sp>
      <p:sp>
        <p:nvSpPr>
          <p:cNvPr id="16" name="Shape 14"/>
          <p:cNvSpPr/>
          <p:nvPr/>
        </p:nvSpPr>
        <p:spPr>
          <a:xfrm>
            <a:off x="594360" y="5029200"/>
            <a:ext cx="566928" cy="566928"/>
          </a:xfrm>
          <a:prstGeom prst="ellipse">
            <a:avLst/>
          </a:prstGeom>
          <a:solidFill>
            <a:srgbClr val="0E7C86"/>
          </a:solidFill>
          <a:ln/>
        </p:spPr>
      </p:sp>
      <p:sp>
        <p:nvSpPr>
          <p:cNvPr id="17" name="Text 15"/>
          <p:cNvSpPr txBox="1"/>
          <p:nvPr/>
        </p:nvSpPr>
        <p:spPr>
          <a:xfrm>
            <a:off x="594360" y="5029200"/>
            <a:ext cx="566928" cy="566928"/>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5</a:t>
            </a:r>
            <a:endParaRPr lang="en-US" sz="2400" dirty="0"/>
          </a:p>
        </p:txBody>
      </p:sp>
      <p:sp>
        <p:nvSpPr>
          <p:cNvPr id="18" name="Text 16"/>
          <p:cNvSpPr txBox="1"/>
          <p:nvPr/>
        </p:nvSpPr>
        <p:spPr>
          <a:xfrm>
            <a:off x="1417320" y="5047488"/>
            <a:ext cx="10149840" cy="822960"/>
          </a:xfrm>
          <a:prstGeom prst="rect">
            <a:avLst/>
          </a:prstGeom>
          <a:noFill/>
          <a:ln/>
        </p:spPr>
        <p:txBody>
          <a:bodyPr wrap="square" lIns="0" tIns="0" rIns="0" bIns="0" rtlCol="0" anchor="t"/>
          <a:lstStyle/>
          <a:p>
            <a:pPr algn="l" indent="0" marL="0">
              <a:buNone/>
            </a:pPr>
            <a:r>
              <a:rPr lang="en-US" sz="2400" dirty="0">
                <a:solidFill>
                  <a:srgbClr val="14212B"/>
                </a:solidFill>
                <a:latin typeface="Calibri" pitchFamily="34" charset="0"/>
                <a:ea typeface="Calibri" pitchFamily="34" charset="-122"/>
                <a:cs typeface="Calibri" pitchFamily="34" charset="-120"/>
              </a:rPr>
              <a:t>Certify on 110 scenarios against an unaided-driver baseline</a:t>
            </a:r>
            <a:endParaRPr lang="en-US" sz="2400" dirty="0"/>
          </a:p>
        </p:txBody>
      </p:sp>
      <p:sp>
        <p:nvSpPr>
          <p:cNvPr id="25" name="Slide Number Placeholder 0"/>
          <p:cNvSpPr>
            <a:spLocks noGrp="1"/>
          </p:cNvSpPr>
          <p:nvPr>
            <p:ph type="sldNum" sz="quarter" idx="4294967295"/>
          </p:nvPr>
        </p:nvSpPr>
        <p:spPr>
          <a:xfrm>
            <a:off x="10744200" y="6309360"/>
            <a:ext cx="91440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0E7C86"/>
                </a:solidFill>
                <a:latin typeface="Calibri"/>
                <a:ea typeface="Calibri"/>
                <a:cs typeface="Calibri"/>
              </a:defRPr>
            </a:lvl1pPr>
          </a:lstStyle>
          <a:p>
            <a:pPr algn="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777240"/>
          </a:xfrm>
          <a:prstGeom prst="rect">
            <a:avLst/>
          </a:prstGeom>
          <a:noFill/>
          <a:ln/>
        </p:spPr>
        <p:txBody>
          <a:bodyPr wrap="square" lIns="0" tIns="0" rIns="0" bIns="0" rtlCol="0" anchor="ctr"/>
          <a:lstStyle/>
          <a:p>
            <a:pPr indent="0" marL="0">
              <a:buNone/>
            </a:pPr>
            <a:r>
              <a:rPr lang="en-US" sz="3400" b="1" dirty="0">
                <a:solidFill>
                  <a:srgbClr val="14212B"/>
                </a:solidFill>
                <a:latin typeface="Cambria" pitchFamily="34" charset="0"/>
                <a:ea typeface="Cambria" pitchFamily="34" charset="-122"/>
                <a:cs typeface="Cambria" pitchFamily="34" charset="-120"/>
              </a:rPr>
              <a:t>Problem statement</a:t>
            </a:r>
            <a:endParaRPr lang="en-US" sz="3400" dirty="0"/>
          </a:p>
        </p:txBody>
      </p:sp>
      <p:sp>
        <p:nvSpPr>
          <p:cNvPr id="3" name="Text 1"/>
          <p:cNvSpPr txBox="1"/>
          <p:nvPr/>
        </p:nvSpPr>
        <p:spPr>
          <a:xfrm>
            <a:off x="548640" y="6309360"/>
            <a:ext cx="8229600" cy="411480"/>
          </a:xfrm>
          <a:prstGeom prst="rect">
            <a:avLst/>
          </a:prstGeom>
          <a:noFill/>
          <a:ln/>
        </p:spPr>
        <p:txBody>
          <a:bodyPr wrap="square" lIns="0" tIns="0" rIns="0" bIns="0" rtlCol="0" anchor="ctr"/>
          <a:lstStyle/>
          <a:p>
            <a:pPr indent="0" marL="0">
              <a:buNone/>
            </a:pPr>
            <a:r>
              <a:rPr lang="en-US" sz="2400" dirty="0">
                <a:solidFill>
                  <a:srgbClr val="44546A"/>
                </a:solidFill>
                <a:latin typeface="Calibri" pitchFamily="34" charset="0"/>
                <a:ea typeface="Calibri" pitchFamily="34" charset="-122"/>
                <a:cs typeface="Calibri" pitchFamily="34" charset="-120"/>
              </a:rPr>
              <a:t>Problem statement</a:t>
            </a:r>
            <a:endParaRPr lang="en-US" sz="2400" dirty="0"/>
          </a:p>
        </p:txBody>
      </p:sp>
      <p:sp>
        <p:nvSpPr>
          <p:cNvPr id="4" name="Shape 2"/>
          <p:cNvSpPr/>
          <p:nvPr/>
        </p:nvSpPr>
        <p:spPr>
          <a:xfrm>
            <a:off x="548640" y="1325880"/>
            <a:ext cx="2377440" cy="685800"/>
          </a:xfrm>
          <a:prstGeom prst="roundRect">
            <a:avLst>
              <a:gd name="adj" fmla="val 16000"/>
            </a:avLst>
          </a:prstGeom>
          <a:solidFill>
            <a:srgbClr val="E8F3F4"/>
          </a:solidFill>
          <a:ln/>
        </p:spPr>
      </p:sp>
      <p:sp>
        <p:nvSpPr>
          <p:cNvPr id="5" name="Text 3"/>
          <p:cNvSpPr txBox="1"/>
          <p:nvPr/>
        </p:nvSpPr>
        <p:spPr>
          <a:xfrm>
            <a:off x="548640" y="1325880"/>
            <a:ext cx="2377440" cy="685800"/>
          </a:xfrm>
          <a:prstGeom prst="rect">
            <a:avLst/>
          </a:prstGeom>
          <a:noFill/>
          <a:ln/>
        </p:spPr>
        <p:txBody>
          <a:bodyPr wrap="square" lIns="0" tIns="0" rIns="0" bIns="0" rtlCol="0" anchor="ctr"/>
          <a:lstStyle/>
          <a:p>
            <a:pPr algn="ctr" indent="0" marL="0">
              <a:buNone/>
            </a:pPr>
            <a:r>
              <a:rPr lang="en-US" sz="2400" b="1" dirty="0">
                <a:solidFill>
                  <a:srgbClr val="0E7C86"/>
                </a:solidFill>
                <a:latin typeface="Calibri" pitchFamily="34" charset="0"/>
                <a:ea typeface="Calibri" pitchFamily="34" charset="-122"/>
                <a:cs typeface="Calibri" pitchFamily="34" charset="-120"/>
              </a:rPr>
              <a:t>GIVEN</a:t>
            </a:r>
            <a:endParaRPr lang="en-US" sz="2400" dirty="0"/>
          </a:p>
        </p:txBody>
      </p:sp>
      <p:sp>
        <p:nvSpPr>
          <p:cNvPr id="6" name="Shape 4"/>
          <p:cNvSpPr/>
          <p:nvPr/>
        </p:nvSpPr>
        <p:spPr>
          <a:xfrm>
            <a:off x="548640" y="2194560"/>
            <a:ext cx="2377440" cy="685800"/>
          </a:xfrm>
          <a:prstGeom prst="roundRect">
            <a:avLst>
              <a:gd name="adj" fmla="val 16000"/>
            </a:avLst>
          </a:prstGeom>
          <a:solidFill>
            <a:srgbClr val="E8F3F4"/>
          </a:solidFill>
          <a:ln/>
        </p:spPr>
      </p:sp>
      <p:sp>
        <p:nvSpPr>
          <p:cNvPr id="7" name="Text 5"/>
          <p:cNvSpPr txBox="1"/>
          <p:nvPr/>
        </p:nvSpPr>
        <p:spPr>
          <a:xfrm>
            <a:off x="548640" y="2194560"/>
            <a:ext cx="2377440" cy="685800"/>
          </a:xfrm>
          <a:prstGeom prst="rect">
            <a:avLst/>
          </a:prstGeom>
          <a:noFill/>
          <a:ln/>
        </p:spPr>
        <p:txBody>
          <a:bodyPr wrap="square" lIns="0" tIns="0" rIns="0" bIns="0" rtlCol="0" anchor="ctr"/>
          <a:lstStyle/>
          <a:p>
            <a:pPr algn="ctr" indent="0" marL="0">
              <a:buNone/>
            </a:pPr>
            <a:r>
              <a:rPr lang="en-US" sz="2400" b="1" dirty="0">
                <a:solidFill>
                  <a:srgbClr val="0E7C86"/>
                </a:solidFill>
                <a:latin typeface="Calibri" pitchFamily="34" charset="0"/>
                <a:ea typeface="Calibri" pitchFamily="34" charset="-122"/>
                <a:cs typeface="Calibri" pitchFamily="34" charset="-120"/>
              </a:rPr>
              <a:t>FIND</a:t>
            </a:r>
            <a:endParaRPr lang="en-US" sz="2400" dirty="0"/>
          </a:p>
        </p:txBody>
      </p:sp>
      <p:sp>
        <p:nvSpPr>
          <p:cNvPr id="8" name="Shape 6"/>
          <p:cNvSpPr/>
          <p:nvPr/>
        </p:nvSpPr>
        <p:spPr>
          <a:xfrm>
            <a:off x="548640" y="3063240"/>
            <a:ext cx="2377440" cy="1325880"/>
          </a:xfrm>
          <a:prstGeom prst="roundRect">
            <a:avLst>
              <a:gd name="adj" fmla="val 8276"/>
            </a:avLst>
          </a:prstGeom>
          <a:solidFill>
            <a:srgbClr val="E8F3F4"/>
          </a:solidFill>
          <a:ln/>
        </p:spPr>
      </p:sp>
      <p:sp>
        <p:nvSpPr>
          <p:cNvPr id="9" name="Text 7"/>
          <p:cNvSpPr txBox="1"/>
          <p:nvPr/>
        </p:nvSpPr>
        <p:spPr>
          <a:xfrm>
            <a:off x="548640" y="3063240"/>
            <a:ext cx="2377440" cy="1325880"/>
          </a:xfrm>
          <a:prstGeom prst="rect">
            <a:avLst/>
          </a:prstGeom>
          <a:noFill/>
          <a:ln/>
        </p:spPr>
        <p:txBody>
          <a:bodyPr wrap="square" lIns="0" tIns="0" rIns="0" bIns="0" rtlCol="0" anchor="ctr"/>
          <a:lstStyle/>
          <a:p>
            <a:pPr algn="ctr" indent="0" marL="0">
              <a:buNone/>
            </a:pPr>
            <a:r>
              <a:rPr lang="en-US" sz="2400" b="1" dirty="0">
                <a:solidFill>
                  <a:srgbClr val="0E7C86"/>
                </a:solidFill>
                <a:latin typeface="Calibri" pitchFamily="34" charset="0"/>
                <a:ea typeface="Calibri" pitchFamily="34" charset="-122"/>
                <a:cs typeface="Calibri" pitchFamily="34" charset="-120"/>
              </a:rPr>
              <a:t>SUBJECT TO</a:t>
            </a:r>
            <a:endParaRPr lang="en-US" sz="2400" dirty="0"/>
          </a:p>
        </p:txBody>
      </p:sp>
      <p:sp>
        <p:nvSpPr>
          <p:cNvPr id="10" name="Shape 8"/>
          <p:cNvSpPr/>
          <p:nvPr/>
        </p:nvSpPr>
        <p:spPr>
          <a:xfrm>
            <a:off x="548640" y="4572000"/>
            <a:ext cx="2377440" cy="868680"/>
          </a:xfrm>
          <a:prstGeom prst="roundRect">
            <a:avLst>
              <a:gd name="adj" fmla="val 12632"/>
            </a:avLst>
          </a:prstGeom>
          <a:solidFill>
            <a:srgbClr val="E8F3F4"/>
          </a:solidFill>
          <a:ln/>
        </p:spPr>
      </p:sp>
      <p:sp>
        <p:nvSpPr>
          <p:cNvPr id="11" name="Text 9"/>
          <p:cNvSpPr txBox="1"/>
          <p:nvPr/>
        </p:nvSpPr>
        <p:spPr>
          <a:xfrm>
            <a:off x="548640" y="4572000"/>
            <a:ext cx="2377440" cy="868680"/>
          </a:xfrm>
          <a:prstGeom prst="rect">
            <a:avLst/>
          </a:prstGeom>
          <a:noFill/>
          <a:ln/>
        </p:spPr>
        <p:txBody>
          <a:bodyPr wrap="square" lIns="0" tIns="0" rIns="0" bIns="0" rtlCol="0" anchor="ctr"/>
          <a:lstStyle/>
          <a:p>
            <a:pPr algn="ctr" indent="0" marL="0">
              <a:buNone/>
            </a:pPr>
            <a:r>
              <a:rPr lang="en-US" sz="2400" b="1" dirty="0">
                <a:solidFill>
                  <a:srgbClr val="0E7C86"/>
                </a:solidFill>
                <a:latin typeface="Calibri" pitchFamily="34" charset="0"/>
                <a:ea typeface="Calibri" pitchFamily="34" charset="-122"/>
                <a:cs typeface="Calibri" pitchFamily="34" charset="-120"/>
              </a:rPr>
              <a:t>DELIVER</a:t>
            </a:r>
            <a:endParaRPr lang="en-US" sz="2400" dirty="0"/>
          </a:p>
        </p:txBody>
      </p:sp>
      <p:sp>
        <p:nvSpPr>
          <p:cNvPr id="12" name="Text 10"/>
          <p:cNvSpPr txBox="1"/>
          <p:nvPr/>
        </p:nvSpPr>
        <p:spPr>
          <a:xfrm>
            <a:off x="3200400" y="1325880"/>
            <a:ext cx="8412480" cy="685800"/>
          </a:xfrm>
          <a:prstGeom prst="rect">
            <a:avLst/>
          </a:prstGeom>
          <a:noFill/>
          <a:ln/>
        </p:spPr>
        <p:txBody>
          <a:bodyPr wrap="square" lIns="0" tIns="0" rIns="0" bIns="0" rtlCol="0" anchor="ctr"/>
          <a:lstStyle/>
          <a:p>
            <a:pPr algn="l" indent="0" marL="0">
              <a:buNone/>
            </a:pPr>
            <a:r>
              <a:rPr lang="en-US" sz="2400" dirty="0">
                <a:solidFill>
                  <a:srgbClr val="14212B"/>
                </a:solidFill>
                <a:latin typeface="Calibri" pitchFamily="34" charset="0"/>
                <a:ea typeface="Calibri" pitchFamily="34" charset="-122"/>
                <a:cs typeface="Calibri" pitchFamily="34" charset="-120"/>
              </a:rPr>
              <a:t>Yard map (walls, parked rigs), gate pose, target bay pose</a:t>
            </a:r>
            <a:endParaRPr lang="en-US" sz="2400" dirty="0"/>
          </a:p>
        </p:txBody>
      </p:sp>
      <p:pic>
        <p:nvPicPr>
          <p:cNvPr id="13" name="Image 0" descr="find U of t such that X of 0 equals X gate and X of T approximately X bay">    </p:cNvPr>
          <p:cNvPicPr>
            <a:picLocks noChangeAspect="1"/>
          </p:cNvPicPr>
          <p:nvPr/>
        </p:nvPicPr>
        <p:blipFill>
          <a:blip r:embed="rId1"/>
          <a:stretch>
            <a:fillRect/>
          </a:stretch>
        </p:blipFill>
        <p:spPr>
          <a:xfrm>
            <a:off x="3200400" y="2286000"/>
            <a:ext cx="6998208" cy="490728"/>
          </a:xfrm>
          <a:prstGeom prst="rect">
            <a:avLst/>
          </a:prstGeom>
        </p:spPr>
      </p:pic>
      <p:sp>
        <p:nvSpPr>
          <p:cNvPr id="14" name="Text 11"/>
          <p:cNvSpPr txBox="1"/>
          <p:nvPr/>
        </p:nvSpPr>
        <p:spPr>
          <a:xfrm>
            <a:off x="3200400" y="3090672"/>
            <a:ext cx="8412480" cy="457200"/>
          </a:xfrm>
          <a:prstGeom prst="rect">
            <a:avLst/>
          </a:prstGeom>
          <a:noFill/>
          <a:ln/>
        </p:spPr>
        <p:txBody>
          <a:bodyPr wrap="square" lIns="0" tIns="0" rIns="0" bIns="0" rtlCol="0" anchor="t"/>
          <a:lstStyle/>
          <a:p>
            <a:pPr algn="l" indent="0" marL="0">
              <a:buNone/>
            </a:pPr>
            <a:r>
              <a:rPr lang="en-US" sz="2400" dirty="0">
                <a:solidFill>
                  <a:srgbClr val="14212B"/>
                </a:solidFill>
                <a:latin typeface="Calibri" pitchFamily="34" charset="0"/>
                <a:ea typeface="Calibri" pitchFamily="34" charset="-122"/>
                <a:cs typeface="Calibri" pitchFamily="34" charset="-120"/>
              </a:rPr>
              <a:t>Ẋ = f(X, U)  and  |v| ≤ 2 m/s</a:t>
            </a:r>
            <a:endParaRPr lang="en-US" sz="2400" dirty="0"/>
          </a:p>
        </p:txBody>
      </p:sp>
      <p:pic>
        <p:nvPicPr>
          <p:cNvPr id="15" name="Image 1" descr="absolute psi at most 60 degrees, steering at most 35 degrees, clearance at least 0.25 m">    </p:cNvPr>
          <p:cNvPicPr>
            <a:picLocks noChangeAspect="1"/>
          </p:cNvPicPr>
          <p:nvPr/>
        </p:nvPicPr>
        <p:blipFill>
          <a:blip r:embed="rId2"/>
          <a:stretch>
            <a:fillRect/>
          </a:stretch>
        </p:blipFill>
        <p:spPr>
          <a:xfrm>
            <a:off x="3200400" y="3767328"/>
            <a:ext cx="6315456" cy="490728"/>
          </a:xfrm>
          <a:prstGeom prst="rect">
            <a:avLst/>
          </a:prstGeom>
        </p:spPr>
      </p:pic>
      <p:sp>
        <p:nvSpPr>
          <p:cNvPr id="16" name="Text 12"/>
          <p:cNvSpPr txBox="1"/>
          <p:nvPr/>
        </p:nvSpPr>
        <p:spPr>
          <a:xfrm>
            <a:off x="3200400" y="4572000"/>
            <a:ext cx="8412480" cy="868680"/>
          </a:xfrm>
          <a:prstGeom prst="rect">
            <a:avLst/>
          </a:prstGeom>
          <a:noFill/>
          <a:ln/>
        </p:spPr>
        <p:txBody>
          <a:bodyPr wrap="square" lIns="0" tIns="0" rIns="0" bIns="0" rtlCol="0" anchor="ctr"/>
          <a:lstStyle/>
          <a:p>
            <a:pPr algn="l" indent="0" marL="0">
              <a:buNone/>
            </a:pPr>
            <a:r>
              <a:rPr lang="en-US" sz="2400" dirty="0">
                <a:solidFill>
                  <a:srgbClr val="14212B"/>
                </a:solidFill>
                <a:latin typeface="Calibri" pitchFamily="34" charset="0"/>
                <a:ea typeface="Calibri" pitchFamily="34" charset="-122"/>
                <a:cs typeface="Calibri" pitchFamily="34" charset="-120"/>
              </a:rPr>
              <a:t>Instructions a human can follow: gear · speed · wheel turns · hold distance</a:t>
            </a:r>
            <a:endParaRPr lang="en-US" sz="2400" dirty="0"/>
          </a:p>
        </p:txBody>
      </p:sp>
      <p:sp>
        <p:nvSpPr>
          <p:cNvPr id="25" name="Slide Number Placeholder 0"/>
          <p:cNvSpPr>
            <a:spLocks noGrp="1"/>
          </p:cNvSpPr>
          <p:nvPr>
            <p:ph type="sldNum" sz="quarter" idx="4294967295"/>
          </p:nvPr>
        </p:nvSpPr>
        <p:spPr>
          <a:xfrm>
            <a:off x="10744200" y="6309360"/>
            <a:ext cx="91440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0E7C86"/>
                </a:solidFill>
                <a:latin typeface="Calibri"/>
                <a:ea typeface="Calibri"/>
                <a:cs typeface="Calibri"/>
              </a:defRPr>
            </a:lvl1pPr>
          </a:lstStyle>
          <a:p>
            <a:pPr algn="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777240"/>
          </a:xfrm>
          <a:prstGeom prst="rect">
            <a:avLst/>
          </a:prstGeom>
          <a:noFill/>
          <a:ln/>
        </p:spPr>
        <p:txBody>
          <a:bodyPr wrap="square" lIns="0" tIns="0" rIns="0" bIns="0" rtlCol="0" anchor="ctr"/>
          <a:lstStyle/>
          <a:p>
            <a:pPr indent="0" marL="0">
              <a:buNone/>
            </a:pPr>
            <a:r>
              <a:rPr lang="en-US" sz="3400" b="1" dirty="0">
                <a:solidFill>
                  <a:srgbClr val="14212B"/>
                </a:solidFill>
                <a:latin typeface="Cambria" pitchFamily="34" charset="0"/>
                <a:ea typeface="Cambria" pitchFamily="34" charset="-122"/>
                <a:cs typeface="Cambria" pitchFamily="34" charset="-120"/>
              </a:rPr>
              <a:t>Methodology: the pipeline</a:t>
            </a:r>
            <a:endParaRPr lang="en-US" sz="3400" dirty="0"/>
          </a:p>
        </p:txBody>
      </p:sp>
      <p:sp>
        <p:nvSpPr>
          <p:cNvPr id="3" name="Text 1"/>
          <p:cNvSpPr txBox="1"/>
          <p:nvPr/>
        </p:nvSpPr>
        <p:spPr>
          <a:xfrm>
            <a:off x="548640" y="6309360"/>
            <a:ext cx="8229600" cy="411480"/>
          </a:xfrm>
          <a:prstGeom prst="rect">
            <a:avLst/>
          </a:prstGeom>
          <a:noFill/>
          <a:ln/>
        </p:spPr>
        <p:txBody>
          <a:bodyPr wrap="square" lIns="0" tIns="0" rIns="0" bIns="0" rtlCol="0" anchor="ctr"/>
          <a:lstStyle/>
          <a:p>
            <a:pPr indent="0" marL="0">
              <a:buNone/>
            </a:pPr>
            <a:r>
              <a:rPr lang="en-US" sz="2400" dirty="0">
                <a:solidFill>
                  <a:srgbClr val="44546A"/>
                </a:solidFill>
                <a:latin typeface="Calibri" pitchFamily="34" charset="0"/>
                <a:ea typeface="Calibri" pitchFamily="34" charset="-122"/>
                <a:cs typeface="Calibri" pitchFamily="34" charset="-120"/>
              </a:rPr>
              <a:t>Methodology</a:t>
            </a:r>
            <a:endParaRPr lang="en-US" sz="2400" dirty="0"/>
          </a:p>
        </p:txBody>
      </p:sp>
      <p:sp>
        <p:nvSpPr>
          <p:cNvPr id="4" name="Shape 2"/>
          <p:cNvSpPr/>
          <p:nvPr/>
        </p:nvSpPr>
        <p:spPr>
          <a:xfrm>
            <a:off x="548640" y="1737360"/>
            <a:ext cx="1920240" cy="1280160"/>
          </a:xfrm>
          <a:prstGeom prst="roundRect">
            <a:avLst>
              <a:gd name="adj" fmla="val 8571"/>
            </a:avLst>
          </a:prstGeom>
          <a:solidFill>
            <a:srgbClr val="1B5E66"/>
          </a:solidFill>
          <a:ln/>
        </p:spPr>
      </p:sp>
      <p:sp>
        <p:nvSpPr>
          <p:cNvPr id="5" name="Text 3"/>
          <p:cNvSpPr txBox="1"/>
          <p:nvPr/>
        </p:nvSpPr>
        <p:spPr>
          <a:xfrm>
            <a:off x="621792" y="1737360"/>
            <a:ext cx="1773936" cy="128016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Yard &amp; model</a:t>
            </a:r>
            <a:endParaRPr lang="en-US" sz="2400" dirty="0"/>
          </a:p>
        </p:txBody>
      </p:sp>
      <p:sp>
        <p:nvSpPr>
          <p:cNvPr id="6" name="Text 4"/>
          <p:cNvSpPr txBox="1"/>
          <p:nvPr/>
        </p:nvSpPr>
        <p:spPr>
          <a:xfrm>
            <a:off x="548640" y="3200400"/>
            <a:ext cx="1920240" cy="914400"/>
          </a:xfrm>
          <a:prstGeom prst="rect">
            <a:avLst/>
          </a:prstGeom>
          <a:noFill/>
          <a:ln/>
        </p:spPr>
        <p:txBody>
          <a:bodyPr wrap="square" lIns="0" tIns="0" rIns="0" bIns="0" rtlCol="0" anchor="t"/>
          <a:lstStyle/>
          <a:p>
            <a:pPr algn="ctr" indent="0" marL="0">
              <a:buNone/>
            </a:pPr>
            <a:r>
              <a:rPr lang="en-US" sz="2400" dirty="0">
                <a:solidFill>
                  <a:srgbClr val="14212B"/>
                </a:solidFill>
                <a:latin typeface="Calibri" pitchFamily="34" charset="0"/>
                <a:ea typeface="Calibri" pitchFamily="34" charset="-122"/>
                <a:cs typeface="Calibri" pitchFamily="34" charset="-120"/>
              </a:rPr>
              <a:t>4 layouts, seeded fill</a:t>
            </a:r>
            <a:endParaRPr lang="en-US" sz="2400" dirty="0"/>
          </a:p>
        </p:txBody>
      </p:sp>
      <p:sp>
        <p:nvSpPr>
          <p:cNvPr id="7" name="Text 5"/>
          <p:cNvSpPr txBox="1"/>
          <p:nvPr/>
        </p:nvSpPr>
        <p:spPr>
          <a:xfrm>
            <a:off x="548640" y="4160520"/>
            <a:ext cx="1920240" cy="411480"/>
          </a:xfrm>
          <a:prstGeom prst="rect">
            <a:avLst/>
          </a:prstGeom>
          <a:noFill/>
          <a:ln/>
        </p:spPr>
        <p:txBody>
          <a:bodyPr wrap="square" lIns="0" tIns="0" rIns="0" bIns="0" rtlCol="0" anchor="t"/>
          <a:lstStyle/>
          <a:p>
            <a:pPr algn="ctr" indent="0" marL="0">
              <a:buNone/>
            </a:pPr>
            <a:r>
              <a:rPr lang="en-US" sz="2400" b="1" dirty="0">
                <a:solidFill>
                  <a:srgbClr val="0E7C86"/>
                </a:solidFill>
                <a:latin typeface="Calibri" pitchFamily="34" charset="0"/>
                <a:ea typeface="Calibri" pitchFamily="34" charset="-122"/>
                <a:cs typeface="Calibri" pitchFamily="34" charset="-120"/>
              </a:rPr>
              <a:t>slides 9–13</a:t>
            </a:r>
            <a:endParaRPr lang="en-US" sz="2400" dirty="0"/>
          </a:p>
        </p:txBody>
      </p:sp>
      <p:sp>
        <p:nvSpPr>
          <p:cNvPr id="8" name="Shape 6"/>
          <p:cNvSpPr/>
          <p:nvPr/>
        </p:nvSpPr>
        <p:spPr>
          <a:xfrm>
            <a:off x="2514600" y="2377440"/>
            <a:ext cx="274320" cy="0"/>
          </a:xfrm>
          <a:prstGeom prst="line">
            <a:avLst/>
          </a:prstGeom>
          <a:noFill/>
          <a:ln w="31750">
            <a:solidFill>
              <a:srgbClr val="14212B"/>
            </a:solidFill>
            <a:prstDash val="solid"/>
            <a:tailEnd type="triangle"/>
          </a:ln>
        </p:spPr>
      </p:sp>
      <p:sp>
        <p:nvSpPr>
          <p:cNvPr id="9" name="Shape 7"/>
          <p:cNvSpPr/>
          <p:nvPr/>
        </p:nvSpPr>
        <p:spPr>
          <a:xfrm>
            <a:off x="2834640" y="1737360"/>
            <a:ext cx="1920240" cy="1280160"/>
          </a:xfrm>
          <a:prstGeom prst="roundRect">
            <a:avLst>
              <a:gd name="adj" fmla="val 8571"/>
            </a:avLst>
          </a:prstGeom>
          <a:solidFill>
            <a:srgbClr val="1B5E66"/>
          </a:solidFill>
          <a:ln/>
        </p:spPr>
      </p:sp>
      <p:sp>
        <p:nvSpPr>
          <p:cNvPr id="10" name="Text 8"/>
          <p:cNvSpPr txBox="1"/>
          <p:nvPr/>
        </p:nvSpPr>
        <p:spPr>
          <a:xfrm>
            <a:off x="2907792" y="1737360"/>
            <a:ext cx="1773936" cy="128016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Hybrid A* planner</a:t>
            </a:r>
            <a:endParaRPr lang="en-US" sz="2400" dirty="0"/>
          </a:p>
        </p:txBody>
      </p:sp>
      <p:sp>
        <p:nvSpPr>
          <p:cNvPr id="11" name="Text 9"/>
          <p:cNvSpPr txBox="1"/>
          <p:nvPr/>
        </p:nvSpPr>
        <p:spPr>
          <a:xfrm>
            <a:off x="2834640" y="3200400"/>
            <a:ext cx="1920240" cy="914400"/>
          </a:xfrm>
          <a:prstGeom prst="rect">
            <a:avLst/>
          </a:prstGeom>
          <a:noFill/>
          <a:ln/>
        </p:spPr>
        <p:txBody>
          <a:bodyPr wrap="square" lIns="0" tIns="0" rIns="0" bIns="0" rtlCol="0" anchor="t"/>
          <a:lstStyle/>
          <a:p>
            <a:pPr algn="ctr" indent="0" marL="0">
              <a:buNone/>
            </a:pPr>
            <a:r>
              <a:rPr lang="en-US" sz="2400" dirty="0">
                <a:solidFill>
                  <a:srgbClr val="14212B"/>
                </a:solidFill>
                <a:latin typeface="Calibri" pitchFamily="34" charset="0"/>
                <a:ea typeface="Calibri" pitchFamily="34" charset="-122"/>
                <a:cs typeface="Calibri" pitchFamily="34" charset="-120"/>
              </a:rPr>
              <a:t>collision-free path</a:t>
            </a:r>
            <a:endParaRPr lang="en-US" sz="2400" dirty="0"/>
          </a:p>
        </p:txBody>
      </p:sp>
      <p:sp>
        <p:nvSpPr>
          <p:cNvPr id="12" name="Text 10"/>
          <p:cNvSpPr txBox="1"/>
          <p:nvPr/>
        </p:nvSpPr>
        <p:spPr>
          <a:xfrm>
            <a:off x="2834640" y="4160520"/>
            <a:ext cx="1920240" cy="411480"/>
          </a:xfrm>
          <a:prstGeom prst="rect">
            <a:avLst/>
          </a:prstGeom>
          <a:noFill/>
          <a:ln/>
        </p:spPr>
        <p:txBody>
          <a:bodyPr wrap="square" lIns="0" tIns="0" rIns="0" bIns="0" rtlCol="0" anchor="t"/>
          <a:lstStyle/>
          <a:p>
            <a:pPr algn="ctr" indent="0" marL="0">
              <a:buNone/>
            </a:pPr>
            <a:r>
              <a:rPr lang="en-US" sz="2400" b="1" dirty="0">
                <a:solidFill>
                  <a:srgbClr val="0E7C86"/>
                </a:solidFill>
                <a:latin typeface="Calibri" pitchFamily="34" charset="0"/>
                <a:ea typeface="Calibri" pitchFamily="34" charset="-122"/>
                <a:cs typeface="Calibri" pitchFamily="34" charset="-120"/>
              </a:rPr>
              <a:t>slides 14–15</a:t>
            </a:r>
            <a:endParaRPr lang="en-US" sz="2400" dirty="0"/>
          </a:p>
        </p:txBody>
      </p:sp>
      <p:sp>
        <p:nvSpPr>
          <p:cNvPr id="13" name="Shape 11"/>
          <p:cNvSpPr/>
          <p:nvPr/>
        </p:nvSpPr>
        <p:spPr>
          <a:xfrm>
            <a:off x="4800600" y="2377440"/>
            <a:ext cx="274320" cy="0"/>
          </a:xfrm>
          <a:prstGeom prst="line">
            <a:avLst/>
          </a:prstGeom>
          <a:noFill/>
          <a:ln w="31750">
            <a:solidFill>
              <a:srgbClr val="14212B"/>
            </a:solidFill>
            <a:prstDash val="solid"/>
            <a:tailEnd type="triangle"/>
          </a:ln>
        </p:spPr>
      </p:sp>
      <p:sp>
        <p:nvSpPr>
          <p:cNvPr id="14" name="Shape 12"/>
          <p:cNvSpPr/>
          <p:nvPr/>
        </p:nvSpPr>
        <p:spPr>
          <a:xfrm>
            <a:off x="5120640" y="1737360"/>
            <a:ext cx="1920240" cy="1280160"/>
          </a:xfrm>
          <a:prstGeom prst="roundRect">
            <a:avLst>
              <a:gd name="adj" fmla="val 8571"/>
            </a:avLst>
          </a:prstGeom>
          <a:solidFill>
            <a:srgbClr val="0E7C86"/>
          </a:solidFill>
          <a:ln/>
        </p:spPr>
      </p:sp>
      <p:sp>
        <p:nvSpPr>
          <p:cNvPr id="15" name="Text 13"/>
          <p:cNvSpPr txBox="1"/>
          <p:nvPr/>
        </p:nvSpPr>
        <p:spPr>
          <a:xfrm>
            <a:off x="5193792" y="1737360"/>
            <a:ext cx="1773936" cy="128016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NMPC tracker</a:t>
            </a:r>
            <a:endParaRPr lang="en-US" sz="2400" dirty="0"/>
          </a:p>
        </p:txBody>
      </p:sp>
      <p:sp>
        <p:nvSpPr>
          <p:cNvPr id="16" name="Text 14"/>
          <p:cNvSpPr txBox="1"/>
          <p:nvPr/>
        </p:nvSpPr>
        <p:spPr>
          <a:xfrm>
            <a:off x="5120640" y="3200400"/>
            <a:ext cx="1920240" cy="914400"/>
          </a:xfrm>
          <a:prstGeom prst="rect">
            <a:avLst/>
          </a:prstGeom>
          <a:noFill/>
          <a:ln/>
        </p:spPr>
        <p:txBody>
          <a:bodyPr wrap="square" lIns="0" tIns="0" rIns="0" bIns="0" rtlCol="0" anchor="t"/>
          <a:lstStyle/>
          <a:p>
            <a:pPr algn="ctr" indent="0" marL="0">
              <a:buNone/>
            </a:pPr>
            <a:r>
              <a:rPr lang="en-US" sz="2400" dirty="0">
                <a:solidFill>
                  <a:srgbClr val="14212B"/>
                </a:solidFill>
                <a:latin typeface="Calibri" pitchFamily="34" charset="0"/>
                <a:ea typeface="Calibri" pitchFamily="34" charset="-122"/>
                <a:cs typeface="Calibri" pitchFamily="34" charset="-120"/>
              </a:rPr>
              <a:t>hard |ψ| ≤ 60°</a:t>
            </a:r>
            <a:endParaRPr lang="en-US" sz="2400" dirty="0"/>
          </a:p>
        </p:txBody>
      </p:sp>
      <p:sp>
        <p:nvSpPr>
          <p:cNvPr id="17" name="Text 15"/>
          <p:cNvSpPr txBox="1"/>
          <p:nvPr/>
        </p:nvSpPr>
        <p:spPr>
          <a:xfrm>
            <a:off x="5120640" y="4160520"/>
            <a:ext cx="1920240" cy="411480"/>
          </a:xfrm>
          <a:prstGeom prst="rect">
            <a:avLst/>
          </a:prstGeom>
          <a:noFill/>
          <a:ln/>
        </p:spPr>
        <p:txBody>
          <a:bodyPr wrap="square" lIns="0" tIns="0" rIns="0" bIns="0" rtlCol="0" anchor="t"/>
          <a:lstStyle/>
          <a:p>
            <a:pPr algn="ctr" indent="0" marL="0">
              <a:buNone/>
            </a:pPr>
            <a:r>
              <a:rPr lang="en-US" sz="2400" b="1" dirty="0">
                <a:solidFill>
                  <a:srgbClr val="0E7C86"/>
                </a:solidFill>
                <a:latin typeface="Calibri" pitchFamily="34" charset="0"/>
                <a:ea typeface="Calibri" pitchFamily="34" charset="-122"/>
                <a:cs typeface="Calibri" pitchFamily="34" charset="-120"/>
              </a:rPr>
              <a:t>slides 16–17</a:t>
            </a:r>
            <a:endParaRPr lang="en-US" sz="2400" dirty="0"/>
          </a:p>
        </p:txBody>
      </p:sp>
      <p:sp>
        <p:nvSpPr>
          <p:cNvPr id="18" name="Shape 16"/>
          <p:cNvSpPr/>
          <p:nvPr/>
        </p:nvSpPr>
        <p:spPr>
          <a:xfrm>
            <a:off x="7086600" y="2377440"/>
            <a:ext cx="274320" cy="0"/>
          </a:xfrm>
          <a:prstGeom prst="line">
            <a:avLst/>
          </a:prstGeom>
          <a:noFill/>
          <a:ln w="31750">
            <a:solidFill>
              <a:srgbClr val="14212B"/>
            </a:solidFill>
            <a:prstDash val="solid"/>
            <a:tailEnd type="triangle"/>
          </a:ln>
        </p:spPr>
      </p:sp>
      <p:sp>
        <p:nvSpPr>
          <p:cNvPr id="19" name="Shape 17"/>
          <p:cNvSpPr/>
          <p:nvPr/>
        </p:nvSpPr>
        <p:spPr>
          <a:xfrm>
            <a:off x="7406640" y="1737360"/>
            <a:ext cx="1920240" cy="1280160"/>
          </a:xfrm>
          <a:prstGeom prst="roundRect">
            <a:avLst>
              <a:gd name="adj" fmla="val 8571"/>
            </a:avLst>
          </a:prstGeom>
          <a:solidFill>
            <a:srgbClr val="1B5E66"/>
          </a:solidFill>
          <a:ln/>
        </p:spPr>
      </p:sp>
      <p:sp>
        <p:nvSpPr>
          <p:cNvPr id="20" name="Text 18"/>
          <p:cNvSpPr txBox="1"/>
          <p:nvPr/>
        </p:nvSpPr>
        <p:spPr>
          <a:xfrm>
            <a:off x="7479792" y="1737360"/>
            <a:ext cx="1773936" cy="128016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Driver advisor</a:t>
            </a:r>
            <a:endParaRPr lang="en-US" sz="2400" dirty="0"/>
          </a:p>
        </p:txBody>
      </p:sp>
      <p:sp>
        <p:nvSpPr>
          <p:cNvPr id="21" name="Text 19"/>
          <p:cNvSpPr txBox="1"/>
          <p:nvPr/>
        </p:nvSpPr>
        <p:spPr>
          <a:xfrm>
            <a:off x="7406640" y="3200400"/>
            <a:ext cx="1920240" cy="914400"/>
          </a:xfrm>
          <a:prstGeom prst="rect">
            <a:avLst/>
          </a:prstGeom>
          <a:noFill/>
          <a:ln/>
        </p:spPr>
        <p:txBody>
          <a:bodyPr wrap="square" lIns="0" tIns="0" rIns="0" bIns="0" rtlCol="0" anchor="t"/>
          <a:lstStyle/>
          <a:p>
            <a:pPr algn="ctr" indent="0" marL="0">
              <a:buNone/>
            </a:pPr>
            <a:r>
              <a:rPr lang="en-US" sz="2400" dirty="0">
                <a:solidFill>
                  <a:srgbClr val="14212B"/>
                </a:solidFill>
                <a:latin typeface="Calibri" pitchFamily="34" charset="0"/>
                <a:ea typeface="Calibri" pitchFamily="34" charset="-122"/>
                <a:cs typeface="Calibri" pitchFamily="34" charset="-120"/>
              </a:rPr>
              <a:t>wheel turns, km/h</a:t>
            </a:r>
            <a:endParaRPr lang="en-US" sz="2400" dirty="0"/>
          </a:p>
        </p:txBody>
      </p:sp>
      <p:sp>
        <p:nvSpPr>
          <p:cNvPr id="22" name="Text 20"/>
          <p:cNvSpPr txBox="1"/>
          <p:nvPr/>
        </p:nvSpPr>
        <p:spPr>
          <a:xfrm>
            <a:off x="7406640" y="4160520"/>
            <a:ext cx="1920240" cy="411480"/>
          </a:xfrm>
          <a:prstGeom prst="rect">
            <a:avLst/>
          </a:prstGeom>
          <a:noFill/>
          <a:ln/>
        </p:spPr>
        <p:txBody>
          <a:bodyPr wrap="square" lIns="0" tIns="0" rIns="0" bIns="0" rtlCol="0" anchor="t"/>
          <a:lstStyle/>
          <a:p>
            <a:pPr algn="ctr" indent="0" marL="0">
              <a:buNone/>
            </a:pPr>
            <a:r>
              <a:rPr lang="en-US" sz="2400" b="1" dirty="0">
                <a:solidFill>
                  <a:srgbClr val="0E7C86"/>
                </a:solidFill>
                <a:latin typeface="Calibri" pitchFamily="34" charset="0"/>
                <a:ea typeface="Calibri" pitchFamily="34" charset="-122"/>
                <a:cs typeface="Calibri" pitchFamily="34" charset="-120"/>
              </a:rPr>
              <a:t>slide 18</a:t>
            </a:r>
            <a:endParaRPr lang="en-US" sz="2400" dirty="0"/>
          </a:p>
        </p:txBody>
      </p:sp>
      <p:sp>
        <p:nvSpPr>
          <p:cNvPr id="23" name="Shape 21"/>
          <p:cNvSpPr/>
          <p:nvPr/>
        </p:nvSpPr>
        <p:spPr>
          <a:xfrm>
            <a:off x="9372600" y="2377440"/>
            <a:ext cx="274320" cy="0"/>
          </a:xfrm>
          <a:prstGeom prst="line">
            <a:avLst/>
          </a:prstGeom>
          <a:noFill/>
          <a:ln w="31750">
            <a:solidFill>
              <a:srgbClr val="14212B"/>
            </a:solidFill>
            <a:prstDash val="solid"/>
            <a:tailEnd type="triangle"/>
          </a:ln>
        </p:spPr>
      </p:sp>
      <p:sp>
        <p:nvSpPr>
          <p:cNvPr id="24" name="Shape 22"/>
          <p:cNvSpPr/>
          <p:nvPr/>
        </p:nvSpPr>
        <p:spPr>
          <a:xfrm>
            <a:off x="9692640" y="1737360"/>
            <a:ext cx="1920240" cy="1280160"/>
          </a:xfrm>
          <a:prstGeom prst="roundRect">
            <a:avLst>
              <a:gd name="adj" fmla="val 8571"/>
            </a:avLst>
          </a:prstGeom>
          <a:solidFill>
            <a:srgbClr val="1B5E66"/>
          </a:solidFill>
          <a:ln/>
        </p:spPr>
      </p:sp>
      <p:sp>
        <p:nvSpPr>
          <p:cNvPr id="25" name="Text 23"/>
          <p:cNvSpPr txBox="1"/>
          <p:nvPr/>
        </p:nvSpPr>
        <p:spPr>
          <a:xfrm>
            <a:off x="9765792" y="1737360"/>
            <a:ext cx="1773936" cy="128016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Certify &amp; view</a:t>
            </a:r>
            <a:endParaRPr lang="en-US" sz="2400" dirty="0"/>
          </a:p>
        </p:txBody>
      </p:sp>
      <p:sp>
        <p:nvSpPr>
          <p:cNvPr id="26" name="Text 24"/>
          <p:cNvSpPr txBox="1"/>
          <p:nvPr/>
        </p:nvSpPr>
        <p:spPr>
          <a:xfrm>
            <a:off x="9692640" y="3200400"/>
            <a:ext cx="1920240" cy="914400"/>
          </a:xfrm>
          <a:prstGeom prst="rect">
            <a:avLst/>
          </a:prstGeom>
          <a:noFill/>
          <a:ln/>
        </p:spPr>
        <p:txBody>
          <a:bodyPr wrap="square" lIns="0" tIns="0" rIns="0" bIns="0" rtlCol="0" anchor="t"/>
          <a:lstStyle/>
          <a:p>
            <a:pPr algn="ctr" indent="0" marL="0">
              <a:buNone/>
            </a:pPr>
            <a:r>
              <a:rPr lang="en-US" sz="2400" dirty="0">
                <a:solidFill>
                  <a:srgbClr val="14212B"/>
                </a:solidFill>
                <a:latin typeface="Calibri" pitchFamily="34" charset="0"/>
                <a:ea typeface="Calibri" pitchFamily="34" charset="-122"/>
                <a:cs typeface="Calibri" pitchFamily="34" charset="-120"/>
              </a:rPr>
              <a:t>110 scenarios</a:t>
            </a:r>
            <a:endParaRPr lang="en-US" sz="2400" dirty="0"/>
          </a:p>
        </p:txBody>
      </p:sp>
      <p:sp>
        <p:nvSpPr>
          <p:cNvPr id="27" name="Text 25"/>
          <p:cNvSpPr txBox="1"/>
          <p:nvPr/>
        </p:nvSpPr>
        <p:spPr>
          <a:xfrm>
            <a:off x="9692640" y="4160520"/>
            <a:ext cx="1920240" cy="411480"/>
          </a:xfrm>
          <a:prstGeom prst="rect">
            <a:avLst/>
          </a:prstGeom>
          <a:noFill/>
          <a:ln/>
        </p:spPr>
        <p:txBody>
          <a:bodyPr wrap="square" lIns="0" tIns="0" rIns="0" bIns="0" rtlCol="0" anchor="t"/>
          <a:lstStyle/>
          <a:p>
            <a:pPr algn="ctr" indent="0" marL="0">
              <a:buNone/>
            </a:pPr>
            <a:r>
              <a:rPr lang="en-US" sz="2400" b="1" dirty="0">
                <a:solidFill>
                  <a:srgbClr val="0E7C86"/>
                </a:solidFill>
                <a:latin typeface="Calibri" pitchFamily="34" charset="0"/>
                <a:ea typeface="Calibri" pitchFamily="34" charset="-122"/>
                <a:cs typeface="Calibri" pitchFamily="34" charset="-120"/>
              </a:rPr>
              <a:t>slides 19–20</a:t>
            </a:r>
            <a:endParaRPr lang="en-US" sz="2400" dirty="0"/>
          </a:p>
        </p:txBody>
      </p:sp>
      <p:sp>
        <p:nvSpPr>
          <p:cNvPr id="28" name="Shape 26"/>
          <p:cNvSpPr/>
          <p:nvPr/>
        </p:nvSpPr>
        <p:spPr>
          <a:xfrm>
            <a:off x="548640" y="4846320"/>
            <a:ext cx="11064240" cy="1188720"/>
          </a:xfrm>
          <a:prstGeom prst="roundRect">
            <a:avLst>
              <a:gd name="adj" fmla="val 9231"/>
            </a:avLst>
          </a:prstGeom>
          <a:solidFill>
            <a:srgbClr val="FBF1E3"/>
          </a:solidFill>
          <a:ln/>
        </p:spPr>
      </p:sp>
      <p:sp>
        <p:nvSpPr>
          <p:cNvPr id="29" name="Text 27"/>
          <p:cNvSpPr txBox="1"/>
          <p:nvPr/>
        </p:nvSpPr>
        <p:spPr>
          <a:xfrm>
            <a:off x="822960" y="4846320"/>
            <a:ext cx="10607040" cy="1188720"/>
          </a:xfrm>
          <a:prstGeom prst="rect">
            <a:avLst/>
          </a:prstGeom>
          <a:noFill/>
          <a:ln/>
        </p:spPr>
        <p:txBody>
          <a:bodyPr wrap="square" lIns="0" tIns="0" rIns="0" bIns="0" rtlCol="0" anchor="ctr"/>
          <a:lstStyle/>
          <a:p>
            <a:pPr algn="l" indent="0" marL="0">
              <a:buNone/>
            </a:pPr>
            <a:r>
              <a:rPr lang="en-US" sz="2400" dirty="0">
                <a:solidFill>
                  <a:srgbClr val="14212B"/>
                </a:solidFill>
                <a:latin typeface="Calibri" pitchFamily="34" charset="0"/>
                <a:ea typeface="Calibri" pitchFamily="34" charset="-122"/>
                <a:cs typeface="Calibri" pitchFamily="34" charset="-120"/>
              </a:rPr>
              <a:t>Offline: every free bay is planned, driven in closed loop and certified; the viewer replays certified runs</a:t>
            </a:r>
            <a:endParaRPr lang="en-US" sz="2400" dirty="0"/>
          </a:p>
        </p:txBody>
      </p:sp>
      <p:sp>
        <p:nvSpPr>
          <p:cNvPr id="25" name="Slide Number Placeholder 0"/>
          <p:cNvSpPr>
            <a:spLocks noGrp="1"/>
          </p:cNvSpPr>
          <p:nvPr>
            <p:ph type="sldNum" sz="quarter" idx="4294967295"/>
          </p:nvPr>
        </p:nvSpPr>
        <p:spPr>
          <a:xfrm>
            <a:off x="10744200" y="6309360"/>
            <a:ext cx="91440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0E7C86"/>
                </a:solidFill>
                <a:latin typeface="Calibri"/>
                <a:ea typeface="Calibri"/>
                <a:cs typeface="Calibri"/>
              </a:defRPr>
            </a:lvl1pPr>
          </a:lstStyle>
          <a:p>
            <a:pPr algn="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777240"/>
          </a:xfrm>
          <a:prstGeom prst="rect">
            <a:avLst/>
          </a:prstGeom>
          <a:noFill/>
          <a:ln/>
        </p:spPr>
        <p:txBody>
          <a:bodyPr wrap="square" lIns="0" tIns="0" rIns="0" bIns="0" rtlCol="0" anchor="ctr"/>
          <a:lstStyle/>
          <a:p>
            <a:pPr indent="0" marL="0">
              <a:buNone/>
            </a:pPr>
            <a:r>
              <a:rPr lang="en-US" sz="3400" b="1" dirty="0">
                <a:solidFill>
                  <a:srgbClr val="14212B"/>
                </a:solidFill>
                <a:latin typeface="Cambria" pitchFamily="34" charset="0"/>
                <a:ea typeface="Cambria" pitchFamily="34" charset="-122"/>
                <a:cs typeface="Cambria" pitchFamily="34" charset="-120"/>
              </a:rPr>
              <a:t>Vehicle model: state, input and geometry</a:t>
            </a:r>
            <a:endParaRPr lang="en-US" sz="3400" dirty="0"/>
          </a:p>
        </p:txBody>
      </p:sp>
      <p:sp>
        <p:nvSpPr>
          <p:cNvPr id="3" name="Text 1"/>
          <p:cNvSpPr txBox="1"/>
          <p:nvPr/>
        </p:nvSpPr>
        <p:spPr>
          <a:xfrm>
            <a:off x="548640" y="6309360"/>
            <a:ext cx="8229600" cy="411480"/>
          </a:xfrm>
          <a:prstGeom prst="rect">
            <a:avLst/>
          </a:prstGeom>
          <a:noFill/>
          <a:ln/>
        </p:spPr>
        <p:txBody>
          <a:bodyPr wrap="square" lIns="0" tIns="0" rIns="0" bIns="0" rtlCol="0" anchor="ctr"/>
          <a:lstStyle/>
          <a:p>
            <a:pPr indent="0" marL="0">
              <a:buNone/>
            </a:pPr>
            <a:r>
              <a:rPr lang="en-US" sz="2400" dirty="0">
                <a:solidFill>
                  <a:srgbClr val="44546A"/>
                </a:solidFill>
                <a:latin typeface="Calibri" pitchFamily="34" charset="0"/>
                <a:ea typeface="Calibri" pitchFamily="34" charset="-122"/>
                <a:cs typeface="Calibri" pitchFamily="34" charset="-120"/>
              </a:rPr>
              <a:t>Methodology · model</a:t>
            </a:r>
            <a:endParaRPr lang="en-US" sz="2400" dirty="0"/>
          </a:p>
        </p:txBody>
      </p:sp>
      <p:pic>
        <p:nvPicPr>
          <p:cNvPr id="4" name="Image 0" descr="X equals x1, y1, theta0, psi transposed; U equals v, delta transposed">    </p:cNvPr>
          <p:cNvPicPr>
            <a:picLocks noChangeAspect="1"/>
          </p:cNvPicPr>
          <p:nvPr/>
        </p:nvPicPr>
        <p:blipFill>
          <a:blip r:embed="rId1"/>
          <a:stretch>
            <a:fillRect/>
          </a:stretch>
        </p:blipFill>
        <p:spPr>
          <a:xfrm>
            <a:off x="548640" y="1261872"/>
            <a:ext cx="6297168" cy="515112"/>
          </a:xfrm>
          <a:prstGeom prst="rect">
            <a:avLst/>
          </a:prstGeom>
        </p:spPr>
      </p:pic>
      <p:pic>
        <p:nvPicPr>
          <p:cNvPr id="5" name="Image 1" descr="psi equals theta0 minus theta1">    </p:cNvPr>
          <p:cNvPicPr>
            <a:picLocks noChangeAspect="1"/>
          </p:cNvPicPr>
          <p:nvPr/>
        </p:nvPicPr>
        <p:blipFill>
          <a:blip r:embed="rId2"/>
          <a:stretch>
            <a:fillRect/>
          </a:stretch>
        </p:blipFill>
        <p:spPr>
          <a:xfrm>
            <a:off x="7406640" y="1298448"/>
            <a:ext cx="1813560" cy="441960"/>
          </a:xfrm>
          <a:prstGeom prst="rect">
            <a:avLst/>
          </a:prstGeom>
        </p:spPr>
      </p:pic>
      <p:sp>
        <p:nvSpPr>
          <p:cNvPr id="6" name="Text 2"/>
          <p:cNvSpPr txBox="1"/>
          <p:nvPr/>
        </p:nvSpPr>
        <p:spPr>
          <a:xfrm>
            <a:off x="9326880" y="1325880"/>
            <a:ext cx="2286000" cy="411480"/>
          </a:xfrm>
          <a:prstGeom prst="rect">
            <a:avLst/>
          </a:prstGeom>
          <a:noFill/>
          <a:ln/>
        </p:spPr>
        <p:txBody>
          <a:bodyPr wrap="square" lIns="0" tIns="0" rIns="0" bIns="0" rtlCol="0" anchor="t"/>
          <a:lstStyle/>
          <a:p>
            <a:pPr algn="l" indent="0" marL="0">
              <a:buNone/>
            </a:pPr>
            <a:r>
              <a:rPr lang="en-US" sz="2400" dirty="0">
                <a:solidFill>
                  <a:srgbClr val="44546A"/>
                </a:solidFill>
                <a:latin typeface="Calibri" pitchFamily="34" charset="0"/>
                <a:ea typeface="Calibri" pitchFamily="34" charset="-122"/>
                <a:cs typeface="Calibri" pitchFamily="34" charset="-120"/>
              </a:rPr>
              <a:t>(hitch angle)</a:t>
            </a:r>
            <a:endParaRPr lang="en-US" sz="2400" dirty="0"/>
          </a:p>
        </p:txBody>
      </p:sp>
      <p:pic>
        <p:nvPicPr>
          <p:cNvPr id="7" name="Image 2" descr="Tractor-trailer geometry with rear axle, hitch, trailer axle, L1, L2, theta0, psi and delta">    </p:cNvPr>
          <p:cNvPicPr>
            <a:picLocks noChangeAspect="1"/>
          </p:cNvPicPr>
          <p:nvPr/>
        </p:nvPicPr>
        <p:blipFill>
          <a:blip r:embed="rId3"/>
          <a:stretch>
            <a:fillRect/>
          </a:stretch>
        </p:blipFill>
        <p:spPr>
          <a:xfrm>
            <a:off x="457200" y="2057400"/>
            <a:ext cx="5760720" cy="3291840"/>
          </a:xfrm>
          <a:prstGeom prst="rect">
            <a:avLst/>
          </a:prstGeom>
        </p:spPr>
      </p:pic>
      <p:sp>
        <p:nvSpPr>
          <p:cNvPr id="8" name="Text 3"/>
          <p:cNvSpPr txBox="1"/>
          <p:nvPr/>
        </p:nvSpPr>
        <p:spPr>
          <a:xfrm>
            <a:off x="548640" y="5486400"/>
            <a:ext cx="5852160" cy="411480"/>
          </a:xfrm>
          <a:prstGeom prst="rect">
            <a:avLst/>
          </a:prstGeom>
          <a:noFill/>
          <a:ln/>
        </p:spPr>
        <p:txBody>
          <a:bodyPr wrap="square" lIns="0" tIns="0" rIns="0" bIns="0" rtlCol="0" anchor="t"/>
          <a:lstStyle/>
          <a:p>
            <a:pPr algn="l" indent="0" marL="0">
              <a:buNone/>
            </a:pPr>
            <a:r>
              <a:rPr lang="en-US" sz="2400" dirty="0">
                <a:solidFill>
                  <a:srgbClr val="44546A"/>
                </a:solidFill>
                <a:latin typeface="Calibri" pitchFamily="34" charset="0"/>
                <a:ea typeface="Calibri" pitchFamily="34" charset="-122"/>
                <a:cs typeface="Calibri" pitchFamily="34" charset="-120"/>
              </a:rPr>
              <a:t>Car-like tractor + one trailer, hitch offset d [2]</a:t>
            </a:r>
            <a:endParaRPr lang="en-US" sz="2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75120" y="2148840"/>
          <a:ext cx="4937760" cy="914400"/>
        </p:xfrm>
        <a:graphic>
          <a:graphicData uri="http://schemas.openxmlformats.org/drawingml/2006/table">
            <a:tbl>
              <a:tblPr/>
              <a:tblGrid>
                <a:gridCol w="3520440"/>
                <a:gridCol w="1417320"/>
              </a:tblGrid>
              <a:tr h="457200">
                <a:tc>
                  <a:txBody>
                    <a:bodyPr/>
                    <a:lstStyle/>
                    <a:p>
                      <a:pPr indent="0" marL="0">
                        <a:buNone/>
                      </a:pPr>
                      <a:r>
                        <a:rPr lang="en-US" sz="2400" b="1" dirty="0">
                          <a:solidFill>
                            <a:srgbClr val="FFFFFF"/>
                          </a:solidFill>
                          <a:latin typeface="Calibri" pitchFamily="34" charset="0"/>
                          <a:ea typeface="Calibri" pitchFamily="34" charset="-122"/>
                          <a:cs typeface="Calibri" pitchFamily="34" charset="-120"/>
                        </a:rPr>
                        <a:t>Parameter</a:t>
                      </a:r>
                      <a:endParaRPr lang="en-US" sz="2400" dirty="0">
                        <a:latin typeface="Calibri" charset="0"/>
                        <a:ea typeface="Calibri" charset="0"/>
                        <a:cs typeface="Calibri" charset="0"/>
                      </a:endParaRPr>
                    </a:p>
                  </a:txBody>
                  <a:tcPr marL="54864" marR="54864" marT="54864" marB="54864">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solidFill>
                      <a:srgbClr val="0E7C86"/>
                    </a:solidFill>
                  </a:tcPr>
                </a:tc>
                <a:tc>
                  <a:txBody>
                    <a:bodyPr/>
                    <a:lstStyle/>
                    <a:p>
                      <a:pPr algn="r" indent="0" marL="0">
                        <a:buNone/>
                      </a:pPr>
                      <a:r>
                        <a:rPr lang="en-US" sz="2400" b="1" dirty="0">
                          <a:solidFill>
                            <a:srgbClr val="FFFFFF"/>
                          </a:solidFill>
                          <a:latin typeface="Calibri" pitchFamily="34" charset="0"/>
                          <a:ea typeface="Calibri" pitchFamily="34" charset="-122"/>
                          <a:cs typeface="Calibri" pitchFamily="34" charset="-120"/>
                        </a:rPr>
                        <a:t>Value</a:t>
                      </a:r>
                      <a:endParaRPr lang="en-US" sz="2400" dirty="0">
                        <a:latin typeface="Calibri" charset="0"/>
                        <a:ea typeface="Calibri" charset="0"/>
                        <a:cs typeface="Calibri" charset="0"/>
                      </a:endParaRPr>
                    </a:p>
                  </a:txBody>
                  <a:tcPr marL="54864" marR="54864" marT="54864" marB="54864">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solidFill>
                      <a:srgbClr val="0E7C86"/>
                    </a:solidFill>
                  </a:tcPr>
                </a:tc>
              </a:tr>
              <a:tr h="457200">
                <a:tc>
                  <a:txBody>
                    <a:bodyPr/>
                    <a:lstStyle/>
                    <a:p>
                      <a:pPr indent="0" marL="0">
                        <a:buNone/>
                      </a:pPr>
                      <a:r>
                        <a:rPr lang="en-US" sz="2400" dirty="0">
                          <a:solidFill>
                            <a:srgbClr val="14212B"/>
                          </a:solidFill>
                          <a:latin typeface="Calibri" pitchFamily="34" charset="0"/>
                          <a:ea typeface="Calibri" pitchFamily="34" charset="-122"/>
                          <a:cs typeface="Calibri" pitchFamily="34" charset="-120"/>
                        </a:rPr>
                        <a:t>L₁ tractor wheelbase</a:t>
                      </a:r>
                      <a:endParaRPr lang="en-US" sz="2400" dirty="0">
                        <a:latin typeface="Calibri" charset="0"/>
                        <a:ea typeface="Calibri" charset="0"/>
                        <a:cs typeface="Calibri" charset="0"/>
                      </a:endParaRPr>
                    </a:p>
                  </a:txBody>
                  <a:tcPr marL="54864" marR="54864" marT="54864" marB="54864">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tcPr>
                </a:tc>
                <a:tc>
                  <a:txBody>
                    <a:bodyPr/>
                    <a:lstStyle/>
                    <a:p>
                      <a:pPr algn="r" indent="0" marL="0">
                        <a:buNone/>
                      </a:pPr>
                      <a:r>
                        <a:rPr lang="en-US" sz="2400" b="1" dirty="0">
                          <a:solidFill>
                            <a:srgbClr val="14212B"/>
                          </a:solidFill>
                          <a:latin typeface="Calibri" pitchFamily="34" charset="0"/>
                          <a:ea typeface="Calibri" pitchFamily="34" charset="-122"/>
                          <a:cs typeface="Calibri" pitchFamily="34" charset="-120"/>
                        </a:rPr>
                        <a:t>4.0 m</a:t>
                      </a:r>
                      <a:endParaRPr lang="en-US" sz="2400" dirty="0">
                        <a:latin typeface="Calibri" charset="0"/>
                        <a:ea typeface="Calibri" charset="0"/>
                        <a:cs typeface="Calibri" charset="0"/>
                      </a:endParaRPr>
                    </a:p>
                  </a:txBody>
                  <a:tcPr marL="54864" marR="54864" marT="54864" marB="54864">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tcPr>
                </a:tc>
              </a:tr>
              <a:tr h="457200">
                <a:tc>
                  <a:txBody>
                    <a:bodyPr/>
                    <a:lstStyle/>
                    <a:p>
                      <a:pPr indent="0" marL="0">
                        <a:buNone/>
                      </a:pPr>
                      <a:r>
                        <a:rPr lang="en-US" sz="2400" dirty="0">
                          <a:solidFill>
                            <a:srgbClr val="14212B"/>
                          </a:solidFill>
                          <a:latin typeface="Calibri" pitchFamily="34" charset="0"/>
                          <a:ea typeface="Calibri" pitchFamily="34" charset="-122"/>
                          <a:cs typeface="Calibri" pitchFamily="34" charset="-120"/>
                        </a:rPr>
                        <a:t>L₂ hitch → trailer axle</a:t>
                      </a:r>
                      <a:endParaRPr lang="en-US" sz="2400" dirty="0">
                        <a:latin typeface="Calibri" charset="0"/>
                        <a:ea typeface="Calibri" charset="0"/>
                        <a:cs typeface="Calibri" charset="0"/>
                      </a:endParaRPr>
                    </a:p>
                  </a:txBody>
                  <a:tcPr marL="54864" marR="54864" marT="54864" marB="54864">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tcPr>
                </a:tc>
                <a:tc>
                  <a:txBody>
                    <a:bodyPr/>
                    <a:lstStyle/>
                    <a:p>
                      <a:pPr algn="r" indent="0" marL="0">
                        <a:buNone/>
                      </a:pPr>
                      <a:r>
                        <a:rPr lang="en-US" sz="2400" b="1" dirty="0">
                          <a:solidFill>
                            <a:srgbClr val="14212B"/>
                          </a:solidFill>
                          <a:latin typeface="Calibri" pitchFamily="34" charset="0"/>
                          <a:ea typeface="Calibri" pitchFamily="34" charset="-122"/>
                          <a:cs typeface="Calibri" pitchFamily="34" charset="-120"/>
                        </a:rPr>
                        <a:t>8.0 m</a:t>
                      </a:r>
                      <a:endParaRPr lang="en-US" sz="2400" dirty="0">
                        <a:latin typeface="Calibri" charset="0"/>
                        <a:ea typeface="Calibri" charset="0"/>
                        <a:cs typeface="Calibri" charset="0"/>
                      </a:endParaRPr>
                    </a:p>
                  </a:txBody>
                  <a:tcPr marL="54864" marR="54864" marT="54864" marB="54864">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tcPr>
                </a:tc>
              </a:tr>
              <a:tr h="457200">
                <a:tc>
                  <a:txBody>
                    <a:bodyPr/>
                    <a:lstStyle/>
                    <a:p>
                      <a:pPr indent="0" marL="0">
                        <a:buNone/>
                      </a:pPr>
                      <a:r>
                        <a:rPr lang="en-US" sz="2400" dirty="0">
                          <a:solidFill>
                            <a:srgbClr val="14212B"/>
                          </a:solidFill>
                          <a:latin typeface="Calibri" pitchFamily="34" charset="0"/>
                          <a:ea typeface="Calibri" pitchFamily="34" charset="-122"/>
                          <a:cs typeface="Calibri" pitchFamily="34" charset="-120"/>
                        </a:rPr>
                        <a:t>d hitch ahead of axle</a:t>
                      </a:r>
                      <a:endParaRPr lang="en-US" sz="2400" dirty="0">
                        <a:latin typeface="Calibri" charset="0"/>
                        <a:ea typeface="Calibri" charset="0"/>
                        <a:cs typeface="Calibri" charset="0"/>
                      </a:endParaRPr>
                    </a:p>
                  </a:txBody>
                  <a:tcPr marL="54864" marR="54864" marT="54864" marB="54864">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tcPr>
                </a:tc>
                <a:tc>
                  <a:txBody>
                    <a:bodyPr/>
                    <a:lstStyle/>
                    <a:p>
                      <a:pPr algn="r" indent="0" marL="0">
                        <a:buNone/>
                      </a:pPr>
                      <a:r>
                        <a:rPr lang="en-US" sz="2400" b="1" dirty="0">
                          <a:solidFill>
                            <a:srgbClr val="14212B"/>
                          </a:solidFill>
                          <a:latin typeface="Calibri" pitchFamily="34" charset="0"/>
                          <a:ea typeface="Calibri" pitchFamily="34" charset="-122"/>
                          <a:cs typeface="Calibri" pitchFamily="34" charset="-120"/>
                        </a:rPr>
                        <a:t>0.5 m</a:t>
                      </a:r>
                      <a:endParaRPr lang="en-US" sz="2400" dirty="0">
                        <a:latin typeface="Calibri" charset="0"/>
                        <a:ea typeface="Calibri" charset="0"/>
                        <a:cs typeface="Calibri" charset="0"/>
                      </a:endParaRPr>
                    </a:p>
                  </a:txBody>
                  <a:tcPr marL="54864" marR="54864" marT="54864" marB="54864">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tcPr>
                </a:tc>
              </a:tr>
              <a:tr h="457200">
                <a:tc>
                  <a:txBody>
                    <a:bodyPr/>
                    <a:lstStyle/>
                    <a:p>
                      <a:pPr indent="0" marL="0">
                        <a:buNone/>
                      </a:pPr>
                      <a:r>
                        <a:rPr lang="en-US" sz="2400" dirty="0">
                          <a:solidFill>
                            <a:srgbClr val="14212B"/>
                          </a:solidFill>
                          <a:latin typeface="Calibri" pitchFamily="34" charset="0"/>
                          <a:ea typeface="Calibri" pitchFamily="34" charset="-122"/>
                          <a:cs typeface="Calibri" pitchFamily="34" charset="-120"/>
                        </a:rPr>
                        <a:t>δmax steering lock</a:t>
                      </a:r>
                      <a:endParaRPr lang="en-US" sz="2400" dirty="0">
                        <a:latin typeface="Calibri" charset="0"/>
                        <a:ea typeface="Calibri" charset="0"/>
                        <a:cs typeface="Calibri" charset="0"/>
                      </a:endParaRPr>
                    </a:p>
                  </a:txBody>
                  <a:tcPr marL="54864" marR="54864" marT="54864" marB="54864">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tcPr>
                </a:tc>
                <a:tc>
                  <a:txBody>
                    <a:bodyPr/>
                    <a:lstStyle/>
                    <a:p>
                      <a:pPr algn="r" indent="0" marL="0">
                        <a:buNone/>
                      </a:pPr>
                      <a:r>
                        <a:rPr lang="en-US" sz="2400" b="1" dirty="0">
                          <a:solidFill>
                            <a:srgbClr val="14212B"/>
                          </a:solidFill>
                          <a:latin typeface="Calibri" pitchFamily="34" charset="0"/>
                          <a:ea typeface="Calibri" pitchFamily="34" charset="-122"/>
                          <a:cs typeface="Calibri" pitchFamily="34" charset="-120"/>
                        </a:rPr>
                        <a:t>35°</a:t>
                      </a:r>
                      <a:endParaRPr lang="en-US" sz="2400" dirty="0">
                        <a:latin typeface="Calibri" charset="0"/>
                        <a:ea typeface="Calibri" charset="0"/>
                        <a:cs typeface="Calibri" charset="0"/>
                      </a:endParaRPr>
                    </a:p>
                  </a:txBody>
                  <a:tcPr marL="54864" marR="54864" marT="54864" marB="54864">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tcPr>
                </a:tc>
              </a:tr>
              <a:tr h="457200">
                <a:tc>
                  <a:txBody>
                    <a:bodyPr/>
                    <a:lstStyle/>
                    <a:p>
                      <a:pPr indent="0" marL="0">
                        <a:buNone/>
                      </a:pPr>
                      <a:r>
                        <a:rPr lang="en-US" sz="2400" dirty="0">
                          <a:solidFill>
                            <a:srgbClr val="14212B"/>
                          </a:solidFill>
                          <a:latin typeface="Calibri" pitchFamily="34" charset="0"/>
                          <a:ea typeface="Calibri" pitchFamily="34" charset="-122"/>
                          <a:cs typeface="Calibri" pitchFamily="34" charset="-120"/>
                        </a:rPr>
                        <a:t>ψcrit hard hitch limit</a:t>
                      </a:r>
                      <a:endParaRPr lang="en-US" sz="2400" dirty="0">
                        <a:latin typeface="Calibri" charset="0"/>
                        <a:ea typeface="Calibri" charset="0"/>
                        <a:cs typeface="Calibri" charset="0"/>
                      </a:endParaRPr>
                    </a:p>
                  </a:txBody>
                  <a:tcPr marL="54864" marR="54864" marT="54864" marB="54864">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tcPr>
                </a:tc>
                <a:tc>
                  <a:txBody>
                    <a:bodyPr/>
                    <a:lstStyle/>
                    <a:p>
                      <a:pPr algn="r" indent="0" marL="0">
                        <a:buNone/>
                      </a:pPr>
                      <a:r>
                        <a:rPr lang="en-US" sz="2400" b="1" dirty="0">
                          <a:solidFill>
                            <a:srgbClr val="14212B"/>
                          </a:solidFill>
                          <a:latin typeface="Calibri" pitchFamily="34" charset="0"/>
                          <a:ea typeface="Calibri" pitchFamily="34" charset="-122"/>
                          <a:cs typeface="Calibri" pitchFamily="34" charset="-120"/>
                        </a:rPr>
                        <a:t>60°</a:t>
                      </a:r>
                      <a:endParaRPr lang="en-US" sz="2400" dirty="0">
                        <a:latin typeface="Calibri" charset="0"/>
                        <a:ea typeface="Calibri" charset="0"/>
                        <a:cs typeface="Calibri" charset="0"/>
                      </a:endParaRPr>
                    </a:p>
                  </a:txBody>
                  <a:tcPr marL="54864" marR="54864" marT="54864" marB="54864">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tcPr>
                </a:tc>
              </a:tr>
              <a:tr h="457200">
                <a:tc>
                  <a:txBody>
                    <a:bodyPr/>
                    <a:lstStyle/>
                    <a:p>
                      <a:pPr indent="0" marL="0">
                        <a:buNone/>
                      </a:pPr>
                      <a:r>
                        <a:rPr lang="en-US" sz="2400" dirty="0">
                          <a:solidFill>
                            <a:srgbClr val="14212B"/>
                          </a:solidFill>
                          <a:latin typeface="Calibri" pitchFamily="34" charset="0"/>
                          <a:ea typeface="Calibri" pitchFamily="34" charset="-122"/>
                          <a:cs typeface="Calibri" pitchFamily="34" charset="-120"/>
                        </a:rPr>
                        <a:t>v yard speed</a:t>
                      </a:r>
                      <a:endParaRPr lang="en-US" sz="2400" dirty="0">
                        <a:latin typeface="Calibri" charset="0"/>
                        <a:ea typeface="Calibri" charset="0"/>
                        <a:cs typeface="Calibri" charset="0"/>
                      </a:endParaRPr>
                    </a:p>
                  </a:txBody>
                  <a:tcPr marL="54864" marR="54864" marT="54864" marB="54864">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tcPr>
                </a:tc>
                <a:tc>
                  <a:txBody>
                    <a:bodyPr/>
                    <a:lstStyle/>
                    <a:p>
                      <a:pPr algn="r" indent="0" marL="0">
                        <a:buNone/>
                      </a:pPr>
                      <a:r>
                        <a:rPr lang="en-US" sz="2400" b="1" dirty="0">
                          <a:solidFill>
                            <a:srgbClr val="14212B"/>
                          </a:solidFill>
                          <a:latin typeface="Calibri" pitchFamily="34" charset="0"/>
                          <a:ea typeface="Calibri" pitchFamily="34" charset="-122"/>
                          <a:cs typeface="Calibri" pitchFamily="34" charset="-120"/>
                        </a:rPr>
                        <a:t>≤ 2 m/s</a:t>
                      </a:r>
                      <a:endParaRPr lang="en-US" sz="2400" dirty="0">
                        <a:latin typeface="Calibri" charset="0"/>
                        <a:ea typeface="Calibri" charset="0"/>
                        <a:cs typeface="Calibri" charset="0"/>
                      </a:endParaRPr>
                    </a:p>
                  </a:txBody>
                  <a:tcPr marL="54864" marR="54864" marT="54864" marB="54864">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744200" y="6309360"/>
            <a:ext cx="91440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0E7C86"/>
                </a:solidFill>
                <a:latin typeface="Calibri"/>
                <a:ea typeface="Calibri"/>
                <a:cs typeface="Calibri"/>
              </a:defRPr>
            </a:lvl1pPr>
          </a:lstStyle>
          <a:p>
            <a:pPr algn="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777240"/>
          </a:xfrm>
          <a:prstGeom prst="rect">
            <a:avLst/>
          </a:prstGeom>
          <a:noFill/>
          <a:ln/>
        </p:spPr>
        <p:txBody>
          <a:bodyPr wrap="square" lIns="0" tIns="0" rIns="0" bIns="0" rtlCol="0" anchor="ctr"/>
          <a:lstStyle/>
          <a:p>
            <a:pPr indent="0" marL="0">
              <a:buNone/>
            </a:pPr>
            <a:r>
              <a:rPr lang="en-US" sz="3400" b="1" dirty="0">
                <a:solidFill>
                  <a:srgbClr val="14212B"/>
                </a:solidFill>
                <a:latin typeface="Cambria" pitchFamily="34" charset="0"/>
                <a:ea typeface="Cambria" pitchFamily="34" charset="-122"/>
                <a:cs typeface="Cambria" pitchFamily="34" charset="-120"/>
              </a:rPr>
              <a:t>Kinematic model (no-slip, low speed)</a:t>
            </a:r>
            <a:endParaRPr lang="en-US" sz="3400" dirty="0"/>
          </a:p>
        </p:txBody>
      </p:sp>
      <p:sp>
        <p:nvSpPr>
          <p:cNvPr id="3" name="Text 1"/>
          <p:cNvSpPr txBox="1"/>
          <p:nvPr/>
        </p:nvSpPr>
        <p:spPr>
          <a:xfrm>
            <a:off x="548640" y="6309360"/>
            <a:ext cx="8229600" cy="411480"/>
          </a:xfrm>
          <a:prstGeom prst="rect">
            <a:avLst/>
          </a:prstGeom>
          <a:noFill/>
          <a:ln/>
        </p:spPr>
        <p:txBody>
          <a:bodyPr wrap="square" lIns="0" tIns="0" rIns="0" bIns="0" rtlCol="0" anchor="ctr"/>
          <a:lstStyle/>
          <a:p>
            <a:pPr indent="0" marL="0">
              <a:buNone/>
            </a:pPr>
            <a:r>
              <a:rPr lang="en-US" sz="2400" dirty="0">
                <a:solidFill>
                  <a:srgbClr val="44546A"/>
                </a:solidFill>
                <a:latin typeface="Calibri" pitchFamily="34" charset="0"/>
                <a:ea typeface="Calibri" pitchFamily="34" charset="-122"/>
                <a:cs typeface="Calibri" pitchFamily="34" charset="-120"/>
              </a:rPr>
              <a:t>Methodology · model</a:t>
            </a:r>
            <a:endParaRPr lang="en-US" sz="2400" dirty="0"/>
          </a:p>
        </p:txBody>
      </p:sp>
      <p:pic>
        <p:nvPicPr>
          <p:cNvPr id="4" name="Image 0" descr="equation">    </p:cNvPr>
          <p:cNvPicPr>
            <a:picLocks noChangeAspect="1"/>
          </p:cNvPicPr>
          <p:nvPr/>
        </p:nvPicPr>
        <p:blipFill>
          <a:blip r:embed="rId1"/>
          <a:stretch>
            <a:fillRect/>
          </a:stretch>
        </p:blipFill>
        <p:spPr>
          <a:xfrm>
            <a:off x="731520" y="1325880"/>
            <a:ext cx="2075688" cy="469392"/>
          </a:xfrm>
          <a:prstGeom prst="rect">
            <a:avLst/>
          </a:prstGeom>
        </p:spPr>
      </p:pic>
      <p:pic>
        <p:nvPicPr>
          <p:cNvPr id="5" name="Image 1" descr="equation">    </p:cNvPr>
          <p:cNvPicPr>
            <a:picLocks noChangeAspect="1"/>
          </p:cNvPicPr>
          <p:nvPr/>
        </p:nvPicPr>
        <p:blipFill>
          <a:blip r:embed="rId2"/>
          <a:stretch>
            <a:fillRect/>
          </a:stretch>
        </p:blipFill>
        <p:spPr>
          <a:xfrm>
            <a:off x="3657600" y="1325880"/>
            <a:ext cx="1996440" cy="469392"/>
          </a:xfrm>
          <a:prstGeom prst="rect">
            <a:avLst/>
          </a:prstGeom>
        </p:spPr>
      </p:pic>
      <p:pic>
        <p:nvPicPr>
          <p:cNvPr id="6" name="Image 2" descr="equation">    </p:cNvPr>
          <p:cNvPicPr>
            <a:picLocks noChangeAspect="1"/>
          </p:cNvPicPr>
          <p:nvPr/>
        </p:nvPicPr>
        <p:blipFill>
          <a:blip r:embed="rId3"/>
          <a:stretch>
            <a:fillRect/>
          </a:stretch>
        </p:blipFill>
        <p:spPr>
          <a:xfrm>
            <a:off x="6583680" y="1216152"/>
            <a:ext cx="2106168" cy="685800"/>
          </a:xfrm>
          <a:prstGeom prst="rect">
            <a:avLst/>
          </a:prstGeom>
        </p:spPr>
      </p:pic>
      <p:pic>
        <p:nvPicPr>
          <p:cNvPr id="7" name="Image 3" descr="psi dot equals v tan delta over L1 minus v sin psi over L2 minus v d tan delta cos psi over L1 L2">    </p:cNvPr>
          <p:cNvPicPr>
            <a:picLocks noChangeAspect="1"/>
          </p:cNvPicPr>
          <p:nvPr/>
        </p:nvPicPr>
        <p:blipFill>
          <a:blip r:embed="rId4"/>
          <a:stretch>
            <a:fillRect/>
          </a:stretch>
        </p:blipFill>
        <p:spPr>
          <a:xfrm>
            <a:off x="731520" y="2148840"/>
            <a:ext cx="5650992" cy="762000"/>
          </a:xfrm>
          <a:prstGeom prst="rect">
            <a:avLst/>
          </a:prstGeom>
        </p:spPr>
      </p:pic>
      <p:sp>
        <p:nvSpPr>
          <p:cNvPr id="8" name="Shape 2"/>
          <p:cNvSpPr/>
          <p:nvPr/>
        </p:nvSpPr>
        <p:spPr>
          <a:xfrm>
            <a:off x="1522659" y="2956560"/>
            <a:ext cx="847649" cy="54864"/>
          </a:xfrm>
          <a:prstGeom prst="rect">
            <a:avLst/>
          </a:prstGeom>
          <a:solidFill>
            <a:srgbClr val="0E7C86"/>
          </a:solidFill>
          <a:ln/>
        </p:spPr>
      </p:sp>
      <p:sp>
        <p:nvSpPr>
          <p:cNvPr id="9" name="Text 3"/>
          <p:cNvSpPr txBox="1"/>
          <p:nvPr/>
        </p:nvSpPr>
        <p:spPr>
          <a:xfrm>
            <a:off x="1156899" y="3038856"/>
            <a:ext cx="1579169" cy="411480"/>
          </a:xfrm>
          <a:prstGeom prst="rect">
            <a:avLst/>
          </a:prstGeom>
          <a:noFill/>
          <a:ln/>
        </p:spPr>
        <p:txBody>
          <a:bodyPr wrap="square" lIns="0" tIns="0" rIns="0" bIns="0" rtlCol="0" anchor="t"/>
          <a:lstStyle/>
          <a:p>
            <a:pPr algn="ctr" indent="0" marL="0">
              <a:buNone/>
            </a:pPr>
            <a:r>
              <a:rPr lang="en-US" sz="2400" b="1" dirty="0">
                <a:solidFill>
                  <a:srgbClr val="0E7C86"/>
                </a:solidFill>
                <a:latin typeface="Calibri" pitchFamily="34" charset="0"/>
                <a:ea typeface="Calibri" pitchFamily="34" charset="-122"/>
                <a:cs typeface="Calibri" pitchFamily="34" charset="-120"/>
              </a:rPr>
              <a:t>steering</a:t>
            </a:r>
            <a:endParaRPr lang="en-US" sz="2400" dirty="0"/>
          </a:p>
        </p:txBody>
      </p:sp>
      <p:sp>
        <p:nvSpPr>
          <p:cNvPr id="10" name="Shape 4"/>
          <p:cNvSpPr/>
          <p:nvPr/>
        </p:nvSpPr>
        <p:spPr>
          <a:xfrm>
            <a:off x="3048427" y="2956560"/>
            <a:ext cx="904159" cy="54864"/>
          </a:xfrm>
          <a:prstGeom prst="rect">
            <a:avLst/>
          </a:prstGeom>
          <a:solidFill>
            <a:srgbClr val="B83227"/>
          </a:solidFill>
          <a:ln/>
        </p:spPr>
      </p:sp>
      <p:sp>
        <p:nvSpPr>
          <p:cNvPr id="11" name="Text 5"/>
          <p:cNvSpPr txBox="1"/>
          <p:nvPr/>
        </p:nvSpPr>
        <p:spPr>
          <a:xfrm>
            <a:off x="2682667" y="3038856"/>
            <a:ext cx="1635679" cy="411480"/>
          </a:xfrm>
          <a:prstGeom prst="rect">
            <a:avLst/>
          </a:prstGeom>
          <a:noFill/>
          <a:ln/>
        </p:spPr>
        <p:txBody>
          <a:bodyPr wrap="square" lIns="0" tIns="0" rIns="0" bIns="0" rtlCol="0" anchor="t"/>
          <a:lstStyle/>
          <a:p>
            <a:pPr algn="ctr" indent="0" marL="0">
              <a:buNone/>
            </a:pPr>
            <a:r>
              <a:rPr lang="en-US" sz="2400" b="1" dirty="0">
                <a:solidFill>
                  <a:srgbClr val="B83227"/>
                </a:solidFill>
                <a:latin typeface="Calibri" pitchFamily="34" charset="0"/>
                <a:ea typeface="Calibri" pitchFamily="34" charset="-122"/>
                <a:cs typeface="Calibri" pitchFamily="34" charset="-120"/>
              </a:rPr>
              <a:t>hitch</a:t>
            </a:r>
            <a:endParaRPr lang="en-US" sz="2400" dirty="0"/>
          </a:p>
        </p:txBody>
      </p:sp>
      <p:sp>
        <p:nvSpPr>
          <p:cNvPr id="12" name="Shape 6"/>
          <p:cNvSpPr/>
          <p:nvPr/>
        </p:nvSpPr>
        <p:spPr>
          <a:xfrm>
            <a:off x="4574195" y="2956560"/>
            <a:ext cx="1808317" cy="54864"/>
          </a:xfrm>
          <a:prstGeom prst="rect">
            <a:avLst/>
          </a:prstGeom>
          <a:solidFill>
            <a:srgbClr val="44546A"/>
          </a:solidFill>
          <a:ln/>
        </p:spPr>
      </p:sp>
      <p:sp>
        <p:nvSpPr>
          <p:cNvPr id="13" name="Text 7"/>
          <p:cNvSpPr txBox="1"/>
          <p:nvPr/>
        </p:nvSpPr>
        <p:spPr>
          <a:xfrm>
            <a:off x="4208435" y="3038856"/>
            <a:ext cx="2539837" cy="411480"/>
          </a:xfrm>
          <a:prstGeom prst="rect">
            <a:avLst/>
          </a:prstGeom>
          <a:noFill/>
          <a:ln/>
        </p:spPr>
        <p:txBody>
          <a:bodyPr wrap="square" lIns="0" tIns="0" rIns="0" bIns="0" rtlCol="0" anchor="t"/>
          <a:lstStyle/>
          <a:p>
            <a:pPr algn="ctr" indent="0" marL="0">
              <a:buNone/>
            </a:pPr>
            <a:r>
              <a:rPr lang="en-US" sz="2400" b="1" dirty="0">
                <a:solidFill>
                  <a:srgbClr val="44546A"/>
                </a:solidFill>
                <a:latin typeface="Calibri" pitchFamily="34" charset="0"/>
                <a:ea typeface="Calibri" pitchFamily="34" charset="-122"/>
                <a:cs typeface="Calibri" pitchFamily="34" charset="-120"/>
              </a:rPr>
              <a:t>offset</a:t>
            </a:r>
            <a:endParaRPr lang="en-US" sz="2400" dirty="0"/>
          </a:p>
        </p:txBody>
      </p:sp>
      <p:sp>
        <p:nvSpPr>
          <p:cNvPr id="14" name="Text 8"/>
          <p:cNvSpPr txBox="1"/>
          <p:nvPr/>
        </p:nvSpPr>
        <p:spPr>
          <a:xfrm>
            <a:off x="548640" y="3611880"/>
            <a:ext cx="11064240" cy="2560320"/>
          </a:xfrm>
          <a:prstGeom prst="rect">
            <a:avLst/>
          </a:prstGeom>
          <a:noFill/>
          <a:ln/>
        </p:spPr>
        <p:txBody>
          <a:bodyPr wrap="square" lIns="0" tIns="0" rIns="0" bIns="0" rtlCol="0" anchor="t"/>
          <a:lstStyle/>
          <a:p>
            <a:pPr marL="342900" indent="-342900">
              <a:spcAft>
                <a:spcPts val="1000"/>
              </a:spcAft>
              <a:buSzPct val="100000"/>
              <a:buChar char="•"/>
            </a:pPr>
            <a:r>
              <a:rPr lang="en-US" sz="2400" b="1" dirty="0">
                <a:solidFill>
                  <a:srgbClr val="0E7C86"/>
                </a:solidFill>
                <a:latin typeface="Calibri" pitchFamily="34" charset="0"/>
                <a:ea typeface="Calibri" pitchFamily="34" charset="-122"/>
                <a:cs typeface="Calibri" pitchFamily="34" charset="-120"/>
              </a:rPr>
              <a:t>Steering term: </a:t>
            </a:r>
            <a:pPr indent="0" marL="0">
              <a:buNone/>
            </a:pPr>
            <a:r>
              <a:rPr lang="en-US" sz="2400" dirty="0">
                <a:solidFill>
                  <a:srgbClr val="14212B"/>
                </a:solidFill>
                <a:latin typeface="Calibri" pitchFamily="34" charset="0"/>
                <a:ea typeface="Calibri" pitchFamily="34" charset="-122"/>
                <a:cs typeface="Calibri" pitchFamily="34" charset="-120"/>
              </a:rPr>
              <a:t>the driver’s only lever on ψ</a:t>
            </a:r>
            <a:endParaRPr lang="en-US" sz="2400" dirty="0"/>
          </a:p>
          <a:p>
            <a:pPr marL="342900" indent="-342900">
              <a:spcAft>
                <a:spcPts val="1000"/>
              </a:spcAft>
              <a:buSzPct val="100000"/>
              <a:buChar char="•"/>
            </a:pPr>
            <a:r>
              <a:rPr lang="en-US" sz="2400" b="1" dirty="0">
                <a:solidFill>
                  <a:srgbClr val="B83227"/>
                </a:solidFill>
                <a:latin typeface="Calibri" pitchFamily="34" charset="0"/>
                <a:ea typeface="Calibri" pitchFamily="34" charset="-122"/>
                <a:cs typeface="Calibri" pitchFamily="34" charset="-120"/>
              </a:rPr>
              <a:t>Hitch term −v sinψ / L₂: </a:t>
            </a:r>
            <a:pPr indent="0" marL="0">
              <a:buNone/>
            </a:pPr>
            <a:r>
              <a:rPr lang="en-US" sz="2400" dirty="0">
                <a:solidFill>
                  <a:srgbClr val="14212B"/>
                </a:solidFill>
                <a:latin typeface="Calibri" pitchFamily="34" charset="0"/>
                <a:ea typeface="Calibri" pitchFamily="34" charset="-122"/>
                <a:cs typeface="Calibri" pitchFamily="34" charset="-120"/>
              </a:rPr>
              <a:t>restoring when v &gt; 0, destabilising when v &lt; 0</a:t>
            </a:r>
            <a:endParaRPr lang="en-US" sz="2400" dirty="0"/>
          </a:p>
          <a:p>
            <a:pPr marL="342900" indent="-342900">
              <a:spcAft>
                <a:spcPts val="1000"/>
              </a:spcAft>
              <a:buSzPct val="100000"/>
              <a:buChar char="•"/>
            </a:pPr>
            <a:r>
              <a:rPr lang="en-US" sz="2400" b="1" dirty="0">
                <a:solidFill>
                  <a:srgbClr val="14212B"/>
                </a:solidFill>
                <a:latin typeface="Calibri" pitchFamily="34" charset="0"/>
                <a:ea typeface="Calibri" pitchFamily="34" charset="-122"/>
                <a:cs typeface="Calibri" pitchFamily="34" charset="-120"/>
              </a:rPr>
              <a:t>Every term ∝ v: </a:t>
            </a:r>
            <a:pPr indent="0" marL="0">
              <a:buNone/>
            </a:pPr>
            <a:r>
              <a:rPr lang="en-US" sz="2400" dirty="0">
                <a:solidFill>
                  <a:srgbClr val="14212B"/>
                </a:solidFill>
                <a:latin typeface="Calibri" pitchFamily="34" charset="0"/>
                <a:ea typeface="Calibri" pitchFamily="34" charset="-122"/>
                <a:cs typeface="Calibri" pitchFamily="34" charset="-120"/>
              </a:rPr>
              <a:t>the path depends on distance s, not speed, so speed is chosen separately</a:t>
            </a:r>
            <a:endParaRPr lang="en-US" sz="2400" dirty="0"/>
          </a:p>
          <a:p>
            <a:pPr marL="342900" indent="-342900">
              <a:spcAft>
                <a:spcPts val="1000"/>
              </a:spcAft>
              <a:buSzPct val="100000"/>
              <a:buChar char="•"/>
            </a:pPr>
            <a:r>
              <a:rPr lang="en-US" sz="2400" dirty="0">
                <a:solidFill>
                  <a:srgbClr val="14212B"/>
                </a:solidFill>
                <a:latin typeface="Calibri" pitchFamily="34" charset="0"/>
                <a:ea typeface="Calibri" pitchFamily="34" charset="-122"/>
                <a:cs typeface="Calibri" pitchFamily="34" charset="-120"/>
              </a:rPr>
              <a:t>Integrated with RK4; one model shared by planner, NMPC and viewer [2]</a:t>
            </a:r>
            <a:endParaRPr lang="en-US" sz="2400" dirty="0"/>
          </a:p>
        </p:txBody>
      </p:sp>
      <p:sp>
        <p:nvSpPr>
          <p:cNvPr id="25" name="Slide Number Placeholder 0"/>
          <p:cNvSpPr>
            <a:spLocks noGrp="1"/>
          </p:cNvSpPr>
          <p:nvPr>
            <p:ph type="sldNum" sz="quarter" idx="4294967295"/>
          </p:nvPr>
        </p:nvSpPr>
        <p:spPr>
          <a:xfrm>
            <a:off x="10744200" y="6309360"/>
            <a:ext cx="91440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0E7C86"/>
                </a:solidFill>
                <a:latin typeface="Calibri"/>
                <a:ea typeface="Calibri"/>
                <a:cs typeface="Calibri"/>
              </a:defRPr>
            </a:lvl1pPr>
          </a:lstStyle>
          <a:p>
            <a:pPr algn="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777240"/>
          </a:xfrm>
          <a:prstGeom prst="rect">
            <a:avLst/>
          </a:prstGeom>
          <a:noFill/>
          <a:ln/>
        </p:spPr>
        <p:txBody>
          <a:bodyPr wrap="square" lIns="0" tIns="0" rIns="0" bIns="0" rtlCol="0" anchor="ctr"/>
          <a:lstStyle/>
          <a:p>
            <a:pPr indent="0" marL="0">
              <a:buNone/>
            </a:pPr>
            <a:r>
              <a:rPr lang="en-US" sz="3400" b="1" dirty="0">
                <a:solidFill>
                  <a:srgbClr val="14212B"/>
                </a:solidFill>
                <a:latin typeface="Cambria" pitchFamily="34" charset="0"/>
                <a:ea typeface="Cambria" pitchFamily="34" charset="-122"/>
                <a:cs typeface="Cambria" pitchFamily="34" charset="-120"/>
              </a:rPr>
              <a:t>Why reversing is unstable</a:t>
            </a:r>
            <a:endParaRPr lang="en-US" sz="3400" dirty="0"/>
          </a:p>
        </p:txBody>
      </p:sp>
      <p:sp>
        <p:nvSpPr>
          <p:cNvPr id="3" name="Text 1"/>
          <p:cNvSpPr txBox="1"/>
          <p:nvPr/>
        </p:nvSpPr>
        <p:spPr>
          <a:xfrm>
            <a:off x="548640" y="6309360"/>
            <a:ext cx="8229600" cy="411480"/>
          </a:xfrm>
          <a:prstGeom prst="rect">
            <a:avLst/>
          </a:prstGeom>
          <a:noFill/>
          <a:ln/>
        </p:spPr>
        <p:txBody>
          <a:bodyPr wrap="square" lIns="0" tIns="0" rIns="0" bIns="0" rtlCol="0" anchor="ctr"/>
          <a:lstStyle/>
          <a:p>
            <a:pPr indent="0" marL="0">
              <a:buNone/>
            </a:pPr>
            <a:r>
              <a:rPr lang="en-US" sz="2400" dirty="0">
                <a:solidFill>
                  <a:srgbClr val="44546A"/>
                </a:solidFill>
                <a:latin typeface="Calibri" pitchFamily="34" charset="0"/>
                <a:ea typeface="Calibri" pitchFamily="34" charset="-122"/>
                <a:cs typeface="Calibri" pitchFamily="34" charset="-120"/>
              </a:rPr>
              <a:t>Methodology · model</a:t>
            </a:r>
            <a:endParaRPr lang="en-US" sz="2400" dirty="0"/>
          </a:p>
        </p:txBody>
      </p:sp>
      <p:sp>
        <p:nvSpPr>
          <p:cNvPr id="4" name="Text 2"/>
          <p:cNvSpPr txBox="1"/>
          <p:nvPr/>
        </p:nvSpPr>
        <p:spPr>
          <a:xfrm>
            <a:off x="548640" y="1280160"/>
            <a:ext cx="5852160" cy="411480"/>
          </a:xfrm>
          <a:prstGeom prst="rect">
            <a:avLst/>
          </a:prstGeom>
          <a:noFill/>
          <a:ln/>
        </p:spPr>
        <p:txBody>
          <a:bodyPr wrap="square" lIns="0" tIns="0" rIns="0" bIns="0" rtlCol="0" anchor="t"/>
          <a:lstStyle/>
          <a:p>
            <a:pPr algn="l" indent="0" marL="0">
              <a:buNone/>
            </a:pPr>
            <a:r>
              <a:rPr lang="en-US" sz="2400" dirty="0">
                <a:solidFill>
                  <a:srgbClr val="44546A"/>
                </a:solidFill>
                <a:latin typeface="Calibri" pitchFamily="34" charset="0"/>
                <a:ea typeface="Calibri" pitchFamily="34" charset="-122"/>
                <a:cs typeface="Calibri" pitchFamily="34" charset="-120"/>
              </a:rPr>
              <a:t>Straight line (δ = 0), small ψ:</a:t>
            </a:r>
            <a:endParaRPr lang="en-US" sz="2400" dirty="0"/>
          </a:p>
        </p:txBody>
      </p:sp>
      <p:pic>
        <p:nvPicPr>
          <p:cNvPr id="5" name="Image 0" descr="psi dot approximately minus v over L2 times psi; lambda equals minus v over L2">    </p:cNvPr>
          <p:cNvPicPr>
            <a:picLocks noChangeAspect="1"/>
          </p:cNvPicPr>
          <p:nvPr/>
        </p:nvPicPr>
        <p:blipFill>
          <a:blip r:embed="rId1"/>
          <a:stretch>
            <a:fillRect/>
          </a:stretch>
        </p:blipFill>
        <p:spPr>
          <a:xfrm>
            <a:off x="548640" y="1691640"/>
            <a:ext cx="3736848" cy="637032"/>
          </a:xfrm>
          <a:prstGeom prst="rect">
            <a:avLst/>
          </a:prstGeom>
        </p:spPr>
      </p:pic>
      <p:sp>
        <p:nvSpPr>
          <p:cNvPr id="6" name="Text 3"/>
          <p:cNvSpPr txBox="1"/>
          <p:nvPr/>
        </p:nvSpPr>
        <p:spPr>
          <a:xfrm>
            <a:off x="548640" y="2468880"/>
            <a:ext cx="5943600" cy="1097280"/>
          </a:xfrm>
          <a:prstGeom prst="rect">
            <a:avLst/>
          </a:prstGeom>
          <a:noFill/>
          <a:ln/>
        </p:spPr>
        <p:txBody>
          <a:bodyPr wrap="square" lIns="0" tIns="0" rIns="0" bIns="0" rtlCol="0" anchor="t"/>
          <a:lstStyle/>
          <a:p>
            <a:pPr marL="342900" indent="-342900">
              <a:spcAft>
                <a:spcPts val="600"/>
              </a:spcAft>
              <a:buSzPct val="100000"/>
              <a:buChar char="•"/>
            </a:pPr>
            <a:r>
              <a:rPr lang="en-US" sz="2400" b="1" dirty="0">
                <a:solidFill>
                  <a:srgbClr val="1E7A45"/>
                </a:solidFill>
                <a:latin typeface="Calibri" pitchFamily="34" charset="0"/>
                <a:ea typeface="Calibri" pitchFamily="34" charset="-122"/>
                <a:cs typeface="Calibri" pitchFamily="34" charset="-120"/>
              </a:rPr>
              <a:t>v &gt; 0: </a:t>
            </a:r>
            <a:pPr indent="0" marL="0">
              <a:buNone/>
            </a:pPr>
            <a:r>
              <a:rPr lang="en-US" sz="2400" dirty="0">
                <a:solidFill>
                  <a:srgbClr val="14212B"/>
                </a:solidFill>
                <a:latin typeface="Calibri" pitchFamily="34" charset="0"/>
                <a:ea typeface="Calibri" pitchFamily="34" charset="-122"/>
                <a:cs typeface="Calibri" pitchFamily="34" charset="-120"/>
              </a:rPr>
              <a:t>λ &lt; 0, ψ decays (stable)</a:t>
            </a:r>
            <a:endParaRPr lang="en-US" sz="2400" dirty="0"/>
          </a:p>
          <a:p>
            <a:pPr marL="342900" indent="-342900">
              <a:spcAft>
                <a:spcPts val="600"/>
              </a:spcAft>
              <a:buSzPct val="100000"/>
              <a:buChar char="•"/>
            </a:pPr>
            <a:r>
              <a:rPr lang="en-US" sz="2400" b="1" dirty="0">
                <a:solidFill>
                  <a:srgbClr val="B83227"/>
                </a:solidFill>
                <a:latin typeface="Calibri" pitchFamily="34" charset="0"/>
                <a:ea typeface="Calibri" pitchFamily="34" charset="-122"/>
                <a:cs typeface="Calibri" pitchFamily="34" charset="-120"/>
              </a:rPr>
              <a:t>v &lt; 0: </a:t>
            </a:r>
            <a:pPr indent="0" marL="0">
              <a:buNone/>
            </a:pPr>
            <a:r>
              <a:rPr lang="en-US" sz="2400" dirty="0">
                <a:solidFill>
                  <a:srgbClr val="14212B"/>
                </a:solidFill>
                <a:latin typeface="Calibri" pitchFamily="34" charset="0"/>
                <a:ea typeface="Calibri" pitchFamily="34" charset="-122"/>
                <a:cs typeface="Calibri" pitchFamily="34" charset="-120"/>
              </a:rPr>
              <a:t>λ = |v|/L₂ &gt; 0, ψ grows ×e every 8 m</a:t>
            </a:r>
            <a:endParaRPr lang="en-US" sz="2400" dirty="0"/>
          </a:p>
        </p:txBody>
      </p:sp>
      <p:sp>
        <p:nvSpPr>
          <p:cNvPr id="7" name="Text 4"/>
          <p:cNvSpPr txBox="1"/>
          <p:nvPr/>
        </p:nvSpPr>
        <p:spPr>
          <a:xfrm>
            <a:off x="548640" y="3611880"/>
            <a:ext cx="5852160" cy="411480"/>
          </a:xfrm>
          <a:prstGeom prst="rect">
            <a:avLst/>
          </a:prstGeom>
          <a:noFill/>
          <a:ln/>
        </p:spPr>
        <p:txBody>
          <a:bodyPr wrap="square" lIns="0" tIns="0" rIns="0" bIns="0" rtlCol="0" anchor="t"/>
          <a:lstStyle/>
          <a:p>
            <a:pPr algn="l" indent="0" marL="0">
              <a:buNone/>
            </a:pPr>
            <a:r>
              <a:rPr lang="en-US" sz="2400" dirty="0">
                <a:solidFill>
                  <a:srgbClr val="44546A"/>
                </a:solidFill>
                <a:latin typeface="Calibri" pitchFamily="34" charset="0"/>
                <a:ea typeface="Calibri" pitchFamily="34" charset="-122"/>
                <a:cs typeface="Calibri" pitchFamily="34" charset="-120"/>
              </a:rPr>
              <a:t>Exact solution in distance s:</a:t>
            </a:r>
            <a:endParaRPr lang="en-US" sz="2400" dirty="0"/>
          </a:p>
        </p:txBody>
      </p:sp>
      <p:pic>
        <p:nvPicPr>
          <p:cNvPr id="8" name="Image 1" descr="d psi d s equals sin psi over L2, so tan of psi over 2 equals tan of psi0 over 2 times e to the s over L2">    </p:cNvPr>
          <p:cNvPicPr>
            <a:picLocks noChangeAspect="1"/>
          </p:cNvPicPr>
          <p:nvPr/>
        </p:nvPicPr>
        <p:blipFill>
          <a:blip r:embed="rId2"/>
          <a:stretch>
            <a:fillRect/>
          </a:stretch>
        </p:blipFill>
        <p:spPr>
          <a:xfrm>
            <a:off x="548640" y="4023360"/>
            <a:ext cx="5138928" cy="661416"/>
          </a:xfrm>
          <a:prstGeom prst="rect">
            <a:avLst/>
          </a:prstGeom>
        </p:spPr>
      </p:pic>
      <p:sp>
        <p:nvSpPr>
          <p:cNvPr id="9" name="Text 5"/>
          <p:cNvSpPr txBox="1"/>
          <p:nvPr/>
        </p:nvSpPr>
        <p:spPr>
          <a:xfrm>
            <a:off x="548640" y="4846320"/>
            <a:ext cx="5943600" cy="822960"/>
          </a:xfrm>
          <a:prstGeom prst="rect">
            <a:avLst/>
          </a:prstGeom>
          <a:noFill/>
          <a:ln/>
        </p:spPr>
        <p:txBody>
          <a:bodyPr wrap="square" lIns="0" tIns="0" rIns="0" bIns="0" rtlCol="0" anchor="t"/>
          <a:lstStyle/>
          <a:p>
            <a:pPr marL="342900" indent="-342900">
              <a:spcAft>
                <a:spcPts val="1000"/>
              </a:spcAft>
              <a:buSzPct val="100000"/>
              <a:buChar char="•"/>
            </a:pPr>
            <a:r>
              <a:rPr lang="en-US" sz="2400" b="1" dirty="0">
                <a:solidFill>
                  <a:srgbClr val="B83227"/>
                </a:solidFill>
                <a:latin typeface="Calibri" pitchFamily="34" charset="0"/>
                <a:ea typeface="Calibri" pitchFamily="34" charset="-122"/>
                <a:cs typeface="Calibri" pitchFamily="34" charset="-120"/>
              </a:rPr>
              <a:t>2° error: </a:t>
            </a:r>
            <a:pPr indent="0" marL="0">
              <a:buNone/>
            </a:pPr>
            <a:r>
              <a:rPr lang="en-US" sz="2400" dirty="0">
                <a:solidFill>
                  <a:srgbClr val="14212B"/>
                </a:solidFill>
                <a:latin typeface="Calibri" pitchFamily="34" charset="0"/>
                <a:ea typeface="Calibri" pitchFamily="34" charset="-122"/>
                <a:cs typeface="Calibri" pitchFamily="34" charset="-120"/>
              </a:rPr>
              <a:t>60° at 28 m, jackknife at 30 m</a:t>
            </a:r>
            <a:endParaRPr lang="en-US" sz="2400" dirty="0"/>
          </a:p>
        </p:txBody>
      </p:sp>
      <p:pic>
        <p:nvPicPr>
          <p:cNvPr id="10" name="Image 2" descr="Hitch angle versus distance: reverse grows past 60 degrees at 28 m, forward decays">    </p:cNvPr>
          <p:cNvPicPr>
            <a:picLocks noChangeAspect="1"/>
          </p:cNvPicPr>
          <p:nvPr/>
        </p:nvPicPr>
        <p:blipFill>
          <a:blip r:embed="rId3"/>
          <a:stretch>
            <a:fillRect/>
          </a:stretch>
        </p:blipFill>
        <p:spPr>
          <a:xfrm>
            <a:off x="6583680" y="1325880"/>
            <a:ext cx="5120640" cy="3749040"/>
          </a:xfrm>
          <a:prstGeom prst="rect">
            <a:avLst/>
          </a:prstGeom>
        </p:spPr>
      </p:pic>
      <p:sp>
        <p:nvSpPr>
          <p:cNvPr id="11" name="Text 6"/>
          <p:cNvSpPr txBox="1"/>
          <p:nvPr/>
        </p:nvSpPr>
        <p:spPr>
          <a:xfrm>
            <a:off x="6583680" y="5212080"/>
            <a:ext cx="5120640" cy="411480"/>
          </a:xfrm>
          <a:prstGeom prst="rect">
            <a:avLst/>
          </a:prstGeom>
          <a:noFill/>
          <a:ln/>
        </p:spPr>
        <p:txBody>
          <a:bodyPr wrap="square" lIns="0" tIns="0" rIns="0" bIns="0" rtlCol="0" anchor="t"/>
          <a:lstStyle/>
          <a:p>
            <a:pPr algn="ctr" indent="0" marL="0">
              <a:buNone/>
            </a:pPr>
            <a:r>
              <a:rPr lang="en-US" sz="2400" dirty="0">
                <a:solidFill>
                  <a:srgbClr val="44546A"/>
                </a:solidFill>
                <a:latin typeface="Calibri" pitchFamily="34" charset="0"/>
                <a:ea typeface="Calibri" pitchFamily="34" charset="-122"/>
                <a:cs typeface="Calibri" pitchFamily="34" charset="-120"/>
              </a:rPr>
              <a:t>Closed form matches the simulator exactly</a:t>
            </a:r>
            <a:endParaRPr lang="en-US" sz="2400" dirty="0"/>
          </a:p>
        </p:txBody>
      </p:sp>
      <p:sp>
        <p:nvSpPr>
          <p:cNvPr id="25" name="Slide Number Placeholder 0"/>
          <p:cNvSpPr>
            <a:spLocks noGrp="1"/>
          </p:cNvSpPr>
          <p:nvPr>
            <p:ph type="sldNum" sz="quarter" idx="4294967295"/>
          </p:nvPr>
        </p:nvSpPr>
        <p:spPr>
          <a:xfrm>
            <a:off x="10744200" y="6309360"/>
            <a:ext cx="91440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0E7C86"/>
                </a:solidFill>
                <a:latin typeface="Calibri"/>
                <a:ea typeface="Calibri"/>
                <a:cs typeface="Calibri"/>
              </a:defRPr>
            </a:lvl1pPr>
          </a:lstStyle>
          <a:p>
            <a:pPr algn="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777240"/>
          </a:xfrm>
          <a:prstGeom prst="rect">
            <a:avLst/>
          </a:prstGeom>
          <a:noFill/>
          <a:ln/>
        </p:spPr>
        <p:txBody>
          <a:bodyPr wrap="square" lIns="0" tIns="0" rIns="0" bIns="0" rtlCol="0" anchor="ctr"/>
          <a:lstStyle/>
          <a:p>
            <a:pPr indent="0" marL="0">
              <a:buNone/>
            </a:pPr>
            <a:r>
              <a:rPr lang="en-US" sz="3400" b="1" dirty="0">
                <a:solidFill>
                  <a:srgbClr val="14212B"/>
                </a:solidFill>
                <a:latin typeface="Cambria" pitchFamily="34" charset="0"/>
                <a:ea typeface="Cambria" pitchFamily="34" charset="-122"/>
                <a:cs typeface="Cambria" pitchFamily="34" charset="-120"/>
              </a:rPr>
              <a:t>How much steering can hold a hitch angle?</a:t>
            </a:r>
            <a:endParaRPr lang="en-US" sz="3400" dirty="0"/>
          </a:p>
        </p:txBody>
      </p:sp>
      <p:sp>
        <p:nvSpPr>
          <p:cNvPr id="3" name="Text 1"/>
          <p:cNvSpPr txBox="1"/>
          <p:nvPr/>
        </p:nvSpPr>
        <p:spPr>
          <a:xfrm>
            <a:off x="548640" y="6309360"/>
            <a:ext cx="8229600" cy="411480"/>
          </a:xfrm>
          <a:prstGeom prst="rect">
            <a:avLst/>
          </a:prstGeom>
          <a:noFill/>
          <a:ln/>
        </p:spPr>
        <p:txBody>
          <a:bodyPr wrap="square" lIns="0" tIns="0" rIns="0" bIns="0" rtlCol="0" anchor="ctr"/>
          <a:lstStyle/>
          <a:p>
            <a:pPr indent="0" marL="0">
              <a:buNone/>
            </a:pPr>
            <a:r>
              <a:rPr lang="en-US" sz="2400" dirty="0">
                <a:solidFill>
                  <a:srgbClr val="44546A"/>
                </a:solidFill>
                <a:latin typeface="Calibri" pitchFamily="34" charset="0"/>
                <a:ea typeface="Calibri" pitchFamily="34" charset="-122"/>
                <a:cs typeface="Calibri" pitchFamily="34" charset="-120"/>
              </a:rPr>
              <a:t>Methodology · model</a:t>
            </a:r>
            <a:endParaRPr lang="en-US" sz="2400" dirty="0"/>
          </a:p>
        </p:txBody>
      </p:sp>
      <p:sp>
        <p:nvSpPr>
          <p:cNvPr id="4" name="Text 2"/>
          <p:cNvSpPr txBox="1"/>
          <p:nvPr/>
        </p:nvSpPr>
        <p:spPr>
          <a:xfrm>
            <a:off x="548640" y="1280160"/>
            <a:ext cx="5852160" cy="411480"/>
          </a:xfrm>
          <a:prstGeom prst="rect">
            <a:avLst/>
          </a:prstGeom>
          <a:noFill/>
          <a:ln/>
        </p:spPr>
        <p:txBody>
          <a:bodyPr wrap="square" lIns="0" tIns="0" rIns="0" bIns="0" rtlCol="0" anchor="t"/>
          <a:lstStyle/>
          <a:p>
            <a:pPr algn="l" indent="0" marL="0">
              <a:buNone/>
            </a:pPr>
            <a:r>
              <a:rPr lang="en-US" sz="2400" dirty="0">
                <a:solidFill>
                  <a:srgbClr val="44546A"/>
                </a:solidFill>
                <a:latin typeface="Calibri" pitchFamily="34" charset="0"/>
                <a:ea typeface="Calibri" pitchFamily="34" charset="-122"/>
                <a:cs typeface="Calibri" pitchFamily="34" charset="-120"/>
              </a:rPr>
              <a:t>Steady state (ψ̇ = 0):</a:t>
            </a:r>
            <a:endParaRPr lang="en-US" sz="2400" dirty="0"/>
          </a:p>
        </p:txBody>
      </p:sp>
      <p:pic>
        <p:nvPicPr>
          <p:cNvPr id="5" name="Image 0" descr="tan delta hold equals L1 over L2 times sin psi over 1 minus d over L2 cos psi">    </p:cNvPr>
          <p:cNvPicPr>
            <a:picLocks noChangeAspect="1"/>
          </p:cNvPicPr>
          <p:nvPr/>
        </p:nvPicPr>
        <p:blipFill>
          <a:blip r:embed="rId1"/>
          <a:stretch>
            <a:fillRect/>
          </a:stretch>
        </p:blipFill>
        <p:spPr>
          <a:xfrm>
            <a:off x="548640" y="1691640"/>
            <a:ext cx="5050536" cy="816864"/>
          </a:xfrm>
          <a:prstGeom prst="rect">
            <a:avLst/>
          </a:prstGeom>
        </p:spPr>
      </p:pic>
      <p:sp>
        <p:nvSpPr>
          <p:cNvPr id="6" name="Text 3"/>
          <p:cNvSpPr txBox="1"/>
          <p:nvPr/>
        </p:nvSpPr>
        <p:spPr>
          <a:xfrm>
            <a:off x="548640" y="2697480"/>
            <a:ext cx="5852160" cy="411480"/>
          </a:xfrm>
          <a:prstGeom prst="rect">
            <a:avLst/>
          </a:prstGeom>
          <a:noFill/>
          <a:ln/>
        </p:spPr>
        <p:txBody>
          <a:bodyPr wrap="square" lIns="0" tIns="0" rIns="0" bIns="0" rtlCol="0" anchor="t"/>
          <a:lstStyle/>
          <a:p>
            <a:pPr algn="l" indent="0" marL="0">
              <a:buNone/>
            </a:pPr>
            <a:r>
              <a:rPr lang="en-US" sz="2400" dirty="0">
                <a:solidFill>
                  <a:srgbClr val="44546A"/>
                </a:solidFill>
                <a:latin typeface="Calibri" pitchFamily="34" charset="0"/>
                <a:ea typeface="Calibri" pitchFamily="34" charset="-122"/>
                <a:cs typeface="Calibri" pitchFamily="34" charset="-120"/>
              </a:rPr>
              <a:t>Maximum of the right-hand side:</a:t>
            </a:r>
            <a:endParaRPr lang="en-US" sz="2400" dirty="0"/>
          </a:p>
        </p:txBody>
      </p:sp>
      <p:pic>
        <p:nvPicPr>
          <p:cNvPr id="7" name="Image 1" descr="cos psi star equals d over L2, so delta critical equals 26.6 degrees">    </p:cNvPr>
          <p:cNvPicPr>
            <a:picLocks noChangeAspect="1"/>
          </p:cNvPicPr>
          <p:nvPr/>
        </p:nvPicPr>
        <p:blipFill>
          <a:blip r:embed="rId2"/>
          <a:stretch>
            <a:fillRect/>
          </a:stretch>
        </p:blipFill>
        <p:spPr>
          <a:xfrm>
            <a:off x="548640" y="3108960"/>
            <a:ext cx="4422648" cy="618744"/>
          </a:xfrm>
          <a:prstGeom prst="rect">
            <a:avLst/>
          </a:prstGeom>
        </p:spPr>
      </p:pic>
      <p:sp>
        <p:nvSpPr>
          <p:cNvPr id="8" name="Text 4"/>
          <p:cNvSpPr txBox="1"/>
          <p:nvPr/>
        </p:nvSpPr>
        <p:spPr>
          <a:xfrm>
            <a:off x="548640" y="3931920"/>
            <a:ext cx="5943600" cy="2194560"/>
          </a:xfrm>
          <a:prstGeom prst="rect">
            <a:avLst/>
          </a:prstGeom>
          <a:noFill/>
          <a:ln/>
        </p:spPr>
        <p:txBody>
          <a:bodyPr wrap="square" lIns="0" tIns="0" rIns="0" bIns="0" rtlCol="0" anchor="t"/>
          <a:lstStyle/>
          <a:p>
            <a:pPr marL="342900" indent="-342900">
              <a:spcAft>
                <a:spcPts val="1000"/>
              </a:spcAft>
              <a:buSzPct val="100000"/>
              <a:buChar char="•"/>
            </a:pPr>
            <a:r>
              <a:rPr lang="en-US" sz="2400" b="1" dirty="0">
                <a:solidFill>
                  <a:srgbClr val="B83227"/>
                </a:solidFill>
                <a:latin typeface="Calibri" pitchFamily="34" charset="0"/>
                <a:ea typeface="Calibri" pitchFamily="34" charset="-122"/>
                <a:cs typeface="Calibri" pitchFamily="34" charset="-120"/>
              </a:rPr>
              <a:t>Above 26.6°: </a:t>
            </a:r>
            <a:pPr indent="0" marL="0">
              <a:buNone/>
            </a:pPr>
            <a:r>
              <a:rPr lang="en-US" sz="2400" dirty="0">
                <a:solidFill>
                  <a:srgbClr val="14212B"/>
                </a:solidFill>
                <a:latin typeface="Calibri" pitchFamily="34" charset="0"/>
                <a:ea typeface="Calibri" pitchFamily="34" charset="-122"/>
                <a:cs typeface="Calibri" pitchFamily="34" charset="-120"/>
              </a:rPr>
              <a:t>no equilibrium, the rig folds</a:t>
            </a:r>
            <a:endParaRPr lang="en-US" sz="2400" dirty="0"/>
          </a:p>
          <a:p>
            <a:pPr marL="342900" indent="-342900">
              <a:spcAft>
                <a:spcPts val="1000"/>
              </a:spcAft>
              <a:buSzPct val="100000"/>
              <a:buChar char="•"/>
            </a:pPr>
            <a:r>
              <a:rPr lang="en-US" sz="2400" b="1" dirty="0">
                <a:solidFill>
                  <a:srgbClr val="A8661A"/>
                </a:solidFill>
                <a:latin typeface="Calibri" pitchFamily="34" charset="0"/>
                <a:ea typeface="Calibri" pitchFamily="34" charset="-122"/>
                <a:cs typeface="Calibri" pitchFamily="34" charset="-120"/>
              </a:rPr>
              <a:t>At ψ = 60°: </a:t>
            </a:r>
            <a:pPr indent="0" marL="0">
              <a:buNone/>
            </a:pPr>
            <a:r>
              <a:rPr lang="en-US" sz="2400" dirty="0">
                <a:solidFill>
                  <a:srgbClr val="14212B"/>
                </a:solidFill>
                <a:latin typeface="Calibri" pitchFamily="34" charset="0"/>
                <a:ea typeface="Calibri" pitchFamily="34" charset="-122"/>
                <a:cs typeface="Calibri" pitchFamily="34" charset="-120"/>
              </a:rPr>
              <a:t>hold 24°, 11° of lock left to recover</a:t>
            </a:r>
            <a:endParaRPr lang="en-US" sz="2400" dirty="0"/>
          </a:p>
          <a:p>
            <a:pPr marL="342900" indent="-342900">
              <a:spcAft>
                <a:spcPts val="1000"/>
              </a:spcAft>
              <a:buSzPct val="100000"/>
              <a:buChar char="•"/>
            </a:pPr>
            <a:r>
              <a:rPr lang="en-US" sz="2400" b="1" dirty="0">
                <a:solidFill>
                  <a:srgbClr val="0E7C86"/>
                </a:solidFill>
                <a:latin typeface="Calibri" pitchFamily="34" charset="0"/>
                <a:ea typeface="Calibri" pitchFamily="34" charset="-122"/>
                <a:cs typeface="Calibri" pitchFamily="34" charset="-120"/>
              </a:rPr>
              <a:t>So: </a:t>
            </a:r>
            <a:pPr indent="0" marL="0">
              <a:buNone/>
            </a:pPr>
            <a:r>
              <a:rPr lang="en-US" sz="2400" dirty="0">
                <a:solidFill>
                  <a:srgbClr val="14212B"/>
                </a:solidFill>
                <a:latin typeface="Calibri" pitchFamily="34" charset="0"/>
                <a:ea typeface="Calibri" pitchFamily="34" charset="-122"/>
                <a:cs typeface="Calibri" pitchFamily="34" charset="-120"/>
              </a:rPr>
              <a:t>NMPC hard limit 60°; planner stays ≤ 52°</a:t>
            </a:r>
            <a:endParaRPr lang="en-US" sz="2400" dirty="0"/>
          </a:p>
        </p:txBody>
      </p:sp>
      <p:pic>
        <p:nvPicPr>
          <p:cNvPr id="9" name="Image 2" descr="Steering needed to hold a hitch angle, peaking at 26.6 degrees; at 60 degrees it is 24 degrees">    </p:cNvPr>
          <p:cNvPicPr>
            <a:picLocks noChangeAspect="1"/>
          </p:cNvPicPr>
          <p:nvPr/>
        </p:nvPicPr>
        <p:blipFill>
          <a:blip r:embed="rId3"/>
          <a:stretch>
            <a:fillRect/>
          </a:stretch>
        </p:blipFill>
        <p:spPr>
          <a:xfrm>
            <a:off x="6583680" y="1325880"/>
            <a:ext cx="5120640" cy="3749040"/>
          </a:xfrm>
          <a:prstGeom prst="rect">
            <a:avLst/>
          </a:prstGeom>
        </p:spPr>
      </p:pic>
      <p:sp>
        <p:nvSpPr>
          <p:cNvPr id="25" name="Slide Number Placeholder 0"/>
          <p:cNvSpPr>
            <a:spLocks noGrp="1"/>
          </p:cNvSpPr>
          <p:nvPr>
            <p:ph type="sldNum" sz="quarter" idx="4294967295"/>
          </p:nvPr>
        </p:nvSpPr>
        <p:spPr>
          <a:xfrm>
            <a:off x="10744200" y="6309360"/>
            <a:ext cx="91440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0E7C86"/>
                </a:solidFill>
                <a:latin typeface="Calibri"/>
                <a:ea typeface="Calibri"/>
                <a:cs typeface="Calibri"/>
              </a:defRPr>
            </a:lvl1pPr>
          </a:lstStyle>
          <a:p>
            <a:pPr algn="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777240"/>
          </a:xfrm>
          <a:prstGeom prst="rect">
            <a:avLst/>
          </a:prstGeom>
          <a:noFill/>
          <a:ln/>
        </p:spPr>
        <p:txBody>
          <a:bodyPr wrap="square" lIns="0" tIns="0" rIns="0" bIns="0" rtlCol="0" anchor="ctr"/>
          <a:lstStyle/>
          <a:p>
            <a:pPr indent="0" marL="0">
              <a:buNone/>
            </a:pPr>
            <a:r>
              <a:rPr lang="en-US" sz="3400" b="1" dirty="0">
                <a:solidFill>
                  <a:srgbClr val="14212B"/>
                </a:solidFill>
                <a:latin typeface="Cambria" pitchFamily="34" charset="0"/>
                <a:ea typeface="Cambria" pitchFamily="34" charset="-122"/>
                <a:cs typeface="Cambria" pitchFamily="34" charset="-120"/>
              </a:rPr>
              <a:t>Hitch-angle regulator (feedback linearisation)</a:t>
            </a:r>
            <a:endParaRPr lang="en-US" sz="3400" dirty="0"/>
          </a:p>
        </p:txBody>
      </p:sp>
      <p:sp>
        <p:nvSpPr>
          <p:cNvPr id="3" name="Text 1"/>
          <p:cNvSpPr txBox="1"/>
          <p:nvPr/>
        </p:nvSpPr>
        <p:spPr>
          <a:xfrm>
            <a:off x="548640" y="6309360"/>
            <a:ext cx="8229600" cy="411480"/>
          </a:xfrm>
          <a:prstGeom prst="rect">
            <a:avLst/>
          </a:prstGeom>
          <a:noFill/>
          <a:ln/>
        </p:spPr>
        <p:txBody>
          <a:bodyPr wrap="square" lIns="0" tIns="0" rIns="0" bIns="0" rtlCol="0" anchor="ctr"/>
          <a:lstStyle/>
          <a:p>
            <a:pPr indent="0" marL="0">
              <a:buNone/>
            </a:pPr>
            <a:r>
              <a:rPr lang="en-US" sz="2400" dirty="0">
                <a:solidFill>
                  <a:srgbClr val="44546A"/>
                </a:solidFill>
                <a:latin typeface="Calibri" pitchFamily="34" charset="0"/>
                <a:ea typeface="Calibri" pitchFamily="34" charset="-122"/>
                <a:cs typeface="Calibri" pitchFamily="34" charset="-120"/>
              </a:rPr>
              <a:t>Methodology · model</a:t>
            </a:r>
            <a:endParaRPr lang="en-US" sz="2400" dirty="0"/>
          </a:p>
        </p:txBody>
      </p:sp>
      <p:sp>
        <p:nvSpPr>
          <p:cNvPr id="4" name="Text 2"/>
          <p:cNvSpPr txBox="1"/>
          <p:nvPr/>
        </p:nvSpPr>
        <p:spPr>
          <a:xfrm>
            <a:off x="548640" y="1280160"/>
            <a:ext cx="5852160" cy="411480"/>
          </a:xfrm>
          <a:prstGeom prst="rect">
            <a:avLst/>
          </a:prstGeom>
          <a:noFill/>
          <a:ln/>
        </p:spPr>
        <p:txBody>
          <a:bodyPr wrap="square" lIns="0" tIns="0" rIns="0" bIns="0" rtlCol="0" anchor="t"/>
          <a:lstStyle/>
          <a:p>
            <a:pPr algn="l" indent="0" marL="0">
              <a:buNone/>
            </a:pPr>
            <a:r>
              <a:rPr lang="en-US" sz="2400" dirty="0">
                <a:solidFill>
                  <a:srgbClr val="44546A"/>
                </a:solidFill>
                <a:latin typeface="Calibri" pitchFamily="34" charset="0"/>
                <a:ea typeface="Calibri" pitchFamily="34" charset="-122"/>
                <a:cs typeface="Calibri" pitchFamily="34" charset="-120"/>
              </a:rPr>
              <a:t>Choose δ by inverting the ψ̇ equation:</a:t>
            </a:r>
            <a:endParaRPr lang="en-US" sz="2400" dirty="0"/>
          </a:p>
        </p:txBody>
      </p:sp>
      <p:pic>
        <p:nvPicPr>
          <p:cNvPr id="5" name="Image 0" descr="tan delta equals L1 times sin psi over L2 minus sign v k psi minus psi desired, over 1 minus d over L2 cos psi">    </p:cNvPr>
          <p:cNvPicPr>
            <a:picLocks noChangeAspect="1"/>
          </p:cNvPicPr>
          <p:nvPr/>
        </p:nvPicPr>
        <p:blipFill>
          <a:blip r:embed="rId1"/>
          <a:stretch>
            <a:fillRect/>
          </a:stretch>
        </p:blipFill>
        <p:spPr>
          <a:xfrm>
            <a:off x="548640" y="1691640"/>
            <a:ext cx="5148072" cy="847344"/>
          </a:xfrm>
          <a:prstGeom prst="rect">
            <a:avLst/>
          </a:prstGeom>
        </p:spPr>
      </p:pic>
      <p:pic>
        <p:nvPicPr>
          <p:cNvPr id="6" name="Image 1" descr="so psi dot equals minus absolute v k times psi minus psi desired">    </p:cNvPr>
          <p:cNvPicPr>
            <a:picLocks noChangeAspect="1"/>
          </p:cNvPicPr>
          <p:nvPr/>
        </p:nvPicPr>
        <p:blipFill>
          <a:blip r:embed="rId2"/>
          <a:stretch>
            <a:fillRect/>
          </a:stretch>
        </p:blipFill>
        <p:spPr>
          <a:xfrm>
            <a:off x="548640" y="2697480"/>
            <a:ext cx="3959352" cy="530352"/>
          </a:xfrm>
          <a:prstGeom prst="rect">
            <a:avLst/>
          </a:prstGeom>
        </p:spPr>
      </p:pic>
      <p:pic>
        <p:nvPicPr>
          <p:cNvPr id="7" name="Image 2" descr="psi of s minus psi desired proportional to e to the minus k s, k = 0.5 per metre">    </p:cNvPr>
          <p:cNvPicPr>
            <a:picLocks noChangeAspect="1"/>
          </p:cNvPicPr>
          <p:nvPr/>
        </p:nvPicPr>
        <p:blipFill>
          <a:blip r:embed="rId3"/>
          <a:stretch>
            <a:fillRect/>
          </a:stretch>
        </p:blipFill>
        <p:spPr>
          <a:xfrm>
            <a:off x="548640" y="3337560"/>
            <a:ext cx="5608320" cy="512064"/>
          </a:xfrm>
          <a:prstGeom prst="rect">
            <a:avLst/>
          </a:prstGeom>
        </p:spPr>
      </p:pic>
      <p:sp>
        <p:nvSpPr>
          <p:cNvPr id="8" name="Text 3"/>
          <p:cNvSpPr txBox="1"/>
          <p:nvPr/>
        </p:nvSpPr>
        <p:spPr>
          <a:xfrm>
            <a:off x="548640" y="4069080"/>
            <a:ext cx="5943600" cy="2011680"/>
          </a:xfrm>
          <a:prstGeom prst="rect">
            <a:avLst/>
          </a:prstGeom>
          <a:noFill/>
          <a:ln/>
        </p:spPr>
        <p:txBody>
          <a:bodyPr wrap="square" lIns="0" tIns="0" rIns="0" bIns="0" rtlCol="0" anchor="t"/>
          <a:lstStyle/>
          <a:p>
            <a:pPr marL="342900" indent="-342900">
              <a:spcAft>
                <a:spcPts val="800"/>
              </a:spcAft>
              <a:buSzPct val="100000"/>
              <a:buChar char="•"/>
            </a:pPr>
            <a:r>
              <a:rPr lang="en-US" sz="2400" b="1" dirty="0">
                <a:solidFill>
                  <a:srgbClr val="0E7C86"/>
                </a:solidFill>
                <a:latin typeface="Calibri" pitchFamily="34" charset="0"/>
                <a:ea typeface="Calibri" pitchFamily="34" charset="-122"/>
                <a:cs typeface="Calibri" pitchFamily="34" charset="-120"/>
              </a:rPr>
              <a:t>Stable in both gears: </a:t>
            </a:r>
            <a:pPr indent="0" marL="0">
              <a:buNone/>
            </a:pPr>
            <a:r>
              <a:rPr lang="en-US" sz="2400" dirty="0">
                <a:solidFill>
                  <a:srgbClr val="14212B"/>
                </a:solidFill>
                <a:latin typeface="Calibri" pitchFamily="34" charset="0"/>
                <a:ea typeface="Calibri" pitchFamily="34" charset="-122"/>
                <a:cs typeface="Calibri" pitchFamily="34" charset="-120"/>
              </a:rPr>
              <a:t>error ×1/e every 2 m</a:t>
            </a:r>
            <a:endParaRPr lang="en-US" sz="2400" dirty="0"/>
          </a:p>
          <a:p>
            <a:pPr marL="342900" indent="-342900">
              <a:spcAft>
                <a:spcPts val="800"/>
              </a:spcAft>
              <a:buSzPct val="100000"/>
              <a:buChar char="•"/>
            </a:pPr>
            <a:r>
              <a:rPr lang="en-US" sz="2400" dirty="0">
                <a:solidFill>
                  <a:srgbClr val="14212B"/>
                </a:solidFill>
                <a:latin typeface="Calibri" pitchFamily="34" charset="0"/>
                <a:ea typeface="Calibri" pitchFamily="34" charset="-122"/>
                <a:cs typeface="Calibri" pitchFamily="34" charset="-120"/>
              </a:rPr>
              <a:t>Builds the planner’s motion primitives</a:t>
            </a:r>
            <a:endParaRPr lang="en-US" sz="2400" dirty="0"/>
          </a:p>
          <a:p>
            <a:pPr marL="342900" indent="-342900">
              <a:spcAft>
                <a:spcPts val="800"/>
              </a:spcAft>
              <a:buSzPct val="100000"/>
              <a:buChar char="•"/>
            </a:pPr>
            <a:r>
              <a:rPr lang="en-US" sz="2400" dirty="0">
                <a:solidFill>
                  <a:srgbClr val="14212B"/>
                </a:solidFill>
                <a:latin typeface="Calibri" pitchFamily="34" charset="0"/>
                <a:ea typeface="Calibri" pitchFamily="34" charset="-122"/>
                <a:cs typeface="Calibri" pitchFamily="34" charset="-120"/>
              </a:rPr>
              <a:t>NMPC’s last-resort fallback</a:t>
            </a:r>
            <a:endParaRPr lang="en-US" sz="2400" dirty="0"/>
          </a:p>
        </p:txBody>
      </p:sp>
      <p:pic>
        <p:nvPicPr>
          <p:cNvPr id="9" name="Image 3" descr="Regulated hitch angle converges to zero within 10 m while the open-loop angle grows">    </p:cNvPr>
          <p:cNvPicPr>
            <a:picLocks noChangeAspect="1"/>
          </p:cNvPicPr>
          <p:nvPr/>
        </p:nvPicPr>
        <p:blipFill>
          <a:blip r:embed="rId4"/>
          <a:stretch>
            <a:fillRect/>
          </a:stretch>
        </p:blipFill>
        <p:spPr>
          <a:xfrm>
            <a:off x="6583680" y="1325880"/>
            <a:ext cx="5120640" cy="3749040"/>
          </a:xfrm>
          <a:prstGeom prst="rect">
            <a:avLst/>
          </a:prstGeom>
        </p:spPr>
      </p:pic>
      <p:sp>
        <p:nvSpPr>
          <p:cNvPr id="25" name="Slide Number Placeholder 0"/>
          <p:cNvSpPr>
            <a:spLocks noGrp="1"/>
          </p:cNvSpPr>
          <p:nvPr>
            <p:ph type="sldNum" sz="quarter" idx="4294967295"/>
          </p:nvPr>
        </p:nvSpPr>
        <p:spPr>
          <a:xfrm>
            <a:off x="10744200" y="6309360"/>
            <a:ext cx="91440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0E7C86"/>
                </a:solidFill>
                <a:latin typeface="Calibri"/>
                <a:ea typeface="Calibri"/>
                <a:cs typeface="Calibri"/>
              </a:defRPr>
            </a:lvl1pPr>
          </a:lstStyle>
          <a:p>
            <a:pPr algn="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777240"/>
          </a:xfrm>
          <a:prstGeom prst="rect">
            <a:avLst/>
          </a:prstGeom>
          <a:noFill/>
          <a:ln/>
        </p:spPr>
        <p:txBody>
          <a:bodyPr wrap="square" lIns="0" tIns="0" rIns="0" bIns="0" rtlCol="0" anchor="ctr"/>
          <a:lstStyle/>
          <a:p>
            <a:pPr indent="0" marL="0">
              <a:buNone/>
            </a:pPr>
            <a:r>
              <a:rPr lang="en-US" sz="3400" b="1" dirty="0">
                <a:solidFill>
                  <a:srgbClr val="14212B"/>
                </a:solidFill>
                <a:latin typeface="Cambria" pitchFamily="34" charset="0"/>
                <a:ea typeface="Cambria" pitchFamily="34" charset="-122"/>
                <a:cs typeface="Cambria" pitchFamily="34" charset="-120"/>
              </a:rPr>
              <a:t>Hybrid A* planner: search and cost</a:t>
            </a:r>
            <a:endParaRPr lang="en-US" sz="3400" dirty="0"/>
          </a:p>
        </p:txBody>
      </p:sp>
      <p:sp>
        <p:nvSpPr>
          <p:cNvPr id="3" name="Text 1"/>
          <p:cNvSpPr txBox="1"/>
          <p:nvPr/>
        </p:nvSpPr>
        <p:spPr>
          <a:xfrm>
            <a:off x="548640" y="6309360"/>
            <a:ext cx="8229600" cy="411480"/>
          </a:xfrm>
          <a:prstGeom prst="rect">
            <a:avLst/>
          </a:prstGeom>
          <a:noFill/>
          <a:ln/>
        </p:spPr>
        <p:txBody>
          <a:bodyPr wrap="square" lIns="0" tIns="0" rIns="0" bIns="0" rtlCol="0" anchor="ctr"/>
          <a:lstStyle/>
          <a:p>
            <a:pPr indent="0" marL="0">
              <a:buNone/>
            </a:pPr>
            <a:r>
              <a:rPr lang="en-US" sz="2400" dirty="0">
                <a:solidFill>
                  <a:srgbClr val="44546A"/>
                </a:solidFill>
                <a:latin typeface="Calibri" pitchFamily="34" charset="0"/>
                <a:ea typeface="Calibri" pitchFamily="34" charset="-122"/>
                <a:cs typeface="Calibri" pitchFamily="34" charset="-120"/>
              </a:rPr>
              <a:t>Methodology · planner</a:t>
            </a:r>
            <a:endParaRPr lang="en-US" sz="2400" dirty="0"/>
          </a:p>
        </p:txBody>
      </p:sp>
      <p:sp>
        <p:nvSpPr>
          <p:cNvPr id="4" name="Text 2"/>
          <p:cNvSpPr txBox="1"/>
          <p:nvPr/>
        </p:nvSpPr>
        <p:spPr>
          <a:xfrm>
            <a:off x="548640" y="1280160"/>
            <a:ext cx="11064240" cy="1508760"/>
          </a:xfrm>
          <a:prstGeom prst="rect">
            <a:avLst/>
          </a:prstGeom>
          <a:noFill/>
          <a:ln/>
        </p:spPr>
        <p:txBody>
          <a:bodyPr wrap="square" lIns="0" tIns="0" rIns="0" bIns="0" rtlCol="0" anchor="t"/>
          <a:lstStyle/>
          <a:p>
            <a:pPr marL="342900" indent="-342900">
              <a:spcAft>
                <a:spcPts val="600"/>
              </a:spcAft>
              <a:buSzPct val="100000"/>
              <a:buChar char="•"/>
            </a:pPr>
            <a:r>
              <a:rPr lang="en-US" sz="2400" dirty="0">
                <a:solidFill>
                  <a:srgbClr val="14212B"/>
                </a:solidFill>
                <a:latin typeface="Calibri" pitchFamily="34" charset="0"/>
                <a:ea typeface="Calibri" pitchFamily="34" charset="-122"/>
                <a:cs typeface="Calibri" pitchFamily="34" charset="-120"/>
              </a:rPr>
              <a:t>Search state (x, y, θ₀, ψ) on a 0.5 m × 5° × 12° lattice [4]</a:t>
            </a:r>
            <a:endParaRPr lang="en-US" sz="2400" dirty="0"/>
          </a:p>
          <a:p>
            <a:pPr marL="342900" indent="-342900">
              <a:spcAft>
                <a:spcPts val="600"/>
              </a:spcAft>
              <a:buSzPct val="100000"/>
              <a:buChar char="•"/>
            </a:pPr>
            <a:r>
              <a:rPr lang="en-US" sz="2400" dirty="0">
                <a:solidFill>
                  <a:srgbClr val="14212B"/>
                </a:solidFill>
                <a:latin typeface="Calibri" pitchFamily="34" charset="0"/>
                <a:ea typeface="Calibri" pitchFamily="34" charset="-122"/>
                <a:cs typeface="Calibri" pitchFamily="34" charset="-120"/>
              </a:rPr>
              <a:t>10 motion primitives per node: 2 gears × ψdes ∈ {0, ±25°, ±45°}, 2 m each</a:t>
            </a:r>
            <a:endParaRPr lang="en-US" sz="2400" dirty="0"/>
          </a:p>
          <a:p>
            <a:pPr marL="342900" indent="-342900">
              <a:spcAft>
                <a:spcPts val="600"/>
              </a:spcAft>
              <a:buSzPct val="100000"/>
              <a:buChar char="•"/>
            </a:pPr>
            <a:r>
              <a:rPr lang="en-US" sz="2400" dirty="0">
                <a:solidFill>
                  <a:srgbClr val="14212B"/>
                </a:solidFill>
                <a:latin typeface="Calibri" pitchFamily="34" charset="0"/>
                <a:ea typeface="Calibri" pitchFamily="34" charset="-122"/>
                <a:cs typeface="Calibri" pitchFamily="34" charset="-120"/>
              </a:rPr>
              <a:t>Pruned if |ψ| &gt; 52° or clearance &lt; 0.35 m (signed-distance field)</a:t>
            </a:r>
            <a:endParaRPr lang="en-US" sz="2400" dirty="0"/>
          </a:p>
        </p:txBody>
      </p:sp>
      <p:pic>
        <p:nvPicPr>
          <p:cNvPr id="5" name="Image 0" descr="g equals sum of path length times gear cost plus steering, steering change, hitch and gear-switch penalties">    </p:cNvPr>
          <p:cNvPicPr>
            <a:picLocks noChangeAspect="1"/>
          </p:cNvPicPr>
          <p:nvPr/>
        </p:nvPicPr>
        <p:blipFill>
          <a:blip r:embed="rId1"/>
          <a:stretch>
            <a:fillRect/>
          </a:stretch>
        </p:blipFill>
        <p:spPr>
          <a:xfrm>
            <a:off x="548640" y="2788920"/>
            <a:ext cx="9659112" cy="707136"/>
          </a:xfrm>
          <a:prstGeom prst="rect">
            <a:avLst/>
          </a:prstGeom>
        </p:spPr>
      </p:pic>
      <p:sp>
        <p:nvSpPr>
          <p:cNvPr id="6" name="Text 3"/>
          <p:cNvSpPr txBox="1"/>
          <p:nvPr/>
        </p:nvSpPr>
        <p:spPr>
          <a:xfrm>
            <a:off x="548640" y="3657600"/>
            <a:ext cx="5852160" cy="2468880"/>
          </a:xfrm>
          <a:prstGeom prst="rect">
            <a:avLst/>
          </a:prstGeom>
          <a:noFill/>
          <a:ln/>
        </p:spPr>
        <p:txBody>
          <a:bodyPr wrap="square" lIns="0" tIns="0" rIns="0" bIns="0" rtlCol="0" anchor="t"/>
          <a:lstStyle/>
          <a:p>
            <a:pPr marL="342900" indent="-342900">
              <a:spcAft>
                <a:spcPts val="400"/>
              </a:spcAft>
              <a:buSzPct val="100000"/>
              <a:buChar char="•"/>
            </a:pPr>
            <a:r>
              <a:rPr lang="en-US" sz="2400" b="1" dirty="0">
                <a:solidFill>
                  <a:srgbClr val="14212B"/>
                </a:solidFill>
                <a:latin typeface="Calibri" pitchFamily="34" charset="0"/>
                <a:ea typeface="Calibri" pitchFamily="34" charset="-122"/>
                <a:cs typeface="Calibri" pitchFamily="34" charset="-120"/>
              </a:rPr>
              <a:t>c_gear: </a:t>
            </a:r>
            <a:pPr indent="0" marL="0">
              <a:buNone/>
            </a:pPr>
            <a:r>
              <a:rPr lang="en-US" sz="2400" dirty="0">
                <a:solidFill>
                  <a:srgbClr val="14212B"/>
                </a:solidFill>
                <a:latin typeface="Calibri" pitchFamily="34" charset="0"/>
                <a:ea typeface="Calibri" pitchFamily="34" charset="-122"/>
                <a:cs typeface="Calibri" pitchFamily="34" charset="-120"/>
              </a:rPr>
              <a:t>1.0 forward, 1.4 reverse</a:t>
            </a:r>
            <a:endParaRPr lang="en-US" sz="2400" dirty="0"/>
          </a:p>
          <a:p>
            <a:pPr marL="342900" indent="-342900">
              <a:spcAft>
                <a:spcPts val="400"/>
              </a:spcAft>
              <a:buSzPct val="100000"/>
              <a:buChar char="•"/>
            </a:pPr>
            <a:r>
              <a:rPr lang="en-US" sz="2400" b="1" dirty="0">
                <a:solidFill>
                  <a:srgbClr val="14212B"/>
                </a:solidFill>
                <a:latin typeface="Calibri" pitchFamily="34" charset="0"/>
                <a:ea typeface="Calibri" pitchFamily="34" charset="-122"/>
                <a:cs typeface="Calibri" pitchFamily="34" charset="-120"/>
              </a:rPr>
              <a:t>ψdes, Δψdes: </a:t>
            </a:r>
            <a:pPr indent="0" marL="0">
              <a:buNone/>
            </a:pPr>
            <a:r>
              <a:rPr lang="en-US" sz="2400" dirty="0">
                <a:solidFill>
                  <a:srgbClr val="14212B"/>
                </a:solidFill>
                <a:latin typeface="Calibri" pitchFamily="34" charset="0"/>
                <a:ea typeface="Calibri" pitchFamily="34" charset="-122"/>
                <a:cs typeface="Calibri" pitchFamily="34" charset="-120"/>
              </a:rPr>
              <a:t>gentle, steady steering</a:t>
            </a:r>
            <a:endParaRPr lang="en-US" sz="2400" dirty="0"/>
          </a:p>
          <a:p>
            <a:pPr marL="342900" indent="-342900">
              <a:spcAft>
                <a:spcPts val="400"/>
              </a:spcAft>
              <a:buSzPct val="100000"/>
              <a:buChar char="•"/>
            </a:pPr>
            <a:r>
              <a:rPr lang="en-US" sz="2400" b="1" dirty="0">
                <a:solidFill>
                  <a:srgbClr val="14212B"/>
                </a:solidFill>
                <a:latin typeface="Calibri" pitchFamily="34" charset="0"/>
                <a:ea typeface="Calibri" pitchFamily="34" charset="-122"/>
                <a:cs typeface="Calibri" pitchFamily="34" charset="-120"/>
              </a:rPr>
              <a:t>|ψ| / ψplan: </a:t>
            </a:r>
            <a:pPr indent="0" marL="0">
              <a:buNone/>
            </a:pPr>
            <a:r>
              <a:rPr lang="en-US" sz="2400" dirty="0">
                <a:solidFill>
                  <a:srgbClr val="14212B"/>
                </a:solidFill>
                <a:latin typeface="Calibri" pitchFamily="34" charset="0"/>
                <a:ea typeface="Calibri" pitchFamily="34" charset="-122"/>
                <a:cs typeface="Calibri" pitchFamily="34" charset="-120"/>
              </a:rPr>
              <a:t>keep the hitch straight</a:t>
            </a:r>
            <a:endParaRPr lang="en-US" sz="2400" dirty="0"/>
          </a:p>
          <a:p>
            <a:pPr marL="342900" indent="-342900">
              <a:spcAft>
                <a:spcPts val="400"/>
              </a:spcAft>
              <a:buSzPct val="100000"/>
              <a:buChar char="•"/>
            </a:pPr>
            <a:r>
              <a:rPr lang="en-US" sz="2400" b="1" dirty="0">
                <a:solidFill>
                  <a:srgbClr val="14212B"/>
                </a:solidFill>
                <a:latin typeface="Calibri" pitchFamily="34" charset="0"/>
                <a:ea typeface="Calibri" pitchFamily="34" charset="-122"/>
                <a:cs typeface="Calibri" pitchFamily="34" charset="-120"/>
              </a:rPr>
              <a:t>switch: </a:t>
            </a:r>
            <a:pPr indent="0" marL="0">
              <a:buNone/>
            </a:pPr>
            <a:r>
              <a:rPr lang="en-US" sz="2400" dirty="0">
                <a:solidFill>
                  <a:srgbClr val="14212B"/>
                </a:solidFill>
                <a:latin typeface="Calibri" pitchFamily="34" charset="0"/>
                <a:ea typeface="Calibri" pitchFamily="34" charset="-122"/>
                <a:cs typeface="Calibri" pitchFamily="34" charset="-120"/>
              </a:rPr>
              <a:t>+6 per gear change</a:t>
            </a:r>
            <a:endParaRPr lang="en-US" sz="2400" dirty="0"/>
          </a:p>
        </p:txBody>
      </p:sp>
      <p:pic>
        <p:nvPicPr>
          <p:cNvPr id="7" name="Image 1" descr="Ten motion primitives from one pose: five forward, five reverse">    </p:cNvPr>
          <p:cNvPicPr>
            <a:picLocks noChangeAspect="1"/>
          </p:cNvPicPr>
          <p:nvPr/>
        </p:nvPicPr>
        <p:blipFill>
          <a:blip r:embed="rId2"/>
          <a:stretch>
            <a:fillRect/>
          </a:stretch>
        </p:blipFill>
        <p:spPr>
          <a:xfrm>
            <a:off x="6675120" y="3703320"/>
            <a:ext cx="4937760" cy="1920240"/>
          </a:xfrm>
          <a:prstGeom prst="rect">
            <a:avLst/>
          </a:prstGeom>
        </p:spPr>
      </p:pic>
      <p:sp>
        <p:nvSpPr>
          <p:cNvPr id="8" name="Text 4"/>
          <p:cNvSpPr txBox="1"/>
          <p:nvPr/>
        </p:nvSpPr>
        <p:spPr>
          <a:xfrm>
            <a:off x="6675120" y="5669280"/>
            <a:ext cx="4937760" cy="411480"/>
          </a:xfrm>
          <a:prstGeom prst="rect">
            <a:avLst/>
          </a:prstGeom>
          <a:noFill/>
          <a:ln/>
        </p:spPr>
        <p:txBody>
          <a:bodyPr wrap="square" lIns="0" tIns="0" rIns="0" bIns="0" rtlCol="0" anchor="t"/>
          <a:lstStyle/>
          <a:p>
            <a:pPr algn="ctr" indent="0" marL="0">
              <a:buNone/>
            </a:pPr>
            <a:r>
              <a:rPr lang="en-US" sz="2400" dirty="0">
                <a:solidFill>
                  <a:srgbClr val="44546A"/>
                </a:solidFill>
                <a:latin typeface="Calibri" pitchFamily="34" charset="0"/>
                <a:ea typeface="Calibri" pitchFamily="34" charset="-122"/>
                <a:cs typeface="Calibri" pitchFamily="34" charset="-120"/>
              </a:rPr>
              <a:t>Primitives from one pose</a:t>
            </a:r>
            <a:endParaRPr lang="en-US" sz="2400" dirty="0"/>
          </a:p>
        </p:txBody>
      </p:sp>
      <p:sp>
        <p:nvSpPr>
          <p:cNvPr id="25" name="Slide Number Placeholder 0"/>
          <p:cNvSpPr>
            <a:spLocks noGrp="1"/>
          </p:cNvSpPr>
          <p:nvPr>
            <p:ph type="sldNum" sz="quarter" idx="4294967295"/>
          </p:nvPr>
        </p:nvSpPr>
        <p:spPr>
          <a:xfrm>
            <a:off x="10744200" y="6309360"/>
            <a:ext cx="91440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0E7C86"/>
                </a:solidFill>
                <a:latin typeface="Calibri"/>
                <a:ea typeface="Calibri"/>
                <a:cs typeface="Calibri"/>
              </a:defRPr>
            </a:lvl1pPr>
          </a:lstStyle>
          <a:p>
            <a:pPr algn="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777240"/>
          </a:xfrm>
          <a:prstGeom prst="rect">
            <a:avLst/>
          </a:prstGeom>
          <a:noFill/>
          <a:ln/>
        </p:spPr>
        <p:txBody>
          <a:bodyPr wrap="square" lIns="0" tIns="0" rIns="0" bIns="0" rtlCol="0" anchor="ctr"/>
          <a:lstStyle/>
          <a:p>
            <a:pPr indent="0" marL="0">
              <a:buNone/>
            </a:pPr>
            <a:r>
              <a:rPr lang="en-US" sz="3400" b="1" dirty="0">
                <a:solidFill>
                  <a:srgbClr val="14212B"/>
                </a:solidFill>
                <a:latin typeface="Cambria" pitchFamily="34" charset="0"/>
                <a:ea typeface="Cambria" pitchFamily="34" charset="-122"/>
                <a:cs typeface="Cambria" pitchFamily="34" charset="-120"/>
              </a:rPr>
              <a:t>Hybrid A* planner: heuristic and final approach</a:t>
            </a:r>
            <a:endParaRPr lang="en-US" sz="3400" dirty="0"/>
          </a:p>
        </p:txBody>
      </p:sp>
      <p:sp>
        <p:nvSpPr>
          <p:cNvPr id="3" name="Text 1"/>
          <p:cNvSpPr txBox="1"/>
          <p:nvPr/>
        </p:nvSpPr>
        <p:spPr>
          <a:xfrm>
            <a:off x="548640" y="6309360"/>
            <a:ext cx="8229600" cy="411480"/>
          </a:xfrm>
          <a:prstGeom prst="rect">
            <a:avLst/>
          </a:prstGeom>
          <a:noFill/>
          <a:ln/>
        </p:spPr>
        <p:txBody>
          <a:bodyPr wrap="square" lIns="0" tIns="0" rIns="0" bIns="0" rtlCol="0" anchor="ctr"/>
          <a:lstStyle/>
          <a:p>
            <a:pPr indent="0" marL="0">
              <a:buNone/>
            </a:pPr>
            <a:r>
              <a:rPr lang="en-US" sz="2400" dirty="0">
                <a:solidFill>
                  <a:srgbClr val="44546A"/>
                </a:solidFill>
                <a:latin typeface="Calibri" pitchFamily="34" charset="0"/>
                <a:ea typeface="Calibri" pitchFamily="34" charset="-122"/>
                <a:cs typeface="Calibri" pitchFamily="34" charset="-120"/>
              </a:rPr>
              <a:t>Methodology · planner</a:t>
            </a:r>
            <a:endParaRPr lang="en-US" sz="2400" dirty="0"/>
          </a:p>
        </p:txBody>
      </p:sp>
      <p:sp>
        <p:nvSpPr>
          <p:cNvPr id="4" name="Text 2"/>
          <p:cNvSpPr txBox="1"/>
          <p:nvPr/>
        </p:nvSpPr>
        <p:spPr>
          <a:xfrm>
            <a:off x="548640" y="1280160"/>
            <a:ext cx="6766560" cy="411480"/>
          </a:xfrm>
          <a:prstGeom prst="rect">
            <a:avLst/>
          </a:prstGeom>
          <a:noFill/>
          <a:ln/>
        </p:spPr>
        <p:txBody>
          <a:bodyPr wrap="square" lIns="0" tIns="0" rIns="0" bIns="0" rtlCol="0" anchor="t"/>
          <a:lstStyle/>
          <a:p>
            <a:pPr algn="l" indent="0" marL="0">
              <a:buNone/>
            </a:pPr>
            <a:r>
              <a:rPr lang="en-US" sz="2400" dirty="0">
                <a:solidFill>
                  <a:srgbClr val="44546A"/>
                </a:solidFill>
                <a:latin typeface="Calibri" pitchFamily="34" charset="0"/>
                <a:ea typeface="Calibri" pitchFamily="34" charset="-122"/>
                <a:cs typeface="Calibri" pitchFamily="34" charset="-120"/>
              </a:rPr>
              <a:t>Flat output: trailer-axle curvature fixes ψ</a:t>
            </a:r>
            <a:endParaRPr lang="en-US" sz="2400" dirty="0"/>
          </a:p>
        </p:txBody>
      </p:sp>
      <p:pic>
        <p:nvPicPr>
          <p:cNvPr id="5" name="Image 0" descr="kappa1 equals tan psi over L2, equivalently psi equals arctan of L2 kappa1">    </p:cNvPr>
          <p:cNvPicPr>
            <a:picLocks noChangeAspect="1"/>
          </p:cNvPicPr>
          <p:nvPr/>
        </p:nvPicPr>
        <p:blipFill>
          <a:blip r:embed="rId1"/>
          <a:stretch>
            <a:fillRect/>
          </a:stretch>
        </p:blipFill>
        <p:spPr>
          <a:xfrm>
            <a:off x="548640" y="1691640"/>
            <a:ext cx="5574792" cy="670560"/>
          </a:xfrm>
          <a:prstGeom prst="rect">
            <a:avLst/>
          </a:prstGeom>
        </p:spPr>
      </p:pic>
      <p:sp>
        <p:nvSpPr>
          <p:cNvPr id="6" name="Text 3"/>
          <p:cNvSpPr txBox="1"/>
          <p:nvPr/>
        </p:nvSpPr>
        <p:spPr>
          <a:xfrm>
            <a:off x="548640" y="2514600"/>
            <a:ext cx="6766560" cy="411480"/>
          </a:xfrm>
          <a:prstGeom prst="rect">
            <a:avLst/>
          </a:prstGeom>
          <a:noFill/>
          <a:ln/>
        </p:spPr>
        <p:txBody>
          <a:bodyPr wrap="square" lIns="0" tIns="0" rIns="0" bIns="0" rtlCol="0" anchor="t"/>
          <a:lstStyle/>
          <a:p>
            <a:pPr algn="l" indent="0" marL="0">
              <a:buNone/>
            </a:pPr>
            <a:r>
              <a:rPr lang="en-US" sz="2400" dirty="0">
                <a:solidFill>
                  <a:srgbClr val="44546A"/>
                </a:solidFill>
                <a:latin typeface="Calibri" pitchFamily="34" charset="0"/>
                <a:ea typeface="Calibri" pitchFamily="34" charset="-122"/>
                <a:cs typeface="Calibri" pitchFamily="34" charset="-120"/>
              </a:rPr>
              <a:t>Heuristic (cost-to-go estimate):</a:t>
            </a:r>
            <a:endParaRPr lang="en-US" sz="2400" dirty="0"/>
          </a:p>
        </p:txBody>
      </p:sp>
      <p:pic>
        <p:nvPicPr>
          <p:cNvPr id="7" name="Image 1" descr="h equals epsilon times max of trailer Dubins distance and grid distance plus 3 absolute psi, epsilon 3">    </p:cNvPr>
          <p:cNvPicPr>
            <a:picLocks noChangeAspect="1"/>
          </p:cNvPicPr>
          <p:nvPr/>
        </p:nvPicPr>
        <p:blipFill>
          <a:blip r:embed="rId2"/>
          <a:stretch>
            <a:fillRect/>
          </a:stretch>
        </p:blipFill>
        <p:spPr>
          <a:xfrm>
            <a:off x="548640" y="2926080"/>
            <a:ext cx="6534912" cy="518160"/>
          </a:xfrm>
          <a:prstGeom prst="rect">
            <a:avLst/>
          </a:prstGeom>
        </p:spPr>
      </p:pic>
      <p:sp>
        <p:nvSpPr>
          <p:cNvPr id="8" name="Text 4"/>
          <p:cNvSpPr txBox="1"/>
          <p:nvPr/>
        </p:nvSpPr>
        <p:spPr>
          <a:xfrm>
            <a:off x="548640" y="3611880"/>
            <a:ext cx="6766560" cy="2560320"/>
          </a:xfrm>
          <a:prstGeom prst="rect">
            <a:avLst/>
          </a:prstGeom>
          <a:noFill/>
          <a:ln/>
        </p:spPr>
        <p:txBody>
          <a:bodyPr wrap="square" lIns="0" tIns="0" rIns="0" bIns="0" rtlCol="0" anchor="t"/>
          <a:lstStyle/>
          <a:p>
            <a:pPr marL="342900" indent="-342900">
              <a:spcAft>
                <a:spcPts val="800"/>
              </a:spcAft>
              <a:buSzPct val="100000"/>
              <a:buChar char="•"/>
            </a:pPr>
            <a:r>
              <a:rPr lang="en-US" sz="2400" b="1" dirty="0">
                <a:solidFill>
                  <a:srgbClr val="14212B"/>
                </a:solidFill>
                <a:latin typeface="Calibri" pitchFamily="34" charset="0"/>
                <a:ea typeface="Calibri" pitchFamily="34" charset="-122"/>
                <a:cs typeface="Calibri" pitchFamily="34" charset="-120"/>
              </a:rPr>
              <a:t>Trailer axle ≈ a car </a:t>
            </a:r>
            <a:pPr indent="0" marL="0">
              <a:buNone/>
            </a:pPr>
            <a:r>
              <a:rPr lang="en-US" sz="2400" dirty="0">
                <a:solidFill>
                  <a:srgbClr val="14212B"/>
                </a:solidFill>
                <a:latin typeface="Calibri" pitchFamily="34" charset="0"/>
                <a:ea typeface="Calibri" pitchFamily="34" charset="-122"/>
                <a:cs typeface="Calibri" pitchFamily="34" charset="-120"/>
              </a:rPr>
              <a:t>whose “steering” is ψ ⇒ Dubins path [5], ρ = 10 m</a:t>
            </a:r>
            <a:endParaRPr lang="en-US" sz="2400" dirty="0"/>
          </a:p>
          <a:p>
            <a:pPr marL="342900" indent="-342900">
              <a:spcAft>
                <a:spcPts val="800"/>
              </a:spcAft>
              <a:buSzPct val="100000"/>
              <a:buChar char="•"/>
            </a:pPr>
            <a:r>
              <a:rPr lang="en-US" sz="2400" b="1" dirty="0">
                <a:solidFill>
                  <a:srgbClr val="14212B"/>
                </a:solidFill>
                <a:latin typeface="Calibri" pitchFamily="34" charset="0"/>
                <a:ea typeface="Calibri" pitchFamily="34" charset="-122"/>
                <a:cs typeface="Calibri" pitchFamily="34" charset="-120"/>
              </a:rPr>
              <a:t>ε = 3: </a:t>
            </a:r>
            <a:pPr indent="0" marL="0">
              <a:buNone/>
            </a:pPr>
            <a:r>
              <a:rPr lang="en-US" sz="2400" dirty="0">
                <a:solidFill>
                  <a:srgbClr val="14212B"/>
                </a:solidFill>
                <a:latin typeface="Calibri" pitchFamily="34" charset="0"/>
                <a:ea typeface="Calibri" pitchFamily="34" charset="-122"/>
                <a:cs typeface="Calibri" pitchFamily="34" charset="-120"/>
              </a:rPr>
              <a:t>weighted A*, plans in 0.1–6 s</a:t>
            </a:r>
            <a:endParaRPr lang="en-US" sz="2400" dirty="0"/>
          </a:p>
          <a:p>
            <a:pPr marL="342900" indent="-342900">
              <a:spcAft>
                <a:spcPts val="800"/>
              </a:spcAft>
              <a:buSzPct val="100000"/>
              <a:buChar char="•"/>
            </a:pPr>
            <a:r>
              <a:rPr lang="en-US" sz="2400" b="1" dirty="0">
                <a:solidFill>
                  <a:srgbClr val="14212B"/>
                </a:solidFill>
                <a:latin typeface="Calibri" pitchFamily="34" charset="0"/>
                <a:ea typeface="Calibri" pitchFamily="34" charset="-122"/>
                <a:cs typeface="Calibri" pitchFamily="34" charset="-120"/>
              </a:rPr>
              <a:t>Analytic shot: </a:t>
            </a:r>
            <a:pPr indent="0" marL="0">
              <a:buNone/>
            </a:pPr>
            <a:r>
              <a:rPr lang="en-US" sz="2400" dirty="0">
                <a:solidFill>
                  <a:srgbClr val="14212B"/>
                </a:solidFill>
                <a:latin typeface="Calibri" pitchFamily="34" charset="0"/>
                <a:ea typeface="Calibri" pitchFamily="34" charset="-122"/>
                <a:cs typeface="Calibri" pitchFamily="34" charset="-120"/>
              </a:rPr>
              <a:t>Dubins path simulated on the real model; kept only if collision-free and it ends in the bay</a:t>
            </a:r>
            <a:endParaRPr lang="en-US" sz="2400" dirty="0"/>
          </a:p>
        </p:txBody>
      </p:sp>
      <p:pic>
        <p:nvPicPr>
          <p:cNvPr id="9" name="Image 2" descr="Shortest Dubins path for the trailer axle: turn, straight, turn">    </p:cNvPr>
          <p:cNvPicPr>
            <a:picLocks noChangeAspect="1"/>
          </p:cNvPicPr>
          <p:nvPr/>
        </p:nvPicPr>
        <p:blipFill>
          <a:blip r:embed="rId3"/>
          <a:stretch>
            <a:fillRect/>
          </a:stretch>
        </p:blipFill>
        <p:spPr>
          <a:xfrm>
            <a:off x="7498080" y="1371600"/>
            <a:ext cx="4206240" cy="3657600"/>
          </a:xfrm>
          <a:prstGeom prst="rect">
            <a:avLst/>
          </a:prstGeom>
        </p:spPr>
      </p:pic>
      <p:sp>
        <p:nvSpPr>
          <p:cNvPr id="25" name="Slide Number Placeholder 0"/>
          <p:cNvSpPr>
            <a:spLocks noGrp="1"/>
          </p:cNvSpPr>
          <p:nvPr>
            <p:ph type="sldNum" sz="quarter" idx="4294967295"/>
          </p:nvPr>
        </p:nvSpPr>
        <p:spPr>
          <a:xfrm>
            <a:off x="10744200" y="6309360"/>
            <a:ext cx="91440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0E7C86"/>
                </a:solidFill>
                <a:latin typeface="Calibri"/>
                <a:ea typeface="Calibri"/>
                <a:cs typeface="Calibri"/>
              </a:defRPr>
            </a:lvl1pPr>
          </a:lstStyle>
          <a:p>
            <a:pPr algn="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777240"/>
          </a:xfrm>
          <a:prstGeom prst="rect">
            <a:avLst/>
          </a:prstGeom>
          <a:noFill/>
          <a:ln/>
        </p:spPr>
        <p:txBody>
          <a:bodyPr wrap="square" lIns="0" tIns="0" rIns="0" bIns="0" rtlCol="0" anchor="ctr"/>
          <a:lstStyle/>
          <a:p>
            <a:pPr indent="0" marL="0">
              <a:buNone/>
            </a:pPr>
            <a:r>
              <a:rPr lang="en-US" sz="3400" b="1" dirty="0">
                <a:solidFill>
                  <a:srgbClr val="14212B"/>
                </a:solidFill>
                <a:latin typeface="Cambria" pitchFamily="34" charset="0"/>
                <a:ea typeface="Cambria" pitchFamily="34" charset="-122"/>
                <a:cs typeface="Cambria" pitchFamily="34" charset="-120"/>
              </a:rPr>
              <a:t>NMPC: the optimisation problem</a:t>
            </a:r>
            <a:endParaRPr lang="en-US" sz="3400" dirty="0"/>
          </a:p>
        </p:txBody>
      </p:sp>
      <p:sp>
        <p:nvSpPr>
          <p:cNvPr id="3" name="Text 1"/>
          <p:cNvSpPr txBox="1"/>
          <p:nvPr/>
        </p:nvSpPr>
        <p:spPr>
          <a:xfrm>
            <a:off x="548640" y="6309360"/>
            <a:ext cx="8229600" cy="411480"/>
          </a:xfrm>
          <a:prstGeom prst="rect">
            <a:avLst/>
          </a:prstGeom>
          <a:noFill/>
          <a:ln/>
        </p:spPr>
        <p:txBody>
          <a:bodyPr wrap="square" lIns="0" tIns="0" rIns="0" bIns="0" rtlCol="0" anchor="ctr"/>
          <a:lstStyle/>
          <a:p>
            <a:pPr indent="0" marL="0">
              <a:buNone/>
            </a:pPr>
            <a:r>
              <a:rPr lang="en-US" sz="2400" dirty="0">
                <a:solidFill>
                  <a:srgbClr val="44546A"/>
                </a:solidFill>
                <a:latin typeface="Calibri" pitchFamily="34" charset="0"/>
                <a:ea typeface="Calibri" pitchFamily="34" charset="-122"/>
                <a:cs typeface="Calibri" pitchFamily="34" charset="-120"/>
              </a:rPr>
              <a:t>Methodology · NMPC</a:t>
            </a:r>
            <a:endParaRPr lang="en-US" sz="2400" dirty="0"/>
          </a:p>
        </p:txBody>
      </p:sp>
      <p:sp>
        <p:nvSpPr>
          <p:cNvPr id="4" name="Text 2"/>
          <p:cNvSpPr txBox="1"/>
          <p:nvPr/>
        </p:nvSpPr>
        <p:spPr>
          <a:xfrm>
            <a:off x="548640" y="1234440"/>
            <a:ext cx="10972800" cy="411480"/>
          </a:xfrm>
          <a:prstGeom prst="rect">
            <a:avLst/>
          </a:prstGeom>
          <a:noFill/>
          <a:ln/>
        </p:spPr>
        <p:txBody>
          <a:bodyPr wrap="square" lIns="0" tIns="0" rIns="0" bIns="0" rtlCol="0" anchor="t"/>
          <a:lstStyle/>
          <a:p>
            <a:pPr algn="l" indent="0" marL="0">
              <a:buNone/>
            </a:pPr>
            <a:r>
              <a:rPr lang="en-US" sz="2400" dirty="0">
                <a:solidFill>
                  <a:srgbClr val="44546A"/>
                </a:solidFill>
                <a:latin typeface="Calibri" pitchFamily="34" charset="0"/>
                <a:ea typeface="Calibri" pitchFamily="34" charset="-122"/>
                <a:cs typeface="Calibri" pitchFamily="34" charset="-120"/>
              </a:rPr>
              <a:t>Our formulation:</a:t>
            </a:r>
            <a:endParaRPr lang="en-US" sz="2400" dirty="0"/>
          </a:p>
        </p:txBody>
      </p:sp>
      <p:pic>
        <p:nvPicPr>
          <p:cNvPr id="5" name="Image 0" descr="J equals sum of X minus X ref squared weighted by Q plus U squared weighted by R plus delta U squared weighted by S">    </p:cNvPr>
          <p:cNvPicPr>
            <a:picLocks noChangeAspect="1"/>
          </p:cNvPicPr>
          <p:nvPr/>
        </p:nvPicPr>
        <p:blipFill>
          <a:blip r:embed="rId1"/>
          <a:stretch>
            <a:fillRect/>
          </a:stretch>
        </p:blipFill>
        <p:spPr>
          <a:xfrm>
            <a:off x="548640" y="1645920"/>
            <a:ext cx="6867144" cy="588264"/>
          </a:xfrm>
          <a:prstGeom prst="rect">
            <a:avLst/>
          </a:prstGeom>
        </p:spPr>
      </p:pic>
      <p:sp>
        <p:nvSpPr>
          <p:cNvPr id="6" name="Text 3"/>
          <p:cNvSpPr txBox="1"/>
          <p:nvPr/>
        </p:nvSpPr>
        <p:spPr>
          <a:xfrm>
            <a:off x="548640" y="2377440"/>
            <a:ext cx="10972800" cy="411480"/>
          </a:xfrm>
          <a:prstGeom prst="rect">
            <a:avLst/>
          </a:prstGeom>
          <a:noFill/>
          <a:ln/>
        </p:spPr>
        <p:txBody>
          <a:bodyPr wrap="square" lIns="0" tIns="0" rIns="0" bIns="0" rtlCol="0" anchor="t"/>
          <a:lstStyle/>
          <a:p>
            <a:pPr algn="l" indent="0" marL="0">
              <a:buNone/>
            </a:pPr>
            <a:r>
              <a:rPr lang="en-US" sz="2400" dirty="0">
                <a:solidFill>
                  <a:srgbClr val="44546A"/>
                </a:solidFill>
                <a:latin typeface="Calibri" pitchFamily="34" charset="0"/>
                <a:ea typeface="Calibri" pitchFamily="34" charset="-122"/>
                <a:cs typeface="Calibri" pitchFamily="34" charset="-120"/>
              </a:rPr>
              <a:t>Implemented: horizon 24 × 0.4 s = 9.6 s, 8 steering blocks</a:t>
            </a:r>
            <a:endParaRPr lang="en-US" sz="2400" dirty="0"/>
          </a:p>
        </p:txBody>
      </p:sp>
      <p:pic>
        <p:nvPicPr>
          <p:cNvPr id="7" name="Image 1" descr="minimise over u1 to u8 of J, the sum over 24 steps of stage cost plus terminal cost plus R sum u squared plus S sum of u differences squared">    </p:cNvPr>
          <p:cNvPicPr>
            <a:picLocks noChangeAspect="1"/>
          </p:cNvPicPr>
          <p:nvPr/>
        </p:nvPicPr>
        <p:blipFill>
          <a:blip r:embed="rId2"/>
          <a:stretch>
            <a:fillRect/>
          </a:stretch>
        </p:blipFill>
        <p:spPr>
          <a:xfrm>
            <a:off x="548640" y="2788920"/>
            <a:ext cx="10098024" cy="1097280"/>
          </a:xfrm>
          <a:prstGeom prst="rect">
            <a:avLst/>
          </a:prstGeom>
        </p:spPr>
      </p:pic>
      <p:pic>
        <p:nvPicPr>
          <p:cNvPr id="8" name="Image 2" descr="stage cost weights trailer position 0.6, trailer heading 1.5, hitch 15, tractor position 0.15, tractor heading 0.3">    </p:cNvPr>
          <p:cNvPicPr>
            <a:picLocks noChangeAspect="1"/>
          </p:cNvPicPr>
          <p:nvPr/>
        </p:nvPicPr>
        <p:blipFill>
          <a:blip r:embed="rId3"/>
          <a:stretch>
            <a:fillRect/>
          </a:stretch>
        </p:blipFill>
        <p:spPr>
          <a:xfrm>
            <a:off x="548640" y="3977640"/>
            <a:ext cx="9601200" cy="576072"/>
          </a:xfrm>
          <a:prstGeom prst="rect">
            <a:avLst/>
          </a:prstGeom>
        </p:spPr>
      </p:pic>
      <p:pic>
        <p:nvPicPr>
          <p:cNvPr id="9" name="Image 3" descr="terminal cost weights and R 0.02, S 3">    </p:cNvPr>
          <p:cNvPicPr>
            <a:picLocks noChangeAspect="1"/>
          </p:cNvPicPr>
          <p:nvPr/>
        </p:nvPicPr>
        <p:blipFill>
          <a:blip r:embed="rId4"/>
          <a:stretch>
            <a:fillRect/>
          </a:stretch>
        </p:blipFill>
        <p:spPr>
          <a:xfrm>
            <a:off x="548640" y="4663440"/>
            <a:ext cx="8927592" cy="533400"/>
          </a:xfrm>
          <a:prstGeom prst="rect">
            <a:avLst/>
          </a:prstGeom>
        </p:spPr>
      </p:pic>
      <p:sp>
        <p:nvSpPr>
          <p:cNvPr id="10" name="Text 4"/>
          <p:cNvSpPr txBox="1"/>
          <p:nvPr/>
        </p:nvSpPr>
        <p:spPr>
          <a:xfrm>
            <a:off x="548640" y="5349240"/>
            <a:ext cx="11064240" cy="822960"/>
          </a:xfrm>
          <a:prstGeom prst="rect">
            <a:avLst/>
          </a:prstGeom>
          <a:noFill/>
          <a:ln/>
        </p:spPr>
        <p:txBody>
          <a:bodyPr wrap="square" lIns="0" tIns="0" rIns="0" bIns="0" rtlCol="0" anchor="t"/>
          <a:lstStyle/>
          <a:p>
            <a:pPr algn="l" indent="0" marL="0">
              <a:buNone/>
            </a:pPr>
            <a:r>
              <a:rPr lang="en-US" sz="2400" dirty="0">
                <a:solidFill>
                  <a:srgbClr val="14212B"/>
                </a:solidFill>
                <a:latin typeface="Calibri" pitchFamily="34" charset="0"/>
                <a:ea typeface="Calibri" pitchFamily="34" charset="-122"/>
                <a:cs typeface="Calibri" pitchFamily="34" charset="-120"/>
              </a:rPr>
              <a:t>p₁ = trailer axle: the main target, because in reverse the tractor axle is non-minimum-phase [2]</a:t>
            </a:r>
            <a:endParaRPr lang="en-US" sz="2400" dirty="0"/>
          </a:p>
        </p:txBody>
      </p:sp>
      <p:sp>
        <p:nvSpPr>
          <p:cNvPr id="25" name="Slide Number Placeholder 0"/>
          <p:cNvSpPr>
            <a:spLocks noGrp="1"/>
          </p:cNvSpPr>
          <p:nvPr>
            <p:ph type="sldNum" sz="quarter" idx="4294967295"/>
          </p:nvPr>
        </p:nvSpPr>
        <p:spPr>
          <a:xfrm>
            <a:off x="10744200" y="6309360"/>
            <a:ext cx="91440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0E7C86"/>
                </a:solidFill>
                <a:latin typeface="Calibri"/>
                <a:ea typeface="Calibri"/>
                <a:cs typeface="Calibri"/>
              </a:defRPr>
            </a:lvl1pPr>
          </a:lstStyle>
          <a:p>
            <a:pPr algn="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777240"/>
          </a:xfrm>
          <a:prstGeom prst="rect">
            <a:avLst/>
          </a:prstGeom>
          <a:noFill/>
          <a:ln/>
        </p:spPr>
        <p:txBody>
          <a:bodyPr wrap="square" lIns="0" tIns="0" rIns="0" bIns="0" rtlCol="0" anchor="ctr"/>
          <a:lstStyle/>
          <a:p>
            <a:pPr indent="0" marL="0">
              <a:buNone/>
            </a:pPr>
            <a:r>
              <a:rPr lang="en-US" sz="3400" b="1" dirty="0">
                <a:solidFill>
                  <a:srgbClr val="14212B"/>
                </a:solidFill>
                <a:latin typeface="Cambria" pitchFamily="34" charset="0"/>
                <a:ea typeface="Cambria" pitchFamily="34" charset="-122"/>
                <a:cs typeface="Cambria" pitchFamily="34" charset="-120"/>
              </a:rPr>
              <a:t>NMPC: constraints and solution</a:t>
            </a:r>
            <a:endParaRPr lang="en-US" sz="3400" dirty="0"/>
          </a:p>
        </p:txBody>
      </p:sp>
      <p:sp>
        <p:nvSpPr>
          <p:cNvPr id="3" name="Text 1"/>
          <p:cNvSpPr txBox="1"/>
          <p:nvPr/>
        </p:nvSpPr>
        <p:spPr>
          <a:xfrm>
            <a:off x="548640" y="6309360"/>
            <a:ext cx="8229600" cy="411480"/>
          </a:xfrm>
          <a:prstGeom prst="rect">
            <a:avLst/>
          </a:prstGeom>
          <a:noFill/>
          <a:ln/>
        </p:spPr>
        <p:txBody>
          <a:bodyPr wrap="square" lIns="0" tIns="0" rIns="0" bIns="0" rtlCol="0" anchor="ctr"/>
          <a:lstStyle/>
          <a:p>
            <a:pPr indent="0" marL="0">
              <a:buNone/>
            </a:pPr>
            <a:r>
              <a:rPr lang="en-US" sz="2400" dirty="0">
                <a:solidFill>
                  <a:srgbClr val="44546A"/>
                </a:solidFill>
                <a:latin typeface="Calibri" pitchFamily="34" charset="0"/>
                <a:ea typeface="Calibri" pitchFamily="34" charset="-122"/>
                <a:cs typeface="Calibri" pitchFamily="34" charset="-120"/>
              </a:rPr>
              <a:t>Methodology · NMPC</a:t>
            </a:r>
            <a:endParaRPr lang="en-US" sz="2400" dirty="0"/>
          </a:p>
        </p:txBody>
      </p:sp>
      <p:sp>
        <p:nvSpPr>
          <p:cNvPr id="4" name="Text 2"/>
          <p:cNvSpPr txBox="1"/>
          <p:nvPr/>
        </p:nvSpPr>
        <p:spPr>
          <a:xfrm>
            <a:off x="548640" y="1234440"/>
            <a:ext cx="10972800" cy="411480"/>
          </a:xfrm>
          <a:prstGeom prst="rect">
            <a:avLst/>
          </a:prstGeom>
          <a:noFill/>
          <a:ln/>
        </p:spPr>
        <p:txBody>
          <a:bodyPr wrap="square" lIns="0" tIns="0" rIns="0" bIns="0" rtlCol="0" anchor="t"/>
          <a:lstStyle/>
          <a:p>
            <a:pPr algn="l" indent="0" marL="0">
              <a:buNone/>
            </a:pPr>
            <a:r>
              <a:rPr lang="en-US" sz="2400" dirty="0">
                <a:solidFill>
                  <a:srgbClr val="44546A"/>
                </a:solidFill>
                <a:latin typeface="Calibri" pitchFamily="34" charset="0"/>
                <a:ea typeface="Calibri" pitchFamily="34" charset="-122"/>
                <a:cs typeface="Calibri" pitchFamily="34" charset="-120"/>
              </a:rPr>
              <a:t>Single shooting, RK4 prediction:</a:t>
            </a:r>
            <a:endParaRPr lang="en-US" sz="2400" dirty="0"/>
          </a:p>
        </p:txBody>
      </p:sp>
      <p:pic>
        <p:nvPicPr>
          <p:cNvPr id="5" name="Image 0" descr="X k plus 1 equals RK4 of X k, v k and saturated planned steering plus correction u">    </p:cNvPr>
          <p:cNvPicPr>
            <a:picLocks noChangeAspect="1"/>
          </p:cNvPicPr>
          <p:nvPr/>
        </p:nvPicPr>
        <p:blipFill>
          <a:blip r:embed="rId1"/>
          <a:stretch>
            <a:fillRect/>
          </a:stretch>
        </p:blipFill>
        <p:spPr>
          <a:xfrm>
            <a:off x="548640" y="1645920"/>
            <a:ext cx="8089392" cy="573024"/>
          </a:xfrm>
          <a:prstGeom prst="rect">
            <a:avLst/>
          </a:prstGeom>
        </p:spPr>
      </p:pic>
      <p:sp>
        <p:nvSpPr>
          <p:cNvPr id="6" name="Text 3"/>
          <p:cNvSpPr txBox="1"/>
          <p:nvPr/>
        </p:nvSpPr>
        <p:spPr>
          <a:xfrm>
            <a:off x="548640" y="2331720"/>
            <a:ext cx="10972800" cy="411480"/>
          </a:xfrm>
          <a:prstGeom prst="rect">
            <a:avLst/>
          </a:prstGeom>
          <a:noFill/>
          <a:ln/>
        </p:spPr>
        <p:txBody>
          <a:bodyPr wrap="square" lIns="0" tIns="0" rIns="0" bIns="0" rtlCol="0" anchor="t"/>
          <a:lstStyle/>
          <a:p>
            <a:pPr algn="l" indent="0" marL="0">
              <a:buNone/>
            </a:pPr>
            <a:r>
              <a:rPr lang="en-US" sz="2400" dirty="0">
                <a:solidFill>
                  <a:srgbClr val="44546A"/>
                </a:solidFill>
                <a:latin typeface="Calibri" pitchFamily="34" charset="0"/>
                <a:ea typeface="Calibri" pitchFamily="34" charset="-122"/>
                <a:cs typeface="Calibri" pitchFamily="34" charset="-120"/>
              </a:rPr>
              <a:t>Hard constraints at every step k:</a:t>
            </a:r>
            <a:endParaRPr lang="en-US" sz="2400" dirty="0"/>
          </a:p>
        </p:txBody>
      </p:sp>
      <p:pic>
        <p:nvPicPr>
          <p:cNvPr id="7" name="Image 1" descr="absolute psi at most 60 degrees, correction at most 35 degrees, clearance at least 0.25 m">    </p:cNvPr>
          <p:cNvPicPr>
            <a:picLocks noChangeAspect="1"/>
          </p:cNvPicPr>
          <p:nvPr/>
        </p:nvPicPr>
        <p:blipFill>
          <a:blip r:embed="rId2"/>
          <a:stretch>
            <a:fillRect/>
          </a:stretch>
        </p:blipFill>
        <p:spPr>
          <a:xfrm>
            <a:off x="548640" y="2743200"/>
            <a:ext cx="6315456" cy="490728"/>
          </a:xfrm>
          <a:prstGeom prst="rect">
            <a:avLst/>
          </a:prstGeom>
        </p:spPr>
      </p:pic>
      <p:sp>
        <p:nvSpPr>
          <p:cNvPr id="8" name="Text 4"/>
          <p:cNvSpPr txBox="1"/>
          <p:nvPr/>
        </p:nvSpPr>
        <p:spPr>
          <a:xfrm>
            <a:off x="548640" y="3474720"/>
            <a:ext cx="5669280" cy="411480"/>
          </a:xfrm>
          <a:prstGeom prst="rect">
            <a:avLst/>
          </a:prstGeom>
          <a:noFill/>
          <a:ln/>
        </p:spPr>
        <p:txBody>
          <a:bodyPr wrap="square" lIns="0" tIns="0" rIns="0" bIns="0" rtlCol="0" anchor="t"/>
          <a:lstStyle/>
          <a:p>
            <a:pPr algn="l" indent="0" marL="0">
              <a:buNone/>
            </a:pPr>
            <a:r>
              <a:rPr lang="en-US" sz="2400" b="1" dirty="0">
                <a:solidFill>
                  <a:srgbClr val="0E7C86"/>
                </a:solidFill>
                <a:latin typeface="Calibri" pitchFamily="34" charset="0"/>
                <a:ea typeface="Calibri" pitchFamily="34" charset="-122"/>
                <a:cs typeface="Calibri" pitchFamily="34" charset="-120"/>
              </a:rPr>
              <a:t>horizon 9.6 s = 8 × 1.2 s</a:t>
            </a:r>
            <a:endParaRPr lang="en-US" sz="2400" dirty="0"/>
          </a:p>
        </p:txBody>
      </p:sp>
      <p:sp>
        <p:nvSpPr>
          <p:cNvPr id="9" name="Shape 5"/>
          <p:cNvSpPr/>
          <p:nvPr/>
        </p:nvSpPr>
        <p:spPr>
          <a:xfrm>
            <a:off x="548640" y="3977640"/>
            <a:ext cx="640080" cy="548640"/>
          </a:xfrm>
          <a:prstGeom prst="rect">
            <a:avLst/>
          </a:prstGeom>
          <a:solidFill>
            <a:srgbClr val="0E7C86"/>
          </a:solidFill>
          <a:ln w="12700">
            <a:solidFill>
              <a:srgbClr val="0E7C86"/>
            </a:solidFill>
            <a:prstDash val="solid"/>
          </a:ln>
        </p:spPr>
      </p:sp>
      <p:sp>
        <p:nvSpPr>
          <p:cNvPr id="10" name="Text 6"/>
          <p:cNvSpPr txBox="1"/>
          <p:nvPr/>
        </p:nvSpPr>
        <p:spPr>
          <a:xfrm>
            <a:off x="548640" y="3977640"/>
            <a:ext cx="64008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u₁</a:t>
            </a:r>
            <a:endParaRPr lang="en-US" sz="2400" dirty="0"/>
          </a:p>
        </p:txBody>
      </p:sp>
      <p:sp>
        <p:nvSpPr>
          <p:cNvPr id="11" name="Shape 7"/>
          <p:cNvSpPr/>
          <p:nvPr/>
        </p:nvSpPr>
        <p:spPr>
          <a:xfrm>
            <a:off x="1243584" y="3977640"/>
            <a:ext cx="640080" cy="548640"/>
          </a:xfrm>
          <a:prstGeom prst="rect">
            <a:avLst/>
          </a:prstGeom>
          <a:solidFill>
            <a:srgbClr val="E8F3F4"/>
          </a:solidFill>
          <a:ln w="12700">
            <a:solidFill>
              <a:srgbClr val="0E7C86"/>
            </a:solidFill>
            <a:prstDash val="solid"/>
          </a:ln>
        </p:spPr>
      </p:sp>
      <p:sp>
        <p:nvSpPr>
          <p:cNvPr id="12" name="Text 8"/>
          <p:cNvSpPr txBox="1"/>
          <p:nvPr/>
        </p:nvSpPr>
        <p:spPr>
          <a:xfrm>
            <a:off x="1243584" y="3977640"/>
            <a:ext cx="640080" cy="548640"/>
          </a:xfrm>
          <a:prstGeom prst="rect">
            <a:avLst/>
          </a:prstGeom>
          <a:noFill/>
          <a:ln/>
        </p:spPr>
        <p:txBody>
          <a:bodyPr wrap="square" lIns="0" tIns="0" rIns="0" bIns="0" rtlCol="0" anchor="ctr"/>
          <a:lstStyle/>
          <a:p>
            <a:pPr algn="ctr" indent="0" marL="0">
              <a:buNone/>
            </a:pPr>
            <a:r>
              <a:rPr lang="en-US" sz="2400" dirty="0">
                <a:solidFill>
                  <a:srgbClr val="14212B"/>
                </a:solidFill>
                <a:latin typeface="Calibri" pitchFamily="34" charset="0"/>
                <a:ea typeface="Calibri" pitchFamily="34" charset="-122"/>
                <a:cs typeface="Calibri" pitchFamily="34" charset="-120"/>
              </a:rPr>
              <a:t>u₂</a:t>
            </a:r>
            <a:endParaRPr lang="en-US" sz="2400" dirty="0"/>
          </a:p>
        </p:txBody>
      </p:sp>
      <p:sp>
        <p:nvSpPr>
          <p:cNvPr id="13" name="Shape 9"/>
          <p:cNvSpPr/>
          <p:nvPr/>
        </p:nvSpPr>
        <p:spPr>
          <a:xfrm>
            <a:off x="1938528" y="3977640"/>
            <a:ext cx="640080" cy="548640"/>
          </a:xfrm>
          <a:prstGeom prst="rect">
            <a:avLst/>
          </a:prstGeom>
          <a:solidFill>
            <a:srgbClr val="E8F3F4"/>
          </a:solidFill>
          <a:ln w="12700">
            <a:solidFill>
              <a:srgbClr val="0E7C86"/>
            </a:solidFill>
            <a:prstDash val="solid"/>
          </a:ln>
        </p:spPr>
      </p:sp>
      <p:sp>
        <p:nvSpPr>
          <p:cNvPr id="14" name="Text 10"/>
          <p:cNvSpPr txBox="1"/>
          <p:nvPr/>
        </p:nvSpPr>
        <p:spPr>
          <a:xfrm>
            <a:off x="1938528" y="3977640"/>
            <a:ext cx="640080" cy="548640"/>
          </a:xfrm>
          <a:prstGeom prst="rect">
            <a:avLst/>
          </a:prstGeom>
          <a:noFill/>
          <a:ln/>
        </p:spPr>
        <p:txBody>
          <a:bodyPr wrap="square" lIns="0" tIns="0" rIns="0" bIns="0" rtlCol="0" anchor="ctr"/>
          <a:lstStyle/>
          <a:p>
            <a:pPr algn="ctr" indent="0" marL="0">
              <a:buNone/>
            </a:pPr>
            <a:r>
              <a:rPr lang="en-US" sz="2400" dirty="0">
                <a:solidFill>
                  <a:srgbClr val="14212B"/>
                </a:solidFill>
                <a:latin typeface="Calibri" pitchFamily="34" charset="0"/>
                <a:ea typeface="Calibri" pitchFamily="34" charset="-122"/>
                <a:cs typeface="Calibri" pitchFamily="34" charset="-120"/>
              </a:rPr>
              <a:t>u₃</a:t>
            </a:r>
            <a:endParaRPr lang="en-US" sz="2400" dirty="0"/>
          </a:p>
        </p:txBody>
      </p:sp>
      <p:sp>
        <p:nvSpPr>
          <p:cNvPr id="15" name="Shape 11"/>
          <p:cNvSpPr/>
          <p:nvPr/>
        </p:nvSpPr>
        <p:spPr>
          <a:xfrm>
            <a:off x="2633472" y="3977640"/>
            <a:ext cx="640080" cy="548640"/>
          </a:xfrm>
          <a:prstGeom prst="rect">
            <a:avLst/>
          </a:prstGeom>
          <a:solidFill>
            <a:srgbClr val="E8F3F4"/>
          </a:solidFill>
          <a:ln w="12700">
            <a:solidFill>
              <a:srgbClr val="0E7C86"/>
            </a:solidFill>
            <a:prstDash val="solid"/>
          </a:ln>
        </p:spPr>
      </p:sp>
      <p:sp>
        <p:nvSpPr>
          <p:cNvPr id="16" name="Text 12"/>
          <p:cNvSpPr txBox="1"/>
          <p:nvPr/>
        </p:nvSpPr>
        <p:spPr>
          <a:xfrm>
            <a:off x="2633472" y="3977640"/>
            <a:ext cx="640080" cy="548640"/>
          </a:xfrm>
          <a:prstGeom prst="rect">
            <a:avLst/>
          </a:prstGeom>
          <a:noFill/>
          <a:ln/>
        </p:spPr>
        <p:txBody>
          <a:bodyPr wrap="square" lIns="0" tIns="0" rIns="0" bIns="0" rtlCol="0" anchor="ctr"/>
          <a:lstStyle/>
          <a:p>
            <a:pPr algn="ctr" indent="0" marL="0">
              <a:buNone/>
            </a:pPr>
            <a:r>
              <a:rPr lang="en-US" sz="2400" dirty="0">
                <a:solidFill>
                  <a:srgbClr val="14212B"/>
                </a:solidFill>
                <a:latin typeface="Calibri" pitchFamily="34" charset="0"/>
                <a:ea typeface="Calibri" pitchFamily="34" charset="-122"/>
                <a:cs typeface="Calibri" pitchFamily="34" charset="-120"/>
              </a:rPr>
              <a:t>u₄</a:t>
            </a:r>
            <a:endParaRPr lang="en-US" sz="2400" dirty="0"/>
          </a:p>
        </p:txBody>
      </p:sp>
      <p:sp>
        <p:nvSpPr>
          <p:cNvPr id="17" name="Shape 13"/>
          <p:cNvSpPr/>
          <p:nvPr/>
        </p:nvSpPr>
        <p:spPr>
          <a:xfrm>
            <a:off x="3328416" y="3977640"/>
            <a:ext cx="640080" cy="548640"/>
          </a:xfrm>
          <a:prstGeom prst="rect">
            <a:avLst/>
          </a:prstGeom>
          <a:solidFill>
            <a:srgbClr val="E8F3F4"/>
          </a:solidFill>
          <a:ln w="12700">
            <a:solidFill>
              <a:srgbClr val="0E7C86"/>
            </a:solidFill>
            <a:prstDash val="solid"/>
          </a:ln>
        </p:spPr>
      </p:sp>
      <p:sp>
        <p:nvSpPr>
          <p:cNvPr id="18" name="Text 14"/>
          <p:cNvSpPr txBox="1"/>
          <p:nvPr/>
        </p:nvSpPr>
        <p:spPr>
          <a:xfrm>
            <a:off x="3328416" y="3977640"/>
            <a:ext cx="640080" cy="548640"/>
          </a:xfrm>
          <a:prstGeom prst="rect">
            <a:avLst/>
          </a:prstGeom>
          <a:noFill/>
          <a:ln/>
        </p:spPr>
        <p:txBody>
          <a:bodyPr wrap="square" lIns="0" tIns="0" rIns="0" bIns="0" rtlCol="0" anchor="ctr"/>
          <a:lstStyle/>
          <a:p>
            <a:pPr algn="ctr" indent="0" marL="0">
              <a:buNone/>
            </a:pPr>
            <a:r>
              <a:rPr lang="en-US" sz="2400" dirty="0">
                <a:solidFill>
                  <a:srgbClr val="14212B"/>
                </a:solidFill>
                <a:latin typeface="Calibri" pitchFamily="34" charset="0"/>
                <a:ea typeface="Calibri" pitchFamily="34" charset="-122"/>
                <a:cs typeface="Calibri" pitchFamily="34" charset="-120"/>
              </a:rPr>
              <a:t>u₅</a:t>
            </a:r>
            <a:endParaRPr lang="en-US" sz="2400" dirty="0"/>
          </a:p>
        </p:txBody>
      </p:sp>
      <p:sp>
        <p:nvSpPr>
          <p:cNvPr id="19" name="Shape 15"/>
          <p:cNvSpPr/>
          <p:nvPr/>
        </p:nvSpPr>
        <p:spPr>
          <a:xfrm>
            <a:off x="4023360" y="3977640"/>
            <a:ext cx="640080" cy="548640"/>
          </a:xfrm>
          <a:prstGeom prst="rect">
            <a:avLst/>
          </a:prstGeom>
          <a:solidFill>
            <a:srgbClr val="E8F3F4"/>
          </a:solidFill>
          <a:ln w="12700">
            <a:solidFill>
              <a:srgbClr val="0E7C86"/>
            </a:solidFill>
            <a:prstDash val="solid"/>
          </a:ln>
        </p:spPr>
      </p:sp>
      <p:sp>
        <p:nvSpPr>
          <p:cNvPr id="20" name="Text 16"/>
          <p:cNvSpPr txBox="1"/>
          <p:nvPr/>
        </p:nvSpPr>
        <p:spPr>
          <a:xfrm>
            <a:off x="4023360" y="3977640"/>
            <a:ext cx="640080" cy="548640"/>
          </a:xfrm>
          <a:prstGeom prst="rect">
            <a:avLst/>
          </a:prstGeom>
          <a:noFill/>
          <a:ln/>
        </p:spPr>
        <p:txBody>
          <a:bodyPr wrap="square" lIns="0" tIns="0" rIns="0" bIns="0" rtlCol="0" anchor="ctr"/>
          <a:lstStyle/>
          <a:p>
            <a:pPr algn="ctr" indent="0" marL="0">
              <a:buNone/>
            </a:pPr>
            <a:r>
              <a:rPr lang="en-US" sz="2400" dirty="0">
                <a:solidFill>
                  <a:srgbClr val="14212B"/>
                </a:solidFill>
                <a:latin typeface="Calibri" pitchFamily="34" charset="0"/>
                <a:ea typeface="Calibri" pitchFamily="34" charset="-122"/>
                <a:cs typeface="Calibri" pitchFamily="34" charset="-120"/>
              </a:rPr>
              <a:t>u₆</a:t>
            </a:r>
            <a:endParaRPr lang="en-US" sz="2400" dirty="0"/>
          </a:p>
        </p:txBody>
      </p:sp>
      <p:sp>
        <p:nvSpPr>
          <p:cNvPr id="21" name="Shape 17"/>
          <p:cNvSpPr/>
          <p:nvPr/>
        </p:nvSpPr>
        <p:spPr>
          <a:xfrm>
            <a:off x="4718304" y="3977640"/>
            <a:ext cx="640080" cy="548640"/>
          </a:xfrm>
          <a:prstGeom prst="rect">
            <a:avLst/>
          </a:prstGeom>
          <a:solidFill>
            <a:srgbClr val="E8F3F4"/>
          </a:solidFill>
          <a:ln w="12700">
            <a:solidFill>
              <a:srgbClr val="0E7C86"/>
            </a:solidFill>
            <a:prstDash val="solid"/>
          </a:ln>
        </p:spPr>
      </p:sp>
      <p:sp>
        <p:nvSpPr>
          <p:cNvPr id="22" name="Text 18"/>
          <p:cNvSpPr txBox="1"/>
          <p:nvPr/>
        </p:nvSpPr>
        <p:spPr>
          <a:xfrm>
            <a:off x="4718304" y="3977640"/>
            <a:ext cx="640080" cy="548640"/>
          </a:xfrm>
          <a:prstGeom prst="rect">
            <a:avLst/>
          </a:prstGeom>
          <a:noFill/>
          <a:ln/>
        </p:spPr>
        <p:txBody>
          <a:bodyPr wrap="square" lIns="0" tIns="0" rIns="0" bIns="0" rtlCol="0" anchor="ctr"/>
          <a:lstStyle/>
          <a:p>
            <a:pPr algn="ctr" indent="0" marL="0">
              <a:buNone/>
            </a:pPr>
            <a:r>
              <a:rPr lang="en-US" sz="2400" dirty="0">
                <a:solidFill>
                  <a:srgbClr val="14212B"/>
                </a:solidFill>
                <a:latin typeface="Calibri" pitchFamily="34" charset="0"/>
                <a:ea typeface="Calibri" pitchFamily="34" charset="-122"/>
                <a:cs typeface="Calibri" pitchFamily="34" charset="-120"/>
              </a:rPr>
              <a:t>u₇</a:t>
            </a:r>
            <a:endParaRPr lang="en-US" sz="2400" dirty="0"/>
          </a:p>
        </p:txBody>
      </p:sp>
      <p:sp>
        <p:nvSpPr>
          <p:cNvPr id="23" name="Shape 19"/>
          <p:cNvSpPr/>
          <p:nvPr/>
        </p:nvSpPr>
        <p:spPr>
          <a:xfrm>
            <a:off x="5413248" y="3977640"/>
            <a:ext cx="640080" cy="548640"/>
          </a:xfrm>
          <a:prstGeom prst="rect">
            <a:avLst/>
          </a:prstGeom>
          <a:solidFill>
            <a:srgbClr val="E8F3F4"/>
          </a:solidFill>
          <a:ln w="12700">
            <a:solidFill>
              <a:srgbClr val="0E7C86"/>
            </a:solidFill>
            <a:prstDash val="solid"/>
          </a:ln>
        </p:spPr>
      </p:sp>
      <p:sp>
        <p:nvSpPr>
          <p:cNvPr id="24" name="Text 20"/>
          <p:cNvSpPr txBox="1"/>
          <p:nvPr/>
        </p:nvSpPr>
        <p:spPr>
          <a:xfrm>
            <a:off x="5413248" y="3977640"/>
            <a:ext cx="640080" cy="548640"/>
          </a:xfrm>
          <a:prstGeom prst="rect">
            <a:avLst/>
          </a:prstGeom>
          <a:noFill/>
          <a:ln/>
        </p:spPr>
        <p:txBody>
          <a:bodyPr wrap="square" lIns="0" tIns="0" rIns="0" bIns="0" rtlCol="0" anchor="ctr"/>
          <a:lstStyle/>
          <a:p>
            <a:pPr algn="ctr" indent="0" marL="0">
              <a:buNone/>
            </a:pPr>
            <a:r>
              <a:rPr lang="en-US" sz="2400" dirty="0">
                <a:solidFill>
                  <a:srgbClr val="14212B"/>
                </a:solidFill>
                <a:latin typeface="Calibri" pitchFamily="34" charset="0"/>
                <a:ea typeface="Calibri" pitchFamily="34" charset="-122"/>
                <a:cs typeface="Calibri" pitchFamily="34" charset="-120"/>
              </a:rPr>
              <a:t>u₈</a:t>
            </a:r>
            <a:endParaRPr lang="en-US" sz="2400" dirty="0"/>
          </a:p>
        </p:txBody>
      </p:sp>
      <p:sp>
        <p:nvSpPr>
          <p:cNvPr id="25" name="Shape 21"/>
          <p:cNvSpPr/>
          <p:nvPr/>
        </p:nvSpPr>
        <p:spPr>
          <a:xfrm>
            <a:off x="868680" y="4617720"/>
            <a:ext cx="0" cy="365760"/>
          </a:xfrm>
          <a:prstGeom prst="line">
            <a:avLst/>
          </a:prstGeom>
          <a:noFill/>
          <a:ln w="31750">
            <a:solidFill>
              <a:srgbClr val="0E7C86"/>
            </a:solidFill>
            <a:prstDash val="solid"/>
            <a:tailEnd type="triangle"/>
          </a:ln>
        </p:spPr>
      </p:sp>
      <p:sp>
        <p:nvSpPr>
          <p:cNvPr id="26" name="Text 22"/>
          <p:cNvSpPr txBox="1"/>
          <p:nvPr/>
        </p:nvSpPr>
        <p:spPr>
          <a:xfrm>
            <a:off x="548640" y="5029200"/>
            <a:ext cx="5669280" cy="411480"/>
          </a:xfrm>
          <a:prstGeom prst="rect">
            <a:avLst/>
          </a:prstGeom>
          <a:noFill/>
          <a:ln/>
        </p:spPr>
        <p:txBody>
          <a:bodyPr wrap="square" lIns="0" tIns="0" rIns="0" bIns="0" rtlCol="0" anchor="t"/>
          <a:lstStyle/>
          <a:p>
            <a:pPr algn="l" indent="0" marL="0">
              <a:buNone/>
            </a:pPr>
            <a:r>
              <a:rPr lang="en-US" sz="2400" dirty="0">
                <a:solidFill>
                  <a:srgbClr val="14212B"/>
                </a:solidFill>
                <a:latin typeface="Calibri" pitchFamily="34" charset="0"/>
                <a:ea typeface="Calibri" pitchFamily="34" charset="-122"/>
                <a:cs typeface="Calibri" pitchFamily="34" charset="-120"/>
              </a:rPr>
              <a:t>apply u₁ for 0.25 s, then re-solve</a:t>
            </a:r>
            <a:endParaRPr lang="en-US" sz="2400" dirty="0"/>
          </a:p>
        </p:txBody>
      </p:sp>
      <p:sp>
        <p:nvSpPr>
          <p:cNvPr id="27" name="Text 23"/>
          <p:cNvSpPr txBox="1"/>
          <p:nvPr/>
        </p:nvSpPr>
        <p:spPr>
          <a:xfrm>
            <a:off x="6583680" y="3520440"/>
            <a:ext cx="5074920" cy="2377440"/>
          </a:xfrm>
          <a:prstGeom prst="rect">
            <a:avLst/>
          </a:prstGeom>
          <a:noFill/>
          <a:ln/>
        </p:spPr>
        <p:txBody>
          <a:bodyPr wrap="square" lIns="0" tIns="0" rIns="0" bIns="0" rtlCol="0" anchor="t"/>
          <a:lstStyle/>
          <a:p>
            <a:pPr marL="342900" indent="-342900">
              <a:spcAft>
                <a:spcPts val="1200"/>
              </a:spcAft>
              <a:buSzPct val="100000"/>
              <a:buChar char="•"/>
            </a:pPr>
            <a:r>
              <a:rPr lang="en-US" sz="2400" b="1" dirty="0">
                <a:solidFill>
                  <a:srgbClr val="14212B"/>
                </a:solidFill>
                <a:latin typeface="Calibri" pitchFamily="34" charset="0"/>
                <a:ea typeface="Calibri" pitchFamily="34" charset="-122"/>
                <a:cs typeface="Calibri" pitchFamily="34" charset="-120"/>
              </a:rPr>
              <a:t>8 unknowns: </a:t>
            </a:r>
            <a:pPr indent="0" marL="0">
              <a:buNone/>
            </a:pPr>
            <a:r>
              <a:rPr lang="en-US" sz="2400" dirty="0">
                <a:solidFill>
                  <a:srgbClr val="14212B"/>
                </a:solidFill>
                <a:latin typeface="Calibri" pitchFamily="34" charset="0"/>
                <a:ea typeface="Calibri" pitchFamily="34" charset="-122"/>
                <a:cs typeface="Calibri" pitchFamily="34" charset="-120"/>
              </a:rPr>
              <a:t>steering corrections</a:t>
            </a:r>
            <a:endParaRPr lang="en-US" sz="2400" dirty="0"/>
          </a:p>
          <a:p>
            <a:pPr marL="342900" indent="-342900">
              <a:spcAft>
                <a:spcPts val="1200"/>
              </a:spcAft>
              <a:buSzPct val="100000"/>
              <a:buChar char="•"/>
            </a:pPr>
            <a:r>
              <a:rPr lang="en-US" sz="2400" b="1" dirty="0">
                <a:solidFill>
                  <a:srgbClr val="14212B"/>
                </a:solidFill>
                <a:latin typeface="Calibri" pitchFamily="34" charset="0"/>
                <a:ea typeface="Calibri" pitchFamily="34" charset="-122"/>
                <a:cs typeface="Calibri" pitchFamily="34" charset="-120"/>
              </a:rPr>
              <a:t>SLSQP [6] </a:t>
            </a:r>
            <a:pPr indent="0" marL="0">
              <a:buNone/>
            </a:pPr>
            <a:r>
              <a:rPr lang="en-US" sz="2400" dirty="0">
                <a:solidFill>
                  <a:srgbClr val="14212B"/>
                </a:solidFill>
                <a:latin typeface="Calibri" pitchFamily="34" charset="0"/>
                <a:ea typeface="Calibri" pitchFamily="34" charset="-122"/>
                <a:cs typeface="Calibri" pitchFamily="34" charset="-120"/>
              </a:rPr>
              <a:t>(SciPy [8]), warm start</a:t>
            </a:r>
            <a:endParaRPr lang="en-US" sz="2400" dirty="0"/>
          </a:p>
          <a:p>
            <a:pPr marL="342900" indent="-342900">
              <a:spcAft>
                <a:spcPts val="1200"/>
              </a:spcAft>
              <a:buSzPct val="100000"/>
              <a:buChar char="•"/>
            </a:pPr>
            <a:r>
              <a:rPr lang="en-US" sz="2400" b="1" dirty="0">
                <a:solidFill>
                  <a:srgbClr val="14212B"/>
                </a:solidFill>
                <a:latin typeface="Calibri" pitchFamily="34" charset="0"/>
                <a:ea typeface="Calibri" pitchFamily="34" charset="-122"/>
                <a:cs typeface="Calibri" pitchFamily="34" charset="-120"/>
              </a:rPr>
              <a:t>Fallback: </a:t>
            </a:r>
            <a:pPr indent="0" marL="0">
              <a:buNone/>
            </a:pPr>
            <a:r>
              <a:rPr lang="en-US" sz="2400" dirty="0">
                <a:solidFill>
                  <a:srgbClr val="14212B"/>
                </a:solidFill>
                <a:latin typeface="Calibri" pitchFamily="34" charset="0"/>
                <a:ea typeface="Calibri" pitchFamily="34" charset="-122"/>
                <a:cs typeface="Calibri" pitchFamily="34" charset="-120"/>
              </a:rPr>
              <a:t>ψ-only, then regulator</a:t>
            </a:r>
            <a:endParaRPr lang="en-US" sz="2400" dirty="0"/>
          </a:p>
          <a:p>
            <a:pPr marL="342900" indent="-342900">
              <a:spcAft>
                <a:spcPts val="1200"/>
              </a:spcAft>
              <a:buSzPct val="100000"/>
              <a:buChar char="•"/>
            </a:pPr>
            <a:r>
              <a:rPr lang="en-US" sz="2400" b="1" dirty="0">
                <a:solidFill>
                  <a:srgbClr val="0E7C86"/>
                </a:solidFill>
                <a:latin typeface="Calibri" pitchFamily="34" charset="0"/>
                <a:ea typeface="Calibri" pitchFamily="34" charset="-122"/>
                <a:cs typeface="Calibri" pitchFamily="34" charset="-120"/>
              </a:rPr>
              <a:t>94–154 ms </a:t>
            </a:r>
            <a:pPr indent="0" marL="0">
              <a:buNone/>
            </a:pPr>
            <a:r>
              <a:rPr lang="en-US" sz="2400" dirty="0">
                <a:solidFill>
                  <a:srgbClr val="14212B"/>
                </a:solidFill>
                <a:latin typeface="Calibri" pitchFamily="34" charset="0"/>
                <a:ea typeface="Calibri" pitchFamily="34" charset="-122"/>
                <a:cs typeface="Calibri" pitchFamily="34" charset="-120"/>
              </a:rPr>
              <a:t>per solve (≤ 250 ms)</a:t>
            </a:r>
            <a:endParaRPr lang="en-US" sz="2400" dirty="0"/>
          </a:p>
        </p:txBody>
      </p:sp>
      <p:sp>
        <p:nvSpPr>
          <p:cNvPr id="25" name="Slide Number Placeholder 0"/>
          <p:cNvSpPr>
            <a:spLocks noGrp="1"/>
          </p:cNvSpPr>
          <p:nvPr>
            <p:ph type="sldNum" sz="quarter" idx="4294967295"/>
          </p:nvPr>
        </p:nvSpPr>
        <p:spPr>
          <a:xfrm>
            <a:off x="10744200" y="6309360"/>
            <a:ext cx="91440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0E7C86"/>
                </a:solidFill>
                <a:latin typeface="Calibri"/>
                <a:ea typeface="Calibri"/>
                <a:cs typeface="Calibri"/>
              </a:defRPr>
            </a:lvl1pPr>
          </a:lstStyle>
          <a:p>
            <a:pPr algn="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777240"/>
          </a:xfrm>
          <a:prstGeom prst="rect">
            <a:avLst/>
          </a:prstGeom>
          <a:noFill/>
          <a:ln/>
        </p:spPr>
        <p:txBody>
          <a:bodyPr wrap="square" lIns="0" tIns="0" rIns="0" bIns="0" rtlCol="0" anchor="ctr"/>
          <a:lstStyle/>
          <a:p>
            <a:pPr indent="0" marL="0">
              <a:buNone/>
            </a:pPr>
            <a:r>
              <a:rPr lang="en-US" sz="3400" b="1" dirty="0">
                <a:solidFill>
                  <a:srgbClr val="14212B"/>
                </a:solidFill>
                <a:latin typeface="Cambria" pitchFamily="34" charset="0"/>
                <a:ea typeface="Cambria" pitchFamily="34" charset="-122"/>
                <a:cs typeface="Cambria" pitchFamily="34" charset="-120"/>
              </a:rPr>
              <a:t>From optimal control to driver instructions</a:t>
            </a:r>
            <a:endParaRPr lang="en-US" sz="3400" dirty="0"/>
          </a:p>
        </p:txBody>
      </p:sp>
      <p:sp>
        <p:nvSpPr>
          <p:cNvPr id="3" name="Text 1"/>
          <p:cNvSpPr txBox="1"/>
          <p:nvPr/>
        </p:nvSpPr>
        <p:spPr>
          <a:xfrm>
            <a:off x="548640" y="6309360"/>
            <a:ext cx="8229600" cy="411480"/>
          </a:xfrm>
          <a:prstGeom prst="rect">
            <a:avLst/>
          </a:prstGeom>
          <a:noFill/>
          <a:ln/>
        </p:spPr>
        <p:txBody>
          <a:bodyPr wrap="square" lIns="0" tIns="0" rIns="0" bIns="0" rtlCol="0" anchor="ctr"/>
          <a:lstStyle/>
          <a:p>
            <a:pPr indent="0" marL="0">
              <a:buNone/>
            </a:pPr>
            <a:r>
              <a:rPr lang="en-US" sz="2400" dirty="0">
                <a:solidFill>
                  <a:srgbClr val="44546A"/>
                </a:solidFill>
                <a:latin typeface="Calibri" pitchFamily="34" charset="0"/>
                <a:ea typeface="Calibri" pitchFamily="34" charset="-122"/>
                <a:cs typeface="Calibri" pitchFamily="34" charset="-120"/>
              </a:rPr>
              <a:t>Methodology · advisor</a:t>
            </a:r>
            <a:endParaRPr lang="en-US" sz="2400" dirty="0"/>
          </a:p>
        </p:txBody>
      </p:sp>
      <p:pic>
        <p:nvPicPr>
          <p:cNvPr id="4" name="Image 0" descr="Guidance bar: step 5 of 9, counter-steer right, steering 1.23 turns right against advised 1 turn right, speed 1.9 km/h against 2 km/h, 4 m more">    </p:cNvPr>
          <p:cNvPicPr>
            <a:picLocks noChangeAspect="1"/>
          </p:cNvPicPr>
          <p:nvPr/>
        </p:nvPicPr>
        <p:blipFill>
          <a:blip r:embed="rId1"/>
          <a:stretch>
            <a:fillRect/>
          </a:stretch>
        </p:blipFill>
        <p:spPr>
          <a:xfrm>
            <a:off x="548640" y="1246705"/>
            <a:ext cx="11064240" cy="1072750"/>
          </a:xfrm>
          <a:prstGeom prst="rect">
            <a:avLst/>
          </a:prstGeom>
        </p:spPr>
      </p:pic>
      <p:sp>
        <p:nvSpPr>
          <p:cNvPr id="5" name="Text 2"/>
          <p:cNvSpPr txBox="1"/>
          <p:nvPr/>
        </p:nvSpPr>
        <p:spPr>
          <a:xfrm>
            <a:off x="548640" y="2514600"/>
            <a:ext cx="6583680" cy="411480"/>
          </a:xfrm>
          <a:prstGeom prst="rect">
            <a:avLst/>
          </a:prstGeom>
          <a:noFill/>
          <a:ln/>
        </p:spPr>
        <p:txBody>
          <a:bodyPr wrap="square" lIns="0" tIns="0" rIns="0" bIns="0" rtlCol="0" anchor="t"/>
          <a:lstStyle/>
          <a:p>
            <a:pPr algn="l" indent="0" marL="0">
              <a:buNone/>
            </a:pPr>
            <a:r>
              <a:rPr lang="en-US" sz="2400" dirty="0">
                <a:solidFill>
                  <a:srgbClr val="44546A"/>
                </a:solidFill>
                <a:latin typeface="Calibri" pitchFamily="34" charset="0"/>
                <a:ea typeface="Calibri" pitchFamily="34" charset="-122"/>
                <a:cs typeface="Calibri" pitchFamily="34" charset="-120"/>
              </a:rPr>
              <a:t>Steering-wheel turns (20:1 ratio):</a:t>
            </a:r>
            <a:endParaRPr lang="en-US" sz="2400" dirty="0"/>
          </a:p>
        </p:txBody>
      </p:sp>
      <p:pic>
        <p:nvPicPr>
          <p:cNvPr id="6" name="Image 1" descr="n turns equals delta times 20 over 360 degrees; 35 degrees of lock is 1.94 turns">    </p:cNvPr>
          <p:cNvPicPr>
            <a:picLocks noChangeAspect="1"/>
          </p:cNvPicPr>
          <p:nvPr/>
        </p:nvPicPr>
        <p:blipFill>
          <a:blip r:embed="rId2"/>
          <a:stretch>
            <a:fillRect/>
          </a:stretch>
        </p:blipFill>
        <p:spPr>
          <a:xfrm>
            <a:off x="548640" y="2926080"/>
            <a:ext cx="6595872" cy="591312"/>
          </a:xfrm>
          <a:prstGeom prst="rect">
            <a:avLst/>
          </a:prstGeom>
        </p:spPr>
      </p:pic>
      <p:sp>
        <p:nvSpPr>
          <p:cNvPr id="7" name="Shape 3"/>
          <p:cNvSpPr/>
          <p:nvPr/>
        </p:nvSpPr>
        <p:spPr>
          <a:xfrm>
            <a:off x="7498080" y="2514600"/>
            <a:ext cx="4114800" cy="1097280"/>
          </a:xfrm>
          <a:prstGeom prst="roundRect">
            <a:avLst>
              <a:gd name="adj" fmla="val 10000"/>
            </a:avLst>
          </a:prstGeom>
          <a:solidFill>
            <a:srgbClr val="FBF1E3"/>
          </a:solidFill>
          <a:ln/>
        </p:spPr>
      </p:sp>
      <p:sp>
        <p:nvSpPr>
          <p:cNvPr id="8" name="Text 4"/>
          <p:cNvSpPr txBox="1"/>
          <p:nvPr/>
        </p:nvSpPr>
        <p:spPr>
          <a:xfrm>
            <a:off x="7680960" y="2514600"/>
            <a:ext cx="3840480" cy="1097280"/>
          </a:xfrm>
          <a:prstGeom prst="rect">
            <a:avLst/>
          </a:prstGeom>
          <a:noFill/>
          <a:ln/>
        </p:spPr>
        <p:txBody>
          <a:bodyPr wrap="square" lIns="0" tIns="0" rIns="0" bIns="0" rtlCol="0" anchor="ctr"/>
          <a:lstStyle/>
          <a:p>
            <a:pPr algn="ctr" indent="0" marL="0">
              <a:buNone/>
            </a:pPr>
            <a:r>
              <a:rPr lang="en-US" sz="2400" b="1" dirty="0">
                <a:solidFill>
                  <a:srgbClr val="14212B"/>
                </a:solidFill>
                <a:latin typeface="Calibri" pitchFamily="34" charset="0"/>
                <a:ea typeface="Calibri" pitchFamily="34" charset="-122"/>
                <a:cs typeface="Calibri" pitchFamily="34" charset="-120"/>
              </a:rPr>
              <a:t>Reverse · 2 km/h</a:t>
            </a:r>
            <a:endParaRPr lang="en-US" sz="2400" dirty="0"/>
          </a:p>
          <a:p>
            <a:pPr algn="ctr" indent="0" marL="0">
              <a:buNone/>
            </a:pPr>
            <a:r>
              <a:rPr lang="en-US" sz="2400" b="1" dirty="0">
                <a:solidFill>
                  <a:srgbClr val="14212B"/>
                </a:solidFill>
                <a:latin typeface="Calibri" pitchFamily="34" charset="0"/>
                <a:ea typeface="Calibri" pitchFamily="34" charset="-122"/>
                <a:cs typeface="Calibri" pitchFamily="34" charset="-120"/>
              </a:rPr>
              <a:t>1 turn right · 9 m</a:t>
            </a:r>
            <a:endParaRPr lang="en-US" sz="2400" dirty="0"/>
          </a:p>
        </p:txBody>
      </p:sp>
      <p:sp>
        <p:nvSpPr>
          <p:cNvPr id="9" name="Text 5"/>
          <p:cNvSpPr txBox="1"/>
          <p:nvPr/>
        </p:nvSpPr>
        <p:spPr>
          <a:xfrm>
            <a:off x="548640" y="3703320"/>
            <a:ext cx="10972800" cy="411480"/>
          </a:xfrm>
          <a:prstGeom prst="rect">
            <a:avLst/>
          </a:prstGeom>
          <a:noFill/>
          <a:ln/>
        </p:spPr>
        <p:txBody>
          <a:bodyPr wrap="square" lIns="0" tIns="0" rIns="0" bIns="0" rtlCol="0" anchor="t"/>
          <a:lstStyle/>
          <a:p>
            <a:pPr algn="l" indent="0" marL="0">
              <a:buNone/>
            </a:pPr>
            <a:r>
              <a:rPr lang="en-US" sz="2400" dirty="0">
                <a:solidFill>
                  <a:srgbClr val="44546A"/>
                </a:solidFill>
                <a:latin typeface="Calibri" pitchFamily="34" charset="0"/>
                <a:ea typeface="Calibri" pitchFamily="34" charset="-122"/>
                <a:cs typeface="Calibri" pitchFamily="34" charset="-120"/>
              </a:rPr>
              <a:t>Speed schedule along the path:</a:t>
            </a:r>
            <a:endParaRPr lang="en-US" sz="2400" dirty="0"/>
          </a:p>
        </p:txBody>
      </p:sp>
      <p:pic>
        <p:nvPicPr>
          <p:cNvPr id="10" name="Image 2" descr="v of s is at most the minimum of a steering-based cap, acceleration limit and braking limit">    </p:cNvPr>
          <p:cNvPicPr>
            <a:picLocks noChangeAspect="1"/>
          </p:cNvPicPr>
          <p:nvPr/>
        </p:nvPicPr>
        <p:blipFill>
          <a:blip r:embed="rId3"/>
          <a:stretch>
            <a:fillRect/>
          </a:stretch>
        </p:blipFill>
        <p:spPr>
          <a:xfrm>
            <a:off x="548640" y="4114800"/>
            <a:ext cx="8939784" cy="676656"/>
          </a:xfrm>
          <a:prstGeom prst="rect">
            <a:avLst/>
          </a:prstGeom>
        </p:spPr>
      </p:pic>
      <p:sp>
        <p:nvSpPr>
          <p:cNvPr id="11" name="Text 6"/>
          <p:cNvSpPr txBox="1"/>
          <p:nvPr/>
        </p:nvSpPr>
        <p:spPr>
          <a:xfrm>
            <a:off x="548640" y="4983480"/>
            <a:ext cx="11064240" cy="1188720"/>
          </a:xfrm>
          <a:prstGeom prst="rect">
            <a:avLst/>
          </a:prstGeom>
          <a:noFill/>
          <a:ln/>
        </p:spPr>
        <p:txBody>
          <a:bodyPr wrap="square" lIns="0" tIns="0" rIns="0" bIns="0" rtlCol="0" anchor="t"/>
          <a:lstStyle/>
          <a:p>
            <a:pPr marL="342900" indent="-342900">
              <a:spcAft>
                <a:spcPts val="600"/>
              </a:spcAft>
              <a:buSzPct val="100000"/>
              <a:buChar char="•"/>
            </a:pPr>
            <a:r>
              <a:rPr lang="en-US" sz="2400" dirty="0">
                <a:solidFill>
                  <a:srgbClr val="14212B"/>
                </a:solidFill>
                <a:latin typeface="Calibri" pitchFamily="34" charset="0"/>
                <a:ea typeface="Calibri" pitchFamily="34" charset="-122"/>
                <a:cs typeface="Calibri" pitchFamily="34" charset="-120"/>
              </a:rPr>
              <a:t>Quantised to ¼ turn; phases &lt; 4 m merged ⇒ 6–16 instructions</a:t>
            </a:r>
            <a:endParaRPr lang="en-US" sz="2400" dirty="0"/>
          </a:p>
          <a:p>
            <a:pPr marL="342900" indent="-342900">
              <a:spcAft>
                <a:spcPts val="600"/>
              </a:spcAft>
              <a:buSzPct val="100000"/>
              <a:buChar char="•"/>
            </a:pPr>
            <a:r>
              <a:rPr lang="en-US" sz="2400" dirty="0">
                <a:solidFill>
                  <a:srgbClr val="14212B"/>
                </a:solidFill>
                <a:latin typeface="Calibri" pitchFamily="34" charset="0"/>
                <a:ea typeface="Calibri" pitchFamily="34" charset="-122"/>
                <a:cs typeface="Calibri" pitchFamily="34" charset="-120"/>
              </a:rPr>
              <a:t>Each: gear · km/h · wheel turns · hold distance · hitch margin</a:t>
            </a:r>
            <a:endParaRPr lang="en-US" sz="2400" dirty="0"/>
          </a:p>
        </p:txBody>
      </p:sp>
      <p:sp>
        <p:nvSpPr>
          <p:cNvPr id="25" name="Slide Number Placeholder 0"/>
          <p:cNvSpPr>
            <a:spLocks noGrp="1"/>
          </p:cNvSpPr>
          <p:nvPr>
            <p:ph type="sldNum" sz="quarter" idx="4294967295"/>
          </p:nvPr>
        </p:nvSpPr>
        <p:spPr>
          <a:xfrm>
            <a:off x="10744200" y="6309360"/>
            <a:ext cx="91440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0E7C86"/>
                </a:solidFill>
                <a:latin typeface="Calibri"/>
                <a:ea typeface="Calibri"/>
                <a:cs typeface="Calibri"/>
              </a:defRPr>
            </a:lvl1pPr>
          </a:lstStyle>
          <a:p>
            <a:pPr algn="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777240"/>
          </a:xfrm>
          <a:prstGeom prst="rect">
            <a:avLst/>
          </a:prstGeom>
          <a:noFill/>
          <a:ln/>
        </p:spPr>
        <p:txBody>
          <a:bodyPr wrap="square" lIns="0" tIns="0" rIns="0" bIns="0" rtlCol="0" anchor="ctr"/>
          <a:lstStyle/>
          <a:p>
            <a:pPr indent="0" marL="0">
              <a:buNone/>
            </a:pPr>
            <a:r>
              <a:rPr lang="en-US" sz="3400" b="1" dirty="0">
                <a:solidFill>
                  <a:srgbClr val="14212B"/>
                </a:solidFill>
                <a:latin typeface="Cambria" pitchFamily="34" charset="0"/>
                <a:ea typeface="Cambria" pitchFamily="34" charset="-122"/>
                <a:cs typeface="Cambria" pitchFamily="34" charset="-120"/>
              </a:rPr>
              <a:t>Test scenarios: 4 layouts × 6 random fills</a:t>
            </a:r>
            <a:endParaRPr lang="en-US" sz="3400" dirty="0"/>
          </a:p>
        </p:txBody>
      </p:sp>
      <p:sp>
        <p:nvSpPr>
          <p:cNvPr id="3" name="Text 1"/>
          <p:cNvSpPr txBox="1"/>
          <p:nvPr/>
        </p:nvSpPr>
        <p:spPr>
          <a:xfrm>
            <a:off x="548640" y="6309360"/>
            <a:ext cx="8229600" cy="411480"/>
          </a:xfrm>
          <a:prstGeom prst="rect">
            <a:avLst/>
          </a:prstGeom>
          <a:noFill/>
          <a:ln/>
        </p:spPr>
        <p:txBody>
          <a:bodyPr wrap="square" lIns="0" tIns="0" rIns="0" bIns="0" rtlCol="0" anchor="ctr"/>
          <a:lstStyle/>
          <a:p>
            <a:pPr indent="0" marL="0">
              <a:buNone/>
            </a:pPr>
            <a:r>
              <a:rPr lang="en-US" sz="2400" dirty="0">
                <a:solidFill>
                  <a:srgbClr val="44546A"/>
                </a:solidFill>
                <a:latin typeface="Calibri" pitchFamily="34" charset="0"/>
                <a:ea typeface="Calibri" pitchFamily="34" charset="-122"/>
                <a:cs typeface="Calibri" pitchFamily="34" charset="-120"/>
              </a:rPr>
              <a:t>Results</a:t>
            </a:r>
            <a:endParaRPr lang="en-US" sz="2400" dirty="0"/>
          </a:p>
        </p:txBody>
      </p:sp>
      <p:pic>
        <p:nvPicPr>
          <p:cNvPr id="4" name="Image 0" descr="Cross layout">    </p:cNvPr>
          <p:cNvPicPr>
            <a:picLocks noChangeAspect="1"/>
          </p:cNvPicPr>
          <p:nvPr/>
        </p:nvPicPr>
        <p:blipFill>
          <a:blip r:embed="rId1"/>
          <a:stretch>
            <a:fillRect/>
          </a:stretch>
        </p:blipFill>
        <p:spPr>
          <a:xfrm>
            <a:off x="548640" y="1280160"/>
            <a:ext cx="1965068" cy="2148840"/>
          </a:xfrm>
          <a:prstGeom prst="rect">
            <a:avLst/>
          </a:prstGeom>
        </p:spPr>
      </p:pic>
      <p:sp>
        <p:nvSpPr>
          <p:cNvPr id="5" name="Text 2"/>
          <p:cNvSpPr txBox="1"/>
          <p:nvPr/>
        </p:nvSpPr>
        <p:spPr>
          <a:xfrm>
            <a:off x="2788028" y="1874520"/>
            <a:ext cx="2743200" cy="914400"/>
          </a:xfrm>
          <a:prstGeom prst="rect">
            <a:avLst/>
          </a:prstGeom>
          <a:noFill/>
          <a:ln/>
        </p:spPr>
        <p:txBody>
          <a:bodyPr wrap="square" lIns="0" tIns="0" rIns="0" bIns="0" rtlCol="0" anchor="t"/>
          <a:lstStyle/>
          <a:p>
            <a:pPr algn="l" indent="0" marL="0">
              <a:buNone/>
            </a:pPr>
            <a:r>
              <a:rPr lang="en-US" sz="2400" dirty="0">
                <a:solidFill>
                  <a:srgbClr val="14212B"/>
                </a:solidFill>
                <a:latin typeface="Calibri" pitchFamily="34" charset="0"/>
                <a:ea typeface="Calibri" pitchFamily="34" charset="-122"/>
                <a:cs typeface="Calibri" pitchFamily="34" charset="-120"/>
              </a:rPr>
              <a:t>Cross 90°</a:t>
            </a:r>
            <a:endParaRPr lang="en-US" sz="2400" dirty="0"/>
          </a:p>
          <a:p>
            <a:pPr algn="l" indent="0" marL="0">
              <a:buNone/>
            </a:pPr>
            <a:r>
              <a:rPr lang="en-US" sz="2400" dirty="0">
                <a:solidFill>
                  <a:srgbClr val="14212B"/>
                </a:solidFill>
                <a:latin typeface="Calibri" pitchFamily="34" charset="0"/>
                <a:ea typeface="Calibri" pitchFamily="34" charset="-122"/>
                <a:cs typeface="Calibri" pitchFamily="34" charset="-120"/>
              </a:rPr>
              <a:t>24 free bays</a:t>
            </a:r>
            <a:endParaRPr lang="en-US" sz="2400" dirty="0"/>
          </a:p>
        </p:txBody>
      </p:sp>
      <p:pic>
        <p:nvPicPr>
          <p:cNvPr id="6" name="Image 1" descr="Angled layout">    </p:cNvPr>
          <p:cNvPicPr>
            <a:picLocks noChangeAspect="1"/>
          </p:cNvPicPr>
          <p:nvPr/>
        </p:nvPicPr>
        <p:blipFill>
          <a:blip r:embed="rId2"/>
          <a:stretch>
            <a:fillRect/>
          </a:stretch>
        </p:blipFill>
        <p:spPr>
          <a:xfrm>
            <a:off x="6263640" y="1280160"/>
            <a:ext cx="1948948" cy="2148840"/>
          </a:xfrm>
          <a:prstGeom prst="rect">
            <a:avLst/>
          </a:prstGeom>
        </p:spPr>
      </p:pic>
      <p:sp>
        <p:nvSpPr>
          <p:cNvPr id="7" name="Text 3"/>
          <p:cNvSpPr txBox="1"/>
          <p:nvPr/>
        </p:nvSpPr>
        <p:spPr>
          <a:xfrm>
            <a:off x="8486908" y="1874520"/>
            <a:ext cx="2743200" cy="914400"/>
          </a:xfrm>
          <a:prstGeom prst="rect">
            <a:avLst/>
          </a:prstGeom>
          <a:noFill/>
          <a:ln/>
        </p:spPr>
        <p:txBody>
          <a:bodyPr wrap="square" lIns="0" tIns="0" rIns="0" bIns="0" rtlCol="0" anchor="t"/>
          <a:lstStyle/>
          <a:p>
            <a:pPr algn="l" indent="0" marL="0">
              <a:buNone/>
            </a:pPr>
            <a:r>
              <a:rPr lang="en-US" sz="2400" dirty="0">
                <a:solidFill>
                  <a:srgbClr val="14212B"/>
                </a:solidFill>
                <a:latin typeface="Calibri" pitchFamily="34" charset="0"/>
                <a:ea typeface="Calibri" pitchFamily="34" charset="-122"/>
                <a:cs typeface="Calibri" pitchFamily="34" charset="-120"/>
              </a:rPr>
              <a:t>Angled 60°</a:t>
            </a:r>
            <a:endParaRPr lang="en-US" sz="2400" dirty="0"/>
          </a:p>
          <a:p>
            <a:pPr algn="l" indent="0" marL="0">
              <a:buNone/>
            </a:pPr>
            <a:r>
              <a:rPr lang="en-US" sz="2400" dirty="0">
                <a:solidFill>
                  <a:srgbClr val="14212B"/>
                </a:solidFill>
                <a:latin typeface="Calibri" pitchFamily="34" charset="0"/>
                <a:ea typeface="Calibri" pitchFamily="34" charset="-122"/>
                <a:cs typeface="Calibri" pitchFamily="34" charset="-120"/>
              </a:rPr>
              <a:t>24 free bays</a:t>
            </a:r>
            <a:endParaRPr lang="en-US" sz="2400" dirty="0"/>
          </a:p>
        </p:txBody>
      </p:sp>
      <p:pic>
        <p:nvPicPr>
          <p:cNvPr id="8" name="Image 2" descr="Parallel layout">    </p:cNvPr>
          <p:cNvPicPr>
            <a:picLocks noChangeAspect="1"/>
          </p:cNvPicPr>
          <p:nvPr/>
        </p:nvPicPr>
        <p:blipFill>
          <a:blip r:embed="rId3"/>
          <a:stretch>
            <a:fillRect/>
          </a:stretch>
        </p:blipFill>
        <p:spPr>
          <a:xfrm>
            <a:off x="548640" y="3703320"/>
            <a:ext cx="5394960" cy="1407263"/>
          </a:xfrm>
          <a:prstGeom prst="rect">
            <a:avLst/>
          </a:prstGeom>
        </p:spPr>
      </p:pic>
      <p:sp>
        <p:nvSpPr>
          <p:cNvPr id="9" name="Text 4"/>
          <p:cNvSpPr txBox="1"/>
          <p:nvPr/>
        </p:nvSpPr>
        <p:spPr>
          <a:xfrm>
            <a:off x="548640" y="5257800"/>
            <a:ext cx="5394960" cy="411480"/>
          </a:xfrm>
          <a:prstGeom prst="rect">
            <a:avLst/>
          </a:prstGeom>
          <a:noFill/>
          <a:ln/>
        </p:spPr>
        <p:txBody>
          <a:bodyPr wrap="square" lIns="0" tIns="0" rIns="0" bIns="0" rtlCol="0" anchor="t"/>
          <a:lstStyle/>
          <a:p>
            <a:pPr algn="l" indent="0" marL="0">
              <a:buNone/>
            </a:pPr>
            <a:r>
              <a:rPr lang="en-US" sz="2400" dirty="0">
                <a:solidFill>
                  <a:srgbClr val="14212B"/>
                </a:solidFill>
                <a:latin typeface="Calibri" pitchFamily="34" charset="0"/>
                <a:ea typeface="Calibri" pitchFamily="34" charset="-122"/>
                <a:cs typeface="Calibri" pitchFamily="34" charset="-120"/>
              </a:rPr>
              <a:t>Parallel · 24 free bays</a:t>
            </a:r>
            <a:endParaRPr lang="en-US" sz="2400" dirty="0"/>
          </a:p>
        </p:txBody>
      </p:sp>
      <p:pic>
        <p:nvPicPr>
          <p:cNvPr id="10" name="Image 3" descr="Tandem layout">    </p:cNvPr>
          <p:cNvPicPr>
            <a:picLocks noChangeAspect="1"/>
          </p:cNvPicPr>
          <p:nvPr/>
        </p:nvPicPr>
        <p:blipFill>
          <a:blip r:embed="rId4"/>
          <a:stretch>
            <a:fillRect/>
          </a:stretch>
        </p:blipFill>
        <p:spPr>
          <a:xfrm>
            <a:off x="6263640" y="3703320"/>
            <a:ext cx="5394960" cy="1162657"/>
          </a:xfrm>
          <a:prstGeom prst="rect">
            <a:avLst/>
          </a:prstGeom>
        </p:spPr>
      </p:pic>
      <p:sp>
        <p:nvSpPr>
          <p:cNvPr id="11" name="Text 5"/>
          <p:cNvSpPr txBox="1"/>
          <p:nvPr/>
        </p:nvSpPr>
        <p:spPr>
          <a:xfrm>
            <a:off x="6263640" y="5257800"/>
            <a:ext cx="5394960" cy="411480"/>
          </a:xfrm>
          <a:prstGeom prst="rect">
            <a:avLst/>
          </a:prstGeom>
          <a:noFill/>
          <a:ln/>
        </p:spPr>
        <p:txBody>
          <a:bodyPr wrap="square" lIns="0" tIns="0" rIns="0" bIns="0" rtlCol="0" anchor="t"/>
          <a:lstStyle/>
          <a:p>
            <a:pPr algn="l" indent="0" marL="0">
              <a:buNone/>
            </a:pPr>
            <a:r>
              <a:rPr lang="en-US" sz="2400" dirty="0">
                <a:solidFill>
                  <a:srgbClr val="14212B"/>
                </a:solidFill>
                <a:latin typeface="Calibri" pitchFamily="34" charset="0"/>
                <a:ea typeface="Calibri" pitchFamily="34" charset="-122"/>
                <a:cs typeface="Calibri" pitchFamily="34" charset="-120"/>
              </a:rPr>
              <a:t>Tandem (forward in) · 38 free bays</a:t>
            </a:r>
            <a:endParaRPr lang="en-US" sz="2400" dirty="0"/>
          </a:p>
        </p:txBody>
      </p:sp>
      <p:sp>
        <p:nvSpPr>
          <p:cNvPr id="12" name="Text 6"/>
          <p:cNvSpPr txBox="1"/>
          <p:nvPr/>
        </p:nvSpPr>
        <p:spPr>
          <a:xfrm>
            <a:off x="548640" y="5760720"/>
            <a:ext cx="11064240" cy="411480"/>
          </a:xfrm>
          <a:prstGeom prst="rect">
            <a:avLst/>
          </a:prstGeom>
          <a:noFill/>
          <a:ln/>
        </p:spPr>
        <p:txBody>
          <a:bodyPr wrap="square" lIns="0" tIns="0" rIns="0" bIns="0" rtlCol="0" anchor="t"/>
          <a:lstStyle/>
          <a:p>
            <a:pPr algn="l" indent="0" marL="0">
              <a:buNone/>
            </a:pPr>
            <a:r>
              <a:rPr lang="en-US" sz="2400" dirty="0">
                <a:solidFill>
                  <a:srgbClr val="44546A"/>
                </a:solidFill>
                <a:latin typeface="Calibri" pitchFamily="34" charset="0"/>
                <a:ea typeface="Calibri" pitchFamily="34" charset="-122"/>
                <a:cs typeface="Calibri" pitchFamily="34" charset="-120"/>
              </a:rPr>
              <a:t>110 free bays: every one planned, driven and checked</a:t>
            </a:r>
            <a:endParaRPr lang="en-US" sz="2400" dirty="0"/>
          </a:p>
        </p:txBody>
      </p:sp>
      <p:sp>
        <p:nvSpPr>
          <p:cNvPr id="25" name="Slide Number Placeholder 0"/>
          <p:cNvSpPr>
            <a:spLocks noGrp="1"/>
          </p:cNvSpPr>
          <p:nvPr>
            <p:ph type="sldNum" sz="quarter" idx="4294967295"/>
          </p:nvPr>
        </p:nvSpPr>
        <p:spPr>
          <a:xfrm>
            <a:off x="10744200" y="6309360"/>
            <a:ext cx="91440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0E7C86"/>
                </a:solidFill>
                <a:latin typeface="Calibri"/>
                <a:ea typeface="Calibri"/>
                <a:cs typeface="Calibri"/>
              </a:defRPr>
            </a:lvl1pPr>
          </a:lstStyle>
          <a:p>
            <a:pPr algn="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777240"/>
          </a:xfrm>
          <a:prstGeom prst="rect">
            <a:avLst/>
          </a:prstGeom>
          <a:noFill/>
          <a:ln/>
        </p:spPr>
        <p:txBody>
          <a:bodyPr wrap="square" lIns="0" tIns="0" rIns="0" bIns="0" rtlCol="0" anchor="ctr"/>
          <a:lstStyle/>
          <a:p>
            <a:pPr indent="0" marL="0">
              <a:buNone/>
            </a:pPr>
            <a:r>
              <a:rPr lang="en-US" sz="3400" b="1" dirty="0">
                <a:solidFill>
                  <a:srgbClr val="14212B"/>
                </a:solidFill>
                <a:latin typeface="Cambria" pitchFamily="34" charset="0"/>
                <a:ea typeface="Cambria" pitchFamily="34" charset="-122"/>
                <a:cs typeface="Cambria" pitchFamily="34" charset="-120"/>
              </a:rPr>
              <a:t>Evaluation protocol</a:t>
            </a:r>
            <a:endParaRPr lang="en-US" sz="3400" dirty="0"/>
          </a:p>
        </p:txBody>
      </p:sp>
      <p:sp>
        <p:nvSpPr>
          <p:cNvPr id="3" name="Text 1"/>
          <p:cNvSpPr txBox="1"/>
          <p:nvPr/>
        </p:nvSpPr>
        <p:spPr>
          <a:xfrm>
            <a:off x="548640" y="6309360"/>
            <a:ext cx="8229600" cy="411480"/>
          </a:xfrm>
          <a:prstGeom prst="rect">
            <a:avLst/>
          </a:prstGeom>
          <a:noFill/>
          <a:ln/>
        </p:spPr>
        <p:txBody>
          <a:bodyPr wrap="square" lIns="0" tIns="0" rIns="0" bIns="0" rtlCol="0" anchor="ctr"/>
          <a:lstStyle/>
          <a:p>
            <a:pPr indent="0" marL="0">
              <a:buNone/>
            </a:pPr>
            <a:r>
              <a:rPr lang="en-US" sz="2400" dirty="0">
                <a:solidFill>
                  <a:srgbClr val="44546A"/>
                </a:solidFill>
                <a:latin typeface="Calibri" pitchFamily="34" charset="0"/>
                <a:ea typeface="Calibri" pitchFamily="34" charset="-122"/>
                <a:cs typeface="Calibri" pitchFamily="34" charset="-120"/>
              </a:rPr>
              <a:t>Results</a:t>
            </a:r>
            <a:endParaRPr lang="en-US" sz="2400" dirty="0"/>
          </a:p>
        </p:txBody>
      </p:sp>
      <p:sp>
        <p:nvSpPr>
          <p:cNvPr id="4" name="Shape 2"/>
          <p:cNvSpPr/>
          <p:nvPr/>
        </p:nvSpPr>
        <p:spPr>
          <a:xfrm>
            <a:off x="548640" y="1325880"/>
            <a:ext cx="2514600" cy="960120"/>
          </a:xfrm>
          <a:prstGeom prst="roundRect">
            <a:avLst>
              <a:gd name="adj" fmla="val 11429"/>
            </a:avLst>
          </a:prstGeom>
          <a:solidFill>
            <a:srgbClr val="E8F3F4"/>
          </a:solidFill>
          <a:ln/>
        </p:spPr>
      </p:sp>
      <p:sp>
        <p:nvSpPr>
          <p:cNvPr id="5" name="Text 3"/>
          <p:cNvSpPr txBox="1"/>
          <p:nvPr/>
        </p:nvSpPr>
        <p:spPr>
          <a:xfrm>
            <a:off x="640080" y="1325880"/>
            <a:ext cx="2331720" cy="960120"/>
          </a:xfrm>
          <a:prstGeom prst="rect">
            <a:avLst/>
          </a:prstGeom>
          <a:noFill/>
          <a:ln/>
        </p:spPr>
        <p:txBody>
          <a:bodyPr wrap="square" lIns="0" tIns="0" rIns="0" bIns="0" rtlCol="0" anchor="ctr"/>
          <a:lstStyle/>
          <a:p>
            <a:pPr algn="ctr" indent="0" marL="0">
              <a:buNone/>
            </a:pPr>
            <a:r>
              <a:rPr lang="en-US" sz="2400" b="1" dirty="0">
                <a:solidFill>
                  <a:srgbClr val="14212B"/>
                </a:solidFill>
                <a:latin typeface="Calibri" pitchFamily="34" charset="0"/>
                <a:ea typeface="Calibri" pitchFamily="34" charset="-122"/>
                <a:cs typeface="Calibri" pitchFamily="34" charset="-120"/>
              </a:rPr>
              <a:t>Plan (Hybrid A*)</a:t>
            </a:r>
            <a:endParaRPr lang="en-US" sz="2400" dirty="0"/>
          </a:p>
        </p:txBody>
      </p:sp>
      <p:sp>
        <p:nvSpPr>
          <p:cNvPr id="6" name="Shape 4"/>
          <p:cNvSpPr/>
          <p:nvPr/>
        </p:nvSpPr>
        <p:spPr>
          <a:xfrm>
            <a:off x="3108960" y="1801368"/>
            <a:ext cx="246888" cy="0"/>
          </a:xfrm>
          <a:prstGeom prst="line">
            <a:avLst/>
          </a:prstGeom>
          <a:noFill/>
          <a:ln w="31750">
            <a:solidFill>
              <a:srgbClr val="14212B"/>
            </a:solidFill>
            <a:prstDash val="solid"/>
            <a:tailEnd type="triangle"/>
          </a:ln>
        </p:spPr>
      </p:sp>
      <p:sp>
        <p:nvSpPr>
          <p:cNvPr id="7" name="Shape 5"/>
          <p:cNvSpPr/>
          <p:nvPr/>
        </p:nvSpPr>
        <p:spPr>
          <a:xfrm>
            <a:off x="3401568" y="1325880"/>
            <a:ext cx="2514600" cy="960120"/>
          </a:xfrm>
          <a:prstGeom prst="roundRect">
            <a:avLst>
              <a:gd name="adj" fmla="val 11429"/>
            </a:avLst>
          </a:prstGeom>
          <a:solidFill>
            <a:srgbClr val="E8F3F4"/>
          </a:solidFill>
          <a:ln/>
        </p:spPr>
      </p:sp>
      <p:sp>
        <p:nvSpPr>
          <p:cNvPr id="8" name="Text 6"/>
          <p:cNvSpPr txBox="1"/>
          <p:nvPr/>
        </p:nvSpPr>
        <p:spPr>
          <a:xfrm>
            <a:off x="3493008" y="1325880"/>
            <a:ext cx="2331720" cy="960120"/>
          </a:xfrm>
          <a:prstGeom prst="rect">
            <a:avLst/>
          </a:prstGeom>
          <a:noFill/>
          <a:ln/>
        </p:spPr>
        <p:txBody>
          <a:bodyPr wrap="square" lIns="0" tIns="0" rIns="0" bIns="0" rtlCol="0" anchor="ctr"/>
          <a:lstStyle/>
          <a:p>
            <a:pPr algn="ctr" indent="0" marL="0">
              <a:buNone/>
            </a:pPr>
            <a:r>
              <a:rPr lang="en-US" sz="2400" b="1" dirty="0">
                <a:solidFill>
                  <a:srgbClr val="14212B"/>
                </a:solidFill>
                <a:latin typeface="Calibri" pitchFamily="34" charset="0"/>
                <a:ea typeface="Calibri" pitchFamily="34" charset="-122"/>
                <a:cs typeface="Calibri" pitchFamily="34" charset="-120"/>
              </a:rPr>
              <a:t>Guided run (NMPC)</a:t>
            </a:r>
            <a:endParaRPr lang="en-US" sz="2400" dirty="0"/>
          </a:p>
        </p:txBody>
      </p:sp>
      <p:sp>
        <p:nvSpPr>
          <p:cNvPr id="9" name="Shape 7"/>
          <p:cNvSpPr/>
          <p:nvPr/>
        </p:nvSpPr>
        <p:spPr>
          <a:xfrm>
            <a:off x="5961888" y="1801368"/>
            <a:ext cx="246888" cy="0"/>
          </a:xfrm>
          <a:prstGeom prst="line">
            <a:avLst/>
          </a:prstGeom>
          <a:noFill/>
          <a:ln w="31750">
            <a:solidFill>
              <a:srgbClr val="14212B"/>
            </a:solidFill>
            <a:prstDash val="solid"/>
            <a:tailEnd type="triangle"/>
          </a:ln>
        </p:spPr>
      </p:sp>
      <p:sp>
        <p:nvSpPr>
          <p:cNvPr id="10" name="Shape 8"/>
          <p:cNvSpPr/>
          <p:nvPr/>
        </p:nvSpPr>
        <p:spPr>
          <a:xfrm>
            <a:off x="6254496" y="1325880"/>
            <a:ext cx="2514600" cy="960120"/>
          </a:xfrm>
          <a:prstGeom prst="roundRect">
            <a:avLst>
              <a:gd name="adj" fmla="val 11429"/>
            </a:avLst>
          </a:prstGeom>
          <a:solidFill>
            <a:srgbClr val="E8F3F4"/>
          </a:solidFill>
          <a:ln/>
        </p:spPr>
      </p:sp>
      <p:sp>
        <p:nvSpPr>
          <p:cNvPr id="11" name="Text 9"/>
          <p:cNvSpPr txBox="1"/>
          <p:nvPr/>
        </p:nvSpPr>
        <p:spPr>
          <a:xfrm>
            <a:off x="6345936" y="1325880"/>
            <a:ext cx="2331720" cy="960120"/>
          </a:xfrm>
          <a:prstGeom prst="rect">
            <a:avLst/>
          </a:prstGeom>
          <a:noFill/>
          <a:ln/>
        </p:spPr>
        <p:txBody>
          <a:bodyPr wrap="square" lIns="0" tIns="0" rIns="0" bIns="0" rtlCol="0" anchor="ctr"/>
          <a:lstStyle/>
          <a:p>
            <a:pPr algn="ctr" indent="0" marL="0">
              <a:buNone/>
            </a:pPr>
            <a:r>
              <a:rPr lang="en-US" sz="2400" b="1" dirty="0">
                <a:solidFill>
                  <a:srgbClr val="14212B"/>
                </a:solidFill>
                <a:latin typeface="Calibri" pitchFamily="34" charset="0"/>
                <a:ea typeface="Calibri" pitchFamily="34" charset="-122"/>
                <a:cs typeface="Calibri" pitchFamily="34" charset="-120"/>
              </a:rPr>
              <a:t>Unaided run (same path)</a:t>
            </a:r>
            <a:endParaRPr lang="en-US" sz="2400" dirty="0"/>
          </a:p>
        </p:txBody>
      </p:sp>
      <p:sp>
        <p:nvSpPr>
          <p:cNvPr id="12" name="Shape 10"/>
          <p:cNvSpPr/>
          <p:nvPr/>
        </p:nvSpPr>
        <p:spPr>
          <a:xfrm>
            <a:off x="8814816" y="1801368"/>
            <a:ext cx="246888" cy="0"/>
          </a:xfrm>
          <a:prstGeom prst="line">
            <a:avLst/>
          </a:prstGeom>
          <a:noFill/>
          <a:ln w="31750">
            <a:solidFill>
              <a:srgbClr val="14212B"/>
            </a:solidFill>
            <a:prstDash val="solid"/>
            <a:tailEnd type="triangle"/>
          </a:ln>
        </p:spPr>
      </p:sp>
      <p:sp>
        <p:nvSpPr>
          <p:cNvPr id="13" name="Shape 11"/>
          <p:cNvSpPr/>
          <p:nvPr/>
        </p:nvSpPr>
        <p:spPr>
          <a:xfrm>
            <a:off x="9107424" y="1325880"/>
            <a:ext cx="2514600" cy="960120"/>
          </a:xfrm>
          <a:prstGeom prst="roundRect">
            <a:avLst>
              <a:gd name="adj" fmla="val 11429"/>
            </a:avLst>
          </a:prstGeom>
          <a:solidFill>
            <a:srgbClr val="0E7C86"/>
          </a:solidFill>
          <a:ln/>
        </p:spPr>
      </p:sp>
      <p:sp>
        <p:nvSpPr>
          <p:cNvPr id="14" name="Text 12"/>
          <p:cNvSpPr txBox="1"/>
          <p:nvPr/>
        </p:nvSpPr>
        <p:spPr>
          <a:xfrm>
            <a:off x="9198864" y="1325880"/>
            <a:ext cx="2331720" cy="96012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Certify</a:t>
            </a:r>
            <a:endParaRPr lang="en-US" sz="2400" dirty="0"/>
          </a:p>
        </p:txBody>
      </p:sp>
      <p:sp>
        <p:nvSpPr>
          <p:cNvPr id="15" name="Text 13"/>
          <p:cNvSpPr txBox="1"/>
          <p:nvPr/>
        </p:nvSpPr>
        <p:spPr>
          <a:xfrm>
            <a:off x="548640" y="2514600"/>
            <a:ext cx="11064240" cy="457200"/>
          </a:xfrm>
          <a:prstGeom prst="rect">
            <a:avLst/>
          </a:prstGeom>
          <a:noFill/>
          <a:ln/>
        </p:spPr>
        <p:txBody>
          <a:bodyPr wrap="square" lIns="0" tIns="0" rIns="0" bIns="0" rtlCol="0" anchor="t"/>
          <a:lstStyle/>
          <a:p>
            <a:pPr algn="l" indent="0" marL="0">
              <a:buNone/>
            </a:pPr>
            <a:r>
              <a:rPr lang="en-US" sz="2400" dirty="0">
                <a:solidFill>
                  <a:srgbClr val="44546A"/>
                </a:solidFill>
                <a:latin typeface="Calibri" pitchFamily="34" charset="0"/>
                <a:ea typeface="Calibri" pitchFamily="34" charset="-122"/>
                <a:cs typeface="Calibri" pitchFamily="34" charset="-120"/>
              </a:rPr>
              <a:t>Unaided = tractor-only path follower: no hitch model, no look-ahead, no limit</a:t>
            </a:r>
            <a:endParaRPr lang="en-US" sz="2400" dirty="0"/>
          </a:p>
        </p:txBody>
      </p:sp>
      <p:sp>
        <p:nvSpPr>
          <p:cNvPr id="16" name="Shape 14"/>
          <p:cNvSpPr/>
          <p:nvPr/>
        </p:nvSpPr>
        <p:spPr>
          <a:xfrm>
            <a:off x="594360" y="3218688"/>
            <a:ext cx="411480" cy="411480"/>
          </a:xfrm>
          <a:prstGeom prst="ellipse">
            <a:avLst/>
          </a:prstGeom>
          <a:solidFill>
            <a:srgbClr val="1E7A45"/>
          </a:solidFill>
          <a:ln/>
        </p:spPr>
      </p:sp>
      <p:sp>
        <p:nvSpPr>
          <p:cNvPr id="17" name="Text 15"/>
          <p:cNvSpPr txBox="1"/>
          <p:nvPr/>
        </p:nvSpPr>
        <p:spPr>
          <a:xfrm>
            <a:off x="594360" y="3218688"/>
            <a:ext cx="411480" cy="41148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a:t>
            </a:r>
            <a:endParaRPr lang="en-US" sz="2400" dirty="0"/>
          </a:p>
        </p:txBody>
      </p:sp>
      <p:sp>
        <p:nvSpPr>
          <p:cNvPr id="18" name="Text 16"/>
          <p:cNvSpPr txBox="1"/>
          <p:nvPr/>
        </p:nvSpPr>
        <p:spPr>
          <a:xfrm>
            <a:off x="1188720" y="3200400"/>
            <a:ext cx="5303520" cy="457200"/>
          </a:xfrm>
          <a:prstGeom prst="rect">
            <a:avLst/>
          </a:prstGeom>
          <a:noFill/>
          <a:ln/>
        </p:spPr>
        <p:txBody>
          <a:bodyPr wrap="square" lIns="0" tIns="0" rIns="0" bIns="0" rtlCol="0" anchor="ctr"/>
          <a:lstStyle/>
          <a:p>
            <a:pPr algn="l" indent="0" marL="0">
              <a:buNone/>
            </a:pPr>
            <a:r>
              <a:rPr lang="en-US" sz="2400" dirty="0">
                <a:solidFill>
                  <a:srgbClr val="14212B"/>
                </a:solidFill>
                <a:latin typeface="Calibri" pitchFamily="34" charset="0"/>
                <a:ea typeface="Calibri" pitchFamily="34" charset="-122"/>
                <a:cs typeface="Calibri" pitchFamily="34" charset="-120"/>
              </a:rPr>
              <a:t>No jackknife</a:t>
            </a:r>
            <a:endParaRPr lang="en-US" sz="2400" dirty="0"/>
          </a:p>
        </p:txBody>
      </p:sp>
      <p:sp>
        <p:nvSpPr>
          <p:cNvPr id="19" name="Shape 17"/>
          <p:cNvSpPr/>
          <p:nvPr/>
        </p:nvSpPr>
        <p:spPr>
          <a:xfrm>
            <a:off x="594360" y="3767328"/>
            <a:ext cx="411480" cy="411480"/>
          </a:xfrm>
          <a:prstGeom prst="ellipse">
            <a:avLst/>
          </a:prstGeom>
          <a:solidFill>
            <a:srgbClr val="1E7A45"/>
          </a:solidFill>
          <a:ln/>
        </p:spPr>
      </p:sp>
      <p:sp>
        <p:nvSpPr>
          <p:cNvPr id="20" name="Text 18"/>
          <p:cNvSpPr txBox="1"/>
          <p:nvPr/>
        </p:nvSpPr>
        <p:spPr>
          <a:xfrm>
            <a:off x="594360" y="3767328"/>
            <a:ext cx="411480" cy="41148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a:t>
            </a:r>
            <a:endParaRPr lang="en-US" sz="2400" dirty="0"/>
          </a:p>
        </p:txBody>
      </p:sp>
      <p:sp>
        <p:nvSpPr>
          <p:cNvPr id="21" name="Text 19"/>
          <p:cNvSpPr txBox="1"/>
          <p:nvPr/>
        </p:nvSpPr>
        <p:spPr>
          <a:xfrm>
            <a:off x="1188720" y="3749040"/>
            <a:ext cx="5303520" cy="457200"/>
          </a:xfrm>
          <a:prstGeom prst="rect">
            <a:avLst/>
          </a:prstGeom>
          <a:noFill/>
          <a:ln/>
        </p:spPr>
        <p:txBody>
          <a:bodyPr wrap="square" lIns="0" tIns="0" rIns="0" bIns="0" rtlCol="0" anchor="ctr"/>
          <a:lstStyle/>
          <a:p>
            <a:pPr algn="l" indent="0" marL="0">
              <a:buNone/>
            </a:pPr>
            <a:r>
              <a:rPr lang="en-US" sz="2400" dirty="0">
                <a:solidFill>
                  <a:srgbClr val="14212B"/>
                </a:solidFill>
                <a:latin typeface="Calibri" pitchFamily="34" charset="0"/>
                <a:ea typeface="Calibri" pitchFamily="34" charset="-122"/>
                <a:cs typeface="Calibri" pitchFamily="34" charset="-120"/>
              </a:rPr>
              <a:t>|ψ| ≤ 60° at every instant</a:t>
            </a:r>
            <a:endParaRPr lang="en-US" sz="2400" dirty="0"/>
          </a:p>
        </p:txBody>
      </p:sp>
      <p:sp>
        <p:nvSpPr>
          <p:cNvPr id="22" name="Shape 20"/>
          <p:cNvSpPr/>
          <p:nvPr/>
        </p:nvSpPr>
        <p:spPr>
          <a:xfrm>
            <a:off x="594360" y="4315968"/>
            <a:ext cx="411480" cy="411480"/>
          </a:xfrm>
          <a:prstGeom prst="ellipse">
            <a:avLst/>
          </a:prstGeom>
          <a:solidFill>
            <a:srgbClr val="1E7A45"/>
          </a:solidFill>
          <a:ln/>
        </p:spPr>
      </p:sp>
      <p:sp>
        <p:nvSpPr>
          <p:cNvPr id="23" name="Text 21"/>
          <p:cNvSpPr txBox="1"/>
          <p:nvPr/>
        </p:nvSpPr>
        <p:spPr>
          <a:xfrm>
            <a:off x="594360" y="4315968"/>
            <a:ext cx="411480" cy="41148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a:t>
            </a:r>
            <a:endParaRPr lang="en-US" sz="2400" dirty="0"/>
          </a:p>
        </p:txBody>
      </p:sp>
      <p:sp>
        <p:nvSpPr>
          <p:cNvPr id="24" name="Text 22"/>
          <p:cNvSpPr txBox="1"/>
          <p:nvPr/>
        </p:nvSpPr>
        <p:spPr>
          <a:xfrm>
            <a:off x="1188720" y="4297680"/>
            <a:ext cx="5303520" cy="457200"/>
          </a:xfrm>
          <a:prstGeom prst="rect">
            <a:avLst/>
          </a:prstGeom>
          <a:noFill/>
          <a:ln/>
        </p:spPr>
        <p:txBody>
          <a:bodyPr wrap="square" lIns="0" tIns="0" rIns="0" bIns="0" rtlCol="0" anchor="ctr"/>
          <a:lstStyle/>
          <a:p>
            <a:pPr algn="l" indent="0" marL="0">
              <a:buNone/>
            </a:pPr>
            <a:r>
              <a:rPr lang="en-US" sz="2400" dirty="0">
                <a:solidFill>
                  <a:srgbClr val="14212B"/>
                </a:solidFill>
                <a:latin typeface="Calibri" pitchFamily="34" charset="0"/>
                <a:ea typeface="Calibri" pitchFamily="34" charset="-122"/>
                <a:cs typeface="Calibri" pitchFamily="34" charset="-120"/>
              </a:rPr>
              <a:t>≥ 0.10 m from every obstacle</a:t>
            </a:r>
            <a:endParaRPr lang="en-US" sz="2400" dirty="0"/>
          </a:p>
        </p:txBody>
      </p:sp>
      <p:sp>
        <p:nvSpPr>
          <p:cNvPr id="25" name="Shape 23"/>
          <p:cNvSpPr/>
          <p:nvPr/>
        </p:nvSpPr>
        <p:spPr>
          <a:xfrm>
            <a:off x="594360" y="4864608"/>
            <a:ext cx="411480" cy="411480"/>
          </a:xfrm>
          <a:prstGeom prst="ellipse">
            <a:avLst/>
          </a:prstGeom>
          <a:solidFill>
            <a:srgbClr val="1E7A45"/>
          </a:solidFill>
          <a:ln/>
        </p:spPr>
      </p:sp>
      <p:sp>
        <p:nvSpPr>
          <p:cNvPr id="26" name="Text 24"/>
          <p:cNvSpPr txBox="1"/>
          <p:nvPr/>
        </p:nvSpPr>
        <p:spPr>
          <a:xfrm>
            <a:off x="594360" y="4864608"/>
            <a:ext cx="411480" cy="41148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a:t>
            </a:r>
            <a:endParaRPr lang="en-US" sz="2400" dirty="0"/>
          </a:p>
        </p:txBody>
      </p:sp>
      <p:sp>
        <p:nvSpPr>
          <p:cNvPr id="27" name="Text 25"/>
          <p:cNvSpPr txBox="1"/>
          <p:nvPr/>
        </p:nvSpPr>
        <p:spPr>
          <a:xfrm>
            <a:off x="1188720" y="4846320"/>
            <a:ext cx="5303520" cy="457200"/>
          </a:xfrm>
          <a:prstGeom prst="rect">
            <a:avLst/>
          </a:prstGeom>
          <a:noFill/>
          <a:ln/>
        </p:spPr>
        <p:txBody>
          <a:bodyPr wrap="square" lIns="0" tIns="0" rIns="0" bIns="0" rtlCol="0" anchor="ctr"/>
          <a:lstStyle/>
          <a:p>
            <a:pPr algn="l" indent="0" marL="0">
              <a:buNone/>
            </a:pPr>
            <a:r>
              <a:rPr lang="en-US" sz="2400" dirty="0">
                <a:solidFill>
                  <a:srgbClr val="14212B"/>
                </a:solidFill>
                <a:latin typeface="Calibri" pitchFamily="34" charset="0"/>
                <a:ea typeface="Calibri" pitchFamily="34" charset="-122"/>
                <a:cs typeface="Calibri" pitchFamily="34" charset="-120"/>
              </a:rPr>
              <a:t>≤ 0.8 m from the bay centre</a:t>
            </a:r>
            <a:endParaRPr lang="en-US" sz="2400" dirty="0"/>
          </a:p>
        </p:txBody>
      </p:sp>
      <p:sp>
        <p:nvSpPr>
          <p:cNvPr id="28" name="Shape 26"/>
          <p:cNvSpPr/>
          <p:nvPr/>
        </p:nvSpPr>
        <p:spPr>
          <a:xfrm>
            <a:off x="594360" y="5413248"/>
            <a:ext cx="411480" cy="411480"/>
          </a:xfrm>
          <a:prstGeom prst="ellipse">
            <a:avLst/>
          </a:prstGeom>
          <a:solidFill>
            <a:srgbClr val="1E7A45"/>
          </a:solidFill>
          <a:ln/>
        </p:spPr>
      </p:sp>
      <p:sp>
        <p:nvSpPr>
          <p:cNvPr id="29" name="Text 27"/>
          <p:cNvSpPr txBox="1"/>
          <p:nvPr/>
        </p:nvSpPr>
        <p:spPr>
          <a:xfrm>
            <a:off x="594360" y="5413248"/>
            <a:ext cx="411480" cy="41148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a:t>
            </a:r>
            <a:endParaRPr lang="en-US" sz="2400" dirty="0"/>
          </a:p>
        </p:txBody>
      </p:sp>
      <p:sp>
        <p:nvSpPr>
          <p:cNvPr id="30" name="Text 28"/>
          <p:cNvSpPr txBox="1"/>
          <p:nvPr/>
        </p:nvSpPr>
        <p:spPr>
          <a:xfrm>
            <a:off x="1188720" y="5394960"/>
            <a:ext cx="5303520" cy="457200"/>
          </a:xfrm>
          <a:prstGeom prst="rect">
            <a:avLst/>
          </a:prstGeom>
          <a:noFill/>
          <a:ln/>
        </p:spPr>
        <p:txBody>
          <a:bodyPr wrap="square" lIns="0" tIns="0" rIns="0" bIns="0" rtlCol="0" anchor="ctr"/>
          <a:lstStyle/>
          <a:p>
            <a:pPr algn="l" indent="0" marL="0">
              <a:buNone/>
            </a:pPr>
            <a:r>
              <a:rPr lang="en-US" sz="2400" dirty="0">
                <a:solidFill>
                  <a:srgbClr val="14212B"/>
                </a:solidFill>
                <a:latin typeface="Calibri" pitchFamily="34" charset="0"/>
                <a:ea typeface="Calibri" pitchFamily="34" charset="-122"/>
                <a:cs typeface="Calibri" pitchFamily="34" charset="-120"/>
              </a:rPr>
              <a:t>≤ 10° heading, ≤ 12° hitch</a:t>
            </a:r>
            <a:endParaRPr lang="en-US" sz="2400" dirty="0"/>
          </a:p>
        </p:txBody>
      </p:sp>
      <p:sp>
        <p:nvSpPr>
          <p:cNvPr id="31" name="Shape 29"/>
          <p:cNvSpPr/>
          <p:nvPr/>
        </p:nvSpPr>
        <p:spPr>
          <a:xfrm>
            <a:off x="6949440" y="3200400"/>
            <a:ext cx="4663440" cy="2651760"/>
          </a:xfrm>
          <a:prstGeom prst="roundRect">
            <a:avLst>
              <a:gd name="adj" fmla="val 4138"/>
            </a:avLst>
          </a:prstGeom>
          <a:solidFill>
            <a:srgbClr val="FBF1E3"/>
          </a:solidFill>
          <a:ln/>
        </p:spPr>
      </p:sp>
      <p:sp>
        <p:nvSpPr>
          <p:cNvPr id="32" name="Text 30"/>
          <p:cNvSpPr txBox="1"/>
          <p:nvPr/>
        </p:nvSpPr>
        <p:spPr>
          <a:xfrm>
            <a:off x="7223760" y="3200400"/>
            <a:ext cx="4206240" cy="2651760"/>
          </a:xfrm>
          <a:prstGeom prst="rect">
            <a:avLst/>
          </a:prstGeom>
          <a:noFill/>
          <a:ln/>
        </p:spPr>
        <p:txBody>
          <a:bodyPr wrap="square" lIns="0" tIns="0" rIns="0" bIns="0" rtlCol="0" anchor="ctr"/>
          <a:lstStyle/>
          <a:p>
            <a:pPr algn="l" indent="0" marL="0">
              <a:buNone/>
            </a:pPr>
            <a:r>
              <a:rPr lang="en-US" sz="2400" dirty="0">
                <a:solidFill>
                  <a:srgbClr val="14212B"/>
                </a:solidFill>
                <a:latin typeface="Calibri" pitchFamily="34" charset="0"/>
                <a:ea typeface="Calibri" pitchFamily="34" charset="-122"/>
                <a:cs typeface="Calibri" pitchFamily="34" charset="-120"/>
              </a:rPr>
              <a:t>Only certified bays are offered to the driver; the rest show as “too tight”</a:t>
            </a:r>
            <a:endParaRPr lang="en-US" sz="2400" dirty="0"/>
          </a:p>
        </p:txBody>
      </p:sp>
      <p:sp>
        <p:nvSpPr>
          <p:cNvPr id="25" name="Slide Number Placeholder 0"/>
          <p:cNvSpPr>
            <a:spLocks noGrp="1"/>
          </p:cNvSpPr>
          <p:nvPr>
            <p:ph type="sldNum" sz="quarter" idx="4294967295"/>
          </p:nvPr>
        </p:nvSpPr>
        <p:spPr>
          <a:xfrm>
            <a:off x="10744200" y="6309360"/>
            <a:ext cx="91440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0E7C86"/>
                </a:solidFill>
                <a:latin typeface="Calibri"/>
                <a:ea typeface="Calibri"/>
                <a:cs typeface="Calibri"/>
              </a:defRPr>
            </a:lvl1pPr>
          </a:lstStyle>
          <a:p>
            <a:pPr algn="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777240"/>
          </a:xfrm>
          <a:prstGeom prst="rect">
            <a:avLst/>
          </a:prstGeom>
          <a:noFill/>
          <a:ln/>
        </p:spPr>
        <p:txBody>
          <a:bodyPr wrap="square" lIns="0" tIns="0" rIns="0" bIns="0" rtlCol="0" anchor="ctr"/>
          <a:lstStyle/>
          <a:p>
            <a:pPr indent="0" marL="0">
              <a:buNone/>
            </a:pPr>
            <a:r>
              <a:rPr lang="en-US" sz="3400" b="1" dirty="0">
                <a:solidFill>
                  <a:srgbClr val="14212B"/>
                </a:solidFill>
                <a:latin typeface="Cambria" pitchFamily="34" charset="0"/>
                <a:ea typeface="Cambria" pitchFamily="34" charset="-122"/>
                <a:cs typeface="Cambria" pitchFamily="34" charset="-120"/>
              </a:rPr>
              <a:t>Results at a glance</a:t>
            </a:r>
            <a:endParaRPr lang="en-US" sz="3400" dirty="0"/>
          </a:p>
        </p:txBody>
      </p:sp>
      <p:sp>
        <p:nvSpPr>
          <p:cNvPr id="3" name="Text 1"/>
          <p:cNvSpPr txBox="1"/>
          <p:nvPr/>
        </p:nvSpPr>
        <p:spPr>
          <a:xfrm>
            <a:off x="548640" y="6309360"/>
            <a:ext cx="8229600" cy="411480"/>
          </a:xfrm>
          <a:prstGeom prst="rect">
            <a:avLst/>
          </a:prstGeom>
          <a:noFill/>
          <a:ln/>
        </p:spPr>
        <p:txBody>
          <a:bodyPr wrap="square" lIns="0" tIns="0" rIns="0" bIns="0" rtlCol="0" anchor="ctr"/>
          <a:lstStyle/>
          <a:p>
            <a:pPr indent="0" marL="0">
              <a:buNone/>
            </a:pPr>
            <a:r>
              <a:rPr lang="en-US" sz="2400" dirty="0">
                <a:solidFill>
                  <a:srgbClr val="44546A"/>
                </a:solidFill>
                <a:latin typeface="Calibri" pitchFamily="34" charset="0"/>
                <a:ea typeface="Calibri" pitchFamily="34" charset="-122"/>
                <a:cs typeface="Calibri" pitchFamily="34" charset="-120"/>
              </a:rPr>
              <a:t>Results</a:t>
            </a:r>
            <a:endParaRPr lang="en-US" sz="2400" dirty="0"/>
          </a:p>
        </p:txBody>
      </p:sp>
      <p:sp>
        <p:nvSpPr>
          <p:cNvPr id="4" name="Shape 2"/>
          <p:cNvSpPr/>
          <p:nvPr/>
        </p:nvSpPr>
        <p:spPr>
          <a:xfrm>
            <a:off x="548640" y="1371600"/>
            <a:ext cx="2606040" cy="3291840"/>
          </a:xfrm>
          <a:prstGeom prst="roundRect">
            <a:avLst>
              <a:gd name="adj" fmla="val 4211"/>
            </a:avLst>
          </a:prstGeom>
          <a:solidFill>
            <a:srgbClr val="E8F3F4"/>
          </a:solidFill>
          <a:ln/>
        </p:spPr>
      </p:sp>
      <p:sp>
        <p:nvSpPr>
          <p:cNvPr id="5" name="Text 3"/>
          <p:cNvSpPr txBox="1"/>
          <p:nvPr/>
        </p:nvSpPr>
        <p:spPr>
          <a:xfrm>
            <a:off x="548640" y="1600200"/>
            <a:ext cx="2606040" cy="1097280"/>
          </a:xfrm>
          <a:prstGeom prst="rect">
            <a:avLst/>
          </a:prstGeom>
          <a:noFill/>
          <a:ln/>
        </p:spPr>
        <p:txBody>
          <a:bodyPr wrap="square" lIns="0" tIns="0" rIns="0" bIns="0" rtlCol="0" anchor="ctr"/>
          <a:lstStyle/>
          <a:p>
            <a:pPr algn="ctr" indent="0" marL="0">
              <a:buNone/>
            </a:pPr>
            <a:r>
              <a:rPr lang="en-US" sz="5400" b="1" dirty="0">
                <a:solidFill>
                  <a:srgbClr val="0E7C86"/>
                </a:solidFill>
                <a:latin typeface="Cambria" pitchFamily="34" charset="0"/>
                <a:ea typeface="Cambria" pitchFamily="34" charset="-122"/>
                <a:cs typeface="Cambria" pitchFamily="34" charset="-120"/>
              </a:rPr>
              <a:t>98/110</a:t>
            </a:r>
            <a:endParaRPr lang="en-US" sz="5400" dirty="0"/>
          </a:p>
        </p:txBody>
      </p:sp>
      <p:sp>
        <p:nvSpPr>
          <p:cNvPr id="6" name="Text 4"/>
          <p:cNvSpPr txBox="1"/>
          <p:nvPr/>
        </p:nvSpPr>
        <p:spPr>
          <a:xfrm>
            <a:off x="731520" y="2834640"/>
            <a:ext cx="2240280" cy="1645920"/>
          </a:xfrm>
          <a:prstGeom prst="rect">
            <a:avLst/>
          </a:prstGeom>
          <a:noFill/>
          <a:ln/>
        </p:spPr>
        <p:txBody>
          <a:bodyPr wrap="square" lIns="0" tIns="0" rIns="0" bIns="0" rtlCol="0" anchor="t"/>
          <a:lstStyle/>
          <a:p>
            <a:pPr algn="ctr" indent="0" marL="0">
              <a:buNone/>
            </a:pPr>
            <a:r>
              <a:rPr lang="en-US" sz="2400" dirty="0">
                <a:solidFill>
                  <a:srgbClr val="14212B"/>
                </a:solidFill>
                <a:latin typeface="Calibri" pitchFamily="34" charset="0"/>
                <a:ea typeface="Calibri" pitchFamily="34" charset="-122"/>
                <a:cs typeface="Calibri" pitchFamily="34" charset="-120"/>
              </a:rPr>
              <a:t>bays certified for guidance</a:t>
            </a:r>
            <a:endParaRPr lang="en-US" sz="2400" dirty="0"/>
          </a:p>
        </p:txBody>
      </p:sp>
      <p:sp>
        <p:nvSpPr>
          <p:cNvPr id="7" name="Shape 5"/>
          <p:cNvSpPr/>
          <p:nvPr/>
        </p:nvSpPr>
        <p:spPr>
          <a:xfrm>
            <a:off x="3364992" y="1371600"/>
            <a:ext cx="2606040" cy="3291840"/>
          </a:xfrm>
          <a:prstGeom prst="roundRect">
            <a:avLst>
              <a:gd name="adj" fmla="val 4211"/>
            </a:avLst>
          </a:prstGeom>
          <a:solidFill>
            <a:srgbClr val="FBEAE8"/>
          </a:solidFill>
          <a:ln/>
        </p:spPr>
      </p:sp>
      <p:sp>
        <p:nvSpPr>
          <p:cNvPr id="8" name="Text 6"/>
          <p:cNvSpPr txBox="1"/>
          <p:nvPr/>
        </p:nvSpPr>
        <p:spPr>
          <a:xfrm>
            <a:off x="3364992" y="1600200"/>
            <a:ext cx="2606040" cy="1097280"/>
          </a:xfrm>
          <a:prstGeom prst="rect">
            <a:avLst/>
          </a:prstGeom>
          <a:noFill/>
          <a:ln/>
        </p:spPr>
        <p:txBody>
          <a:bodyPr wrap="square" lIns="0" tIns="0" rIns="0" bIns="0" rtlCol="0" anchor="ctr"/>
          <a:lstStyle/>
          <a:p>
            <a:pPr algn="ctr" indent="0" marL="0">
              <a:buNone/>
            </a:pPr>
            <a:r>
              <a:rPr lang="en-US" sz="5400" b="1" dirty="0">
                <a:solidFill>
                  <a:srgbClr val="B83227"/>
                </a:solidFill>
                <a:latin typeface="Cambria" pitchFamily="34" charset="0"/>
                <a:ea typeface="Cambria" pitchFamily="34" charset="-122"/>
                <a:cs typeface="Cambria" pitchFamily="34" charset="-120"/>
              </a:rPr>
              <a:t>60/60</a:t>
            </a:r>
            <a:endParaRPr lang="en-US" sz="5400" dirty="0"/>
          </a:p>
        </p:txBody>
      </p:sp>
      <p:sp>
        <p:nvSpPr>
          <p:cNvPr id="9" name="Text 7"/>
          <p:cNvSpPr txBox="1"/>
          <p:nvPr/>
        </p:nvSpPr>
        <p:spPr>
          <a:xfrm>
            <a:off x="3547872" y="2834640"/>
            <a:ext cx="2240280" cy="1645920"/>
          </a:xfrm>
          <a:prstGeom prst="rect">
            <a:avLst/>
          </a:prstGeom>
          <a:noFill/>
          <a:ln/>
        </p:spPr>
        <p:txBody>
          <a:bodyPr wrap="square" lIns="0" tIns="0" rIns="0" bIns="0" rtlCol="0" anchor="t"/>
          <a:lstStyle/>
          <a:p>
            <a:pPr algn="ctr" indent="0" marL="0">
              <a:buNone/>
            </a:pPr>
            <a:r>
              <a:rPr lang="en-US" sz="2400" dirty="0">
                <a:solidFill>
                  <a:srgbClr val="14212B"/>
                </a:solidFill>
                <a:latin typeface="Calibri" pitchFamily="34" charset="0"/>
                <a:ea typeface="Calibri" pitchFamily="34" charset="-122"/>
                <a:cs typeface="Calibri" pitchFamily="34" charset="-120"/>
              </a:rPr>
              <a:t>unaided reverses jackknife</a:t>
            </a:r>
            <a:endParaRPr lang="en-US" sz="2400" dirty="0"/>
          </a:p>
        </p:txBody>
      </p:sp>
      <p:sp>
        <p:nvSpPr>
          <p:cNvPr id="10" name="Shape 8"/>
          <p:cNvSpPr/>
          <p:nvPr/>
        </p:nvSpPr>
        <p:spPr>
          <a:xfrm>
            <a:off x="6181344" y="1371600"/>
            <a:ext cx="2606040" cy="3291840"/>
          </a:xfrm>
          <a:prstGeom prst="roundRect">
            <a:avLst>
              <a:gd name="adj" fmla="val 4211"/>
            </a:avLst>
          </a:prstGeom>
          <a:solidFill>
            <a:srgbClr val="E8F4ED"/>
          </a:solidFill>
          <a:ln/>
        </p:spPr>
      </p:sp>
      <p:sp>
        <p:nvSpPr>
          <p:cNvPr id="11" name="Text 9"/>
          <p:cNvSpPr txBox="1"/>
          <p:nvPr/>
        </p:nvSpPr>
        <p:spPr>
          <a:xfrm>
            <a:off x="6181344" y="1600200"/>
            <a:ext cx="2606040" cy="1097280"/>
          </a:xfrm>
          <a:prstGeom prst="rect">
            <a:avLst/>
          </a:prstGeom>
          <a:noFill/>
          <a:ln/>
        </p:spPr>
        <p:txBody>
          <a:bodyPr wrap="square" lIns="0" tIns="0" rIns="0" bIns="0" rtlCol="0" anchor="ctr"/>
          <a:lstStyle/>
          <a:p>
            <a:pPr algn="ctr" indent="0" marL="0">
              <a:buNone/>
            </a:pPr>
            <a:r>
              <a:rPr lang="en-US" sz="5400" b="1" dirty="0">
                <a:solidFill>
                  <a:srgbClr val="1E7A45"/>
                </a:solidFill>
                <a:latin typeface="Cambria" pitchFamily="34" charset="0"/>
                <a:ea typeface="Cambria" pitchFamily="34" charset="-122"/>
                <a:cs typeface="Cambria" pitchFamily="34" charset="-120"/>
              </a:rPr>
              <a:t>0</a:t>
            </a:r>
            <a:endParaRPr lang="en-US" sz="5400" dirty="0"/>
          </a:p>
        </p:txBody>
      </p:sp>
      <p:sp>
        <p:nvSpPr>
          <p:cNvPr id="12" name="Text 10"/>
          <p:cNvSpPr txBox="1"/>
          <p:nvPr/>
        </p:nvSpPr>
        <p:spPr>
          <a:xfrm>
            <a:off x="6364224" y="2834640"/>
            <a:ext cx="2240280" cy="1645920"/>
          </a:xfrm>
          <a:prstGeom prst="rect">
            <a:avLst/>
          </a:prstGeom>
          <a:noFill/>
          <a:ln/>
        </p:spPr>
        <p:txBody>
          <a:bodyPr wrap="square" lIns="0" tIns="0" rIns="0" bIns="0" rtlCol="0" anchor="t"/>
          <a:lstStyle/>
          <a:p>
            <a:pPr algn="ctr" indent="0" marL="0">
              <a:buNone/>
            </a:pPr>
            <a:r>
              <a:rPr lang="en-US" sz="2400" dirty="0">
                <a:solidFill>
                  <a:srgbClr val="14212B"/>
                </a:solidFill>
                <a:latin typeface="Calibri" pitchFamily="34" charset="0"/>
                <a:ea typeface="Calibri" pitchFamily="34" charset="-122"/>
                <a:cs typeface="Calibri" pitchFamily="34" charset="-120"/>
              </a:rPr>
              <a:t>hitch-limit violations with NMPC</a:t>
            </a:r>
            <a:endParaRPr lang="en-US" sz="2400" dirty="0"/>
          </a:p>
        </p:txBody>
      </p:sp>
      <p:sp>
        <p:nvSpPr>
          <p:cNvPr id="13" name="Shape 11"/>
          <p:cNvSpPr/>
          <p:nvPr/>
        </p:nvSpPr>
        <p:spPr>
          <a:xfrm>
            <a:off x="8997696" y="1371600"/>
            <a:ext cx="2606040" cy="3291840"/>
          </a:xfrm>
          <a:prstGeom prst="roundRect">
            <a:avLst>
              <a:gd name="adj" fmla="val 4211"/>
            </a:avLst>
          </a:prstGeom>
          <a:solidFill>
            <a:srgbClr val="FBF1E3"/>
          </a:solidFill>
          <a:ln/>
        </p:spPr>
      </p:sp>
      <p:sp>
        <p:nvSpPr>
          <p:cNvPr id="14" name="Text 12"/>
          <p:cNvSpPr txBox="1"/>
          <p:nvPr/>
        </p:nvSpPr>
        <p:spPr>
          <a:xfrm>
            <a:off x="8997696" y="1600200"/>
            <a:ext cx="2606040" cy="1097280"/>
          </a:xfrm>
          <a:prstGeom prst="rect">
            <a:avLst/>
          </a:prstGeom>
          <a:noFill/>
          <a:ln/>
        </p:spPr>
        <p:txBody>
          <a:bodyPr wrap="square" lIns="0" tIns="0" rIns="0" bIns="0" rtlCol="0" anchor="ctr"/>
          <a:lstStyle/>
          <a:p>
            <a:pPr algn="ctr" indent="0" marL="0">
              <a:buNone/>
            </a:pPr>
            <a:r>
              <a:rPr lang="en-US" sz="5400" b="1" dirty="0">
                <a:solidFill>
                  <a:srgbClr val="A8661A"/>
                </a:solidFill>
                <a:latin typeface="Cambria" pitchFamily="34" charset="0"/>
                <a:ea typeface="Cambria" pitchFamily="34" charset="-122"/>
                <a:cs typeface="Cambria" pitchFamily="34" charset="-120"/>
              </a:rPr>
              <a:t>53.3°</a:t>
            </a:r>
            <a:endParaRPr lang="en-US" sz="5400" dirty="0"/>
          </a:p>
        </p:txBody>
      </p:sp>
      <p:sp>
        <p:nvSpPr>
          <p:cNvPr id="15" name="Text 13"/>
          <p:cNvSpPr txBox="1"/>
          <p:nvPr/>
        </p:nvSpPr>
        <p:spPr>
          <a:xfrm>
            <a:off x="9180576" y="2834640"/>
            <a:ext cx="2240280" cy="1645920"/>
          </a:xfrm>
          <a:prstGeom prst="rect">
            <a:avLst/>
          </a:prstGeom>
          <a:noFill/>
          <a:ln/>
        </p:spPr>
        <p:txBody>
          <a:bodyPr wrap="square" lIns="0" tIns="0" rIns="0" bIns="0" rtlCol="0" anchor="t"/>
          <a:lstStyle/>
          <a:p>
            <a:pPr algn="ctr" indent="0" marL="0">
              <a:buNone/>
            </a:pPr>
            <a:r>
              <a:rPr lang="en-US" sz="2400" dirty="0">
                <a:solidFill>
                  <a:srgbClr val="14212B"/>
                </a:solidFill>
                <a:latin typeface="Calibri" pitchFamily="34" charset="0"/>
                <a:ea typeface="Calibri" pitchFamily="34" charset="-122"/>
                <a:cs typeface="Calibri" pitchFamily="34" charset="-120"/>
              </a:rPr>
              <a:t>worst hitch angle (limit 60°)</a:t>
            </a:r>
            <a:endParaRPr lang="en-US" sz="2400" dirty="0"/>
          </a:p>
        </p:txBody>
      </p:sp>
      <p:sp>
        <p:nvSpPr>
          <p:cNvPr id="16" name="Text 14"/>
          <p:cNvSpPr txBox="1"/>
          <p:nvPr/>
        </p:nvSpPr>
        <p:spPr>
          <a:xfrm>
            <a:off x="548640" y="5029200"/>
            <a:ext cx="11064240" cy="822960"/>
          </a:xfrm>
          <a:prstGeom prst="rect">
            <a:avLst/>
          </a:prstGeom>
          <a:noFill/>
          <a:ln/>
        </p:spPr>
        <p:txBody>
          <a:bodyPr wrap="square" lIns="0" tIns="0" rIns="0" bIns="0" rtlCol="0" anchor="t"/>
          <a:lstStyle/>
          <a:p>
            <a:pPr algn="ctr" indent="0" marL="0">
              <a:buNone/>
            </a:pPr>
            <a:r>
              <a:rPr lang="en-US" sz="2400" dirty="0">
                <a:solidFill>
                  <a:srgbClr val="44546A"/>
                </a:solidFill>
                <a:latin typeface="Calibri" pitchFamily="34" charset="0"/>
                <a:ea typeface="Calibri" pitchFamily="34" charset="-122"/>
                <a:cs typeface="Calibri" pitchFamily="34" charset="-120"/>
              </a:rPr>
              <a:t>Min. clearance 0.25 m · plans in 0.1–6 s · NMPC 94–154 ms per solve</a:t>
            </a:r>
            <a:endParaRPr lang="en-US" sz="2400" dirty="0"/>
          </a:p>
        </p:txBody>
      </p:sp>
      <p:sp>
        <p:nvSpPr>
          <p:cNvPr id="25" name="Slide Number Placeholder 0"/>
          <p:cNvSpPr>
            <a:spLocks noGrp="1"/>
          </p:cNvSpPr>
          <p:nvPr>
            <p:ph type="sldNum" sz="quarter" idx="4294967295"/>
          </p:nvPr>
        </p:nvSpPr>
        <p:spPr>
          <a:xfrm>
            <a:off x="10744200" y="6309360"/>
            <a:ext cx="91440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0E7C86"/>
                </a:solidFill>
                <a:latin typeface="Calibri"/>
                <a:ea typeface="Calibri"/>
                <a:cs typeface="Calibri"/>
              </a:defRPr>
            </a:lvl1pPr>
          </a:lstStyle>
          <a:p>
            <a:pPr algn="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777240"/>
          </a:xfrm>
          <a:prstGeom prst="rect">
            <a:avLst/>
          </a:prstGeom>
          <a:noFill/>
          <a:ln/>
        </p:spPr>
        <p:txBody>
          <a:bodyPr wrap="square" lIns="0" tIns="0" rIns="0" bIns="0" rtlCol="0" anchor="ctr"/>
          <a:lstStyle/>
          <a:p>
            <a:pPr indent="0" marL="0">
              <a:buNone/>
            </a:pPr>
            <a:r>
              <a:rPr lang="en-US" sz="3400" b="1" dirty="0">
                <a:solidFill>
                  <a:srgbClr val="14212B"/>
                </a:solidFill>
                <a:latin typeface="Cambria" pitchFamily="34" charset="0"/>
                <a:ea typeface="Cambria" pitchFamily="34" charset="-122"/>
                <a:cs typeface="Cambria" pitchFamily="34" charset="-120"/>
              </a:rPr>
              <a:t>Results by layout</a:t>
            </a:r>
            <a:endParaRPr lang="en-US" sz="3400" dirty="0"/>
          </a:p>
        </p:txBody>
      </p:sp>
      <p:sp>
        <p:nvSpPr>
          <p:cNvPr id="3" name="Text 1"/>
          <p:cNvSpPr txBox="1"/>
          <p:nvPr/>
        </p:nvSpPr>
        <p:spPr>
          <a:xfrm>
            <a:off x="548640" y="6309360"/>
            <a:ext cx="8229600" cy="411480"/>
          </a:xfrm>
          <a:prstGeom prst="rect">
            <a:avLst/>
          </a:prstGeom>
          <a:noFill/>
          <a:ln/>
        </p:spPr>
        <p:txBody>
          <a:bodyPr wrap="square" lIns="0" tIns="0" rIns="0" bIns="0" rtlCol="0" anchor="ctr"/>
          <a:lstStyle/>
          <a:p>
            <a:pPr indent="0" marL="0">
              <a:buNone/>
            </a:pPr>
            <a:r>
              <a:rPr lang="en-US" sz="2400" dirty="0">
                <a:solidFill>
                  <a:srgbClr val="44546A"/>
                </a:solidFill>
                <a:latin typeface="Calibri" pitchFamily="34" charset="0"/>
                <a:ea typeface="Calibri" pitchFamily="34" charset="-122"/>
                <a:cs typeface="Calibri" pitchFamily="34" charset="-120"/>
              </a:rPr>
              <a:t>Results</a:t>
            </a:r>
            <a:endParaRPr lang="en-US" sz="2400" dirty="0"/>
          </a:p>
        </p:txBody>
      </p:sp>
      <p:graphicFrame>
        <p:nvGraphicFramePr>
          <p:cNvPr id="4" name="Chart 0" descr=""/>
          <p:cNvGraphicFramePr/>
          <p:nvPr/>
        </p:nvGraphicFramePr>
        <p:xfrm>
          <a:off x="457200" y="1234440"/>
          <a:ext cx="6583680" cy="4937760"/>
        </p:xfrm>
        <a:graphic xmlns:a="http://schemas.openxmlformats.org/drawingml/2006/main">
          <a:graphicData uri="http://schemas.openxmlformats.org/drawingml/2006/chart">
            <c:chart xmlns:c="http://schemas.openxmlformats.org/drawingml/2006/chart" r:id="rId1"/>
          </a:graphicData>
        </a:graphic>
      </p:graphicFrame>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7315200" y="1371600"/>
          <a:ext cx="4297680" cy="914400"/>
        </p:xfrm>
        <a:graphic>
          <a:graphicData uri="http://schemas.openxmlformats.org/drawingml/2006/table">
            <a:tbl>
              <a:tblPr/>
              <a:tblGrid>
                <a:gridCol w="1920240"/>
                <a:gridCol w="1188720"/>
                <a:gridCol w="1188720"/>
              </a:tblGrid>
              <a:tr h="457200">
                <a:tc>
                  <a:txBody>
                    <a:bodyPr/>
                    <a:lstStyle/>
                    <a:p>
                      <a:pPr algn="l" indent="0" marL="0">
                        <a:buNone/>
                      </a:pPr>
                      <a:r>
                        <a:rPr lang="en-US" sz="2400" b="1" dirty="0">
                          <a:solidFill>
                            <a:srgbClr val="FFFFFF"/>
                          </a:solidFill>
                          <a:latin typeface="Calibri" pitchFamily="34" charset="0"/>
                          <a:ea typeface="Calibri" pitchFamily="34" charset="-122"/>
                          <a:cs typeface="Calibri" pitchFamily="34" charset="-120"/>
                        </a:rPr>
                        <a:t>Median error</a:t>
                      </a:r>
                      <a:endParaRPr lang="en-US" sz="2400" dirty="0">
                        <a:latin typeface="Calibri" charset="0"/>
                        <a:ea typeface="Calibri" charset="0"/>
                        <a:cs typeface="Calibri" charset="0"/>
                      </a:endParaRPr>
                    </a:p>
                  </a:txBody>
                  <a:tcPr marL="54864" marR="54864" marT="54864" marB="54864">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solidFill>
                      <a:srgbClr val="0E7C86"/>
                    </a:solidFill>
                  </a:tcPr>
                </a:tc>
                <a:tc>
                  <a:txBody>
                    <a:bodyPr/>
                    <a:lstStyle/>
                    <a:p>
                      <a:pPr algn="r" indent="0" marL="0">
                        <a:buNone/>
                      </a:pPr>
                      <a:r>
                        <a:rPr lang="en-US" sz="2400" b="1" dirty="0">
                          <a:solidFill>
                            <a:srgbClr val="FFFFFF"/>
                          </a:solidFill>
                          <a:latin typeface="Calibri" pitchFamily="34" charset="0"/>
                          <a:ea typeface="Calibri" pitchFamily="34" charset="-122"/>
                          <a:cs typeface="Calibri" pitchFamily="34" charset="-120"/>
                        </a:rPr>
                        <a:t>lateral</a:t>
                      </a:r>
                      <a:endParaRPr lang="en-US" sz="2400" dirty="0">
                        <a:latin typeface="Calibri" charset="0"/>
                        <a:ea typeface="Calibri" charset="0"/>
                        <a:cs typeface="Calibri" charset="0"/>
                      </a:endParaRPr>
                    </a:p>
                  </a:txBody>
                  <a:tcPr marL="54864" marR="54864" marT="54864" marB="54864">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solidFill>
                      <a:srgbClr val="0E7C86"/>
                    </a:solidFill>
                  </a:tcPr>
                </a:tc>
                <a:tc>
                  <a:txBody>
                    <a:bodyPr/>
                    <a:lstStyle/>
                    <a:p>
                      <a:pPr algn="r" indent="0" marL="0">
                        <a:buNone/>
                      </a:pPr>
                      <a:r>
                        <a:rPr lang="en-US" sz="2400" b="1" dirty="0">
                          <a:solidFill>
                            <a:srgbClr val="FFFFFF"/>
                          </a:solidFill>
                          <a:latin typeface="Calibri" pitchFamily="34" charset="0"/>
                          <a:ea typeface="Calibri" pitchFamily="34" charset="-122"/>
                          <a:cs typeface="Calibri" pitchFamily="34" charset="-120"/>
                        </a:rPr>
                        <a:t>heading</a:t>
                      </a:r>
                      <a:endParaRPr lang="en-US" sz="2400" dirty="0">
                        <a:latin typeface="Calibri" charset="0"/>
                        <a:ea typeface="Calibri" charset="0"/>
                        <a:cs typeface="Calibri" charset="0"/>
                      </a:endParaRPr>
                    </a:p>
                  </a:txBody>
                  <a:tcPr marL="54864" marR="54864" marT="54864" marB="54864">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solidFill>
                      <a:srgbClr val="0E7C86"/>
                    </a:solidFill>
                  </a:tcPr>
                </a:tc>
              </a:tr>
              <a:tr h="457200">
                <a:tc>
                  <a:txBody>
                    <a:bodyPr/>
                    <a:lstStyle/>
                    <a:p>
                      <a:pPr indent="0" marL="0">
                        <a:buNone/>
                      </a:pPr>
                      <a:r>
                        <a:rPr lang="en-US" sz="2400" dirty="0">
                          <a:solidFill>
                            <a:srgbClr val="14212B"/>
                          </a:solidFill>
                          <a:latin typeface="Calibri" pitchFamily="34" charset="0"/>
                          <a:ea typeface="Calibri" pitchFamily="34" charset="-122"/>
                          <a:cs typeface="Calibri" pitchFamily="34" charset="-120"/>
                        </a:rPr>
                        <a:t>Cross</a:t>
                      </a:r>
                      <a:endParaRPr lang="en-US" sz="2400" dirty="0">
                        <a:latin typeface="Calibri" charset="0"/>
                        <a:ea typeface="Calibri" charset="0"/>
                        <a:cs typeface="Calibri" charset="0"/>
                      </a:endParaRPr>
                    </a:p>
                  </a:txBody>
                  <a:tcPr marL="54864" marR="54864" marT="54864" marB="54864">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tcPr>
                </a:tc>
                <a:tc>
                  <a:txBody>
                    <a:bodyPr/>
                    <a:lstStyle/>
                    <a:p>
                      <a:pPr algn="r" indent="0" marL="0">
                        <a:buNone/>
                      </a:pPr>
                      <a:r>
                        <a:rPr lang="en-US" sz="2400" dirty="0">
                          <a:solidFill>
                            <a:srgbClr val="14212B"/>
                          </a:solidFill>
                          <a:latin typeface="Calibri" pitchFamily="34" charset="0"/>
                          <a:ea typeface="Calibri" pitchFamily="34" charset="-122"/>
                          <a:cs typeface="Calibri" pitchFamily="34" charset="-120"/>
                        </a:rPr>
                        <a:t>0.58 m</a:t>
                      </a:r>
                      <a:endParaRPr lang="en-US" sz="2400" dirty="0">
                        <a:latin typeface="Calibri" charset="0"/>
                        <a:ea typeface="Calibri" charset="0"/>
                        <a:cs typeface="Calibri" charset="0"/>
                      </a:endParaRPr>
                    </a:p>
                  </a:txBody>
                  <a:tcPr marL="54864" marR="54864" marT="54864" marB="54864">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tcPr>
                </a:tc>
                <a:tc>
                  <a:txBody>
                    <a:bodyPr/>
                    <a:lstStyle/>
                    <a:p>
                      <a:pPr algn="r" indent="0" marL="0">
                        <a:buNone/>
                      </a:pPr>
                      <a:r>
                        <a:rPr lang="en-US" sz="2400" dirty="0">
                          <a:solidFill>
                            <a:srgbClr val="14212B"/>
                          </a:solidFill>
                          <a:latin typeface="Calibri" pitchFamily="34" charset="0"/>
                          <a:ea typeface="Calibri" pitchFamily="34" charset="-122"/>
                          <a:cs typeface="Calibri" pitchFamily="34" charset="-120"/>
                        </a:rPr>
                        <a:t>2.0°</a:t>
                      </a:r>
                      <a:endParaRPr lang="en-US" sz="2400" dirty="0">
                        <a:latin typeface="Calibri" charset="0"/>
                        <a:ea typeface="Calibri" charset="0"/>
                        <a:cs typeface="Calibri" charset="0"/>
                      </a:endParaRPr>
                    </a:p>
                  </a:txBody>
                  <a:tcPr marL="54864" marR="54864" marT="54864" marB="54864">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tcPr>
                </a:tc>
              </a:tr>
              <a:tr h="457200">
                <a:tc>
                  <a:txBody>
                    <a:bodyPr/>
                    <a:lstStyle/>
                    <a:p>
                      <a:pPr indent="0" marL="0">
                        <a:buNone/>
                      </a:pPr>
                      <a:r>
                        <a:rPr lang="en-US" sz="2400" dirty="0">
                          <a:solidFill>
                            <a:srgbClr val="14212B"/>
                          </a:solidFill>
                          <a:latin typeface="Calibri" pitchFamily="34" charset="0"/>
                          <a:ea typeface="Calibri" pitchFamily="34" charset="-122"/>
                          <a:cs typeface="Calibri" pitchFamily="34" charset="-120"/>
                        </a:rPr>
                        <a:t>Angled</a:t>
                      </a:r>
                      <a:endParaRPr lang="en-US" sz="2400" dirty="0">
                        <a:latin typeface="Calibri" charset="0"/>
                        <a:ea typeface="Calibri" charset="0"/>
                        <a:cs typeface="Calibri" charset="0"/>
                      </a:endParaRPr>
                    </a:p>
                  </a:txBody>
                  <a:tcPr marL="54864" marR="54864" marT="54864" marB="54864">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tcPr>
                </a:tc>
                <a:tc>
                  <a:txBody>
                    <a:bodyPr/>
                    <a:lstStyle/>
                    <a:p>
                      <a:pPr algn="r" indent="0" marL="0">
                        <a:buNone/>
                      </a:pPr>
                      <a:r>
                        <a:rPr lang="en-US" sz="2400" dirty="0">
                          <a:solidFill>
                            <a:srgbClr val="14212B"/>
                          </a:solidFill>
                          <a:latin typeface="Calibri" pitchFamily="34" charset="0"/>
                          <a:ea typeface="Calibri" pitchFamily="34" charset="-122"/>
                          <a:cs typeface="Calibri" pitchFamily="34" charset="-120"/>
                        </a:rPr>
                        <a:t>0.17 m</a:t>
                      </a:r>
                      <a:endParaRPr lang="en-US" sz="2400" dirty="0">
                        <a:latin typeface="Calibri" charset="0"/>
                        <a:ea typeface="Calibri" charset="0"/>
                        <a:cs typeface="Calibri" charset="0"/>
                      </a:endParaRPr>
                    </a:p>
                  </a:txBody>
                  <a:tcPr marL="54864" marR="54864" marT="54864" marB="54864">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tcPr>
                </a:tc>
                <a:tc>
                  <a:txBody>
                    <a:bodyPr/>
                    <a:lstStyle/>
                    <a:p>
                      <a:pPr algn="r" indent="0" marL="0">
                        <a:buNone/>
                      </a:pPr>
                      <a:r>
                        <a:rPr lang="en-US" sz="2400" dirty="0">
                          <a:solidFill>
                            <a:srgbClr val="14212B"/>
                          </a:solidFill>
                          <a:latin typeface="Calibri" pitchFamily="34" charset="0"/>
                          <a:ea typeface="Calibri" pitchFamily="34" charset="-122"/>
                          <a:cs typeface="Calibri" pitchFamily="34" charset="-120"/>
                        </a:rPr>
                        <a:t>4.2°</a:t>
                      </a:r>
                      <a:endParaRPr lang="en-US" sz="2400" dirty="0">
                        <a:latin typeface="Calibri" charset="0"/>
                        <a:ea typeface="Calibri" charset="0"/>
                        <a:cs typeface="Calibri" charset="0"/>
                      </a:endParaRPr>
                    </a:p>
                  </a:txBody>
                  <a:tcPr marL="54864" marR="54864" marT="54864" marB="54864">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tcPr>
                </a:tc>
              </a:tr>
              <a:tr h="457200">
                <a:tc>
                  <a:txBody>
                    <a:bodyPr/>
                    <a:lstStyle/>
                    <a:p>
                      <a:pPr indent="0" marL="0">
                        <a:buNone/>
                      </a:pPr>
                      <a:r>
                        <a:rPr lang="en-US" sz="2400" dirty="0">
                          <a:solidFill>
                            <a:srgbClr val="14212B"/>
                          </a:solidFill>
                          <a:latin typeface="Calibri" pitchFamily="34" charset="0"/>
                          <a:ea typeface="Calibri" pitchFamily="34" charset="-122"/>
                          <a:cs typeface="Calibri" pitchFamily="34" charset="-120"/>
                        </a:rPr>
                        <a:t>Parallel</a:t>
                      </a:r>
                      <a:endParaRPr lang="en-US" sz="2400" dirty="0">
                        <a:latin typeface="Calibri" charset="0"/>
                        <a:ea typeface="Calibri" charset="0"/>
                        <a:cs typeface="Calibri" charset="0"/>
                      </a:endParaRPr>
                    </a:p>
                  </a:txBody>
                  <a:tcPr marL="54864" marR="54864" marT="54864" marB="54864">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tcPr>
                </a:tc>
                <a:tc>
                  <a:txBody>
                    <a:bodyPr/>
                    <a:lstStyle/>
                    <a:p>
                      <a:pPr algn="r" indent="0" marL="0">
                        <a:buNone/>
                      </a:pPr>
                      <a:r>
                        <a:rPr lang="en-US" sz="2400" dirty="0">
                          <a:solidFill>
                            <a:srgbClr val="14212B"/>
                          </a:solidFill>
                          <a:latin typeface="Calibri" pitchFamily="34" charset="0"/>
                          <a:ea typeface="Calibri" pitchFamily="34" charset="-122"/>
                          <a:cs typeface="Calibri" pitchFamily="34" charset="-120"/>
                        </a:rPr>
                        <a:t>0.72 m</a:t>
                      </a:r>
                      <a:endParaRPr lang="en-US" sz="2400" dirty="0">
                        <a:latin typeface="Calibri" charset="0"/>
                        <a:ea typeface="Calibri" charset="0"/>
                        <a:cs typeface="Calibri" charset="0"/>
                      </a:endParaRPr>
                    </a:p>
                  </a:txBody>
                  <a:tcPr marL="54864" marR="54864" marT="54864" marB="54864">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tcPr>
                </a:tc>
                <a:tc>
                  <a:txBody>
                    <a:bodyPr/>
                    <a:lstStyle/>
                    <a:p>
                      <a:pPr algn="r" indent="0" marL="0">
                        <a:buNone/>
                      </a:pPr>
                      <a:r>
                        <a:rPr lang="en-US" sz="2400" dirty="0">
                          <a:solidFill>
                            <a:srgbClr val="14212B"/>
                          </a:solidFill>
                          <a:latin typeface="Calibri" pitchFamily="34" charset="0"/>
                          <a:ea typeface="Calibri" pitchFamily="34" charset="-122"/>
                          <a:cs typeface="Calibri" pitchFamily="34" charset="-120"/>
                        </a:rPr>
                        <a:t>6.4°</a:t>
                      </a:r>
                      <a:endParaRPr lang="en-US" sz="2400" dirty="0">
                        <a:latin typeface="Calibri" charset="0"/>
                        <a:ea typeface="Calibri" charset="0"/>
                        <a:cs typeface="Calibri" charset="0"/>
                      </a:endParaRPr>
                    </a:p>
                  </a:txBody>
                  <a:tcPr marL="54864" marR="54864" marT="54864" marB="54864">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tcPr>
                </a:tc>
              </a:tr>
              <a:tr h="457200">
                <a:tc>
                  <a:txBody>
                    <a:bodyPr/>
                    <a:lstStyle/>
                    <a:p>
                      <a:pPr indent="0" marL="0">
                        <a:buNone/>
                      </a:pPr>
                      <a:r>
                        <a:rPr lang="en-US" sz="2400" dirty="0">
                          <a:solidFill>
                            <a:srgbClr val="14212B"/>
                          </a:solidFill>
                          <a:latin typeface="Calibri" pitchFamily="34" charset="0"/>
                          <a:ea typeface="Calibri" pitchFamily="34" charset="-122"/>
                          <a:cs typeface="Calibri" pitchFamily="34" charset="-120"/>
                        </a:rPr>
                        <a:t>Tandem</a:t>
                      </a:r>
                      <a:endParaRPr lang="en-US" sz="2400" dirty="0">
                        <a:latin typeface="Calibri" charset="0"/>
                        <a:ea typeface="Calibri" charset="0"/>
                        <a:cs typeface="Calibri" charset="0"/>
                      </a:endParaRPr>
                    </a:p>
                  </a:txBody>
                  <a:tcPr marL="54864" marR="54864" marT="54864" marB="54864">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tcPr>
                </a:tc>
                <a:tc>
                  <a:txBody>
                    <a:bodyPr/>
                    <a:lstStyle/>
                    <a:p>
                      <a:pPr algn="r" indent="0" marL="0">
                        <a:buNone/>
                      </a:pPr>
                      <a:r>
                        <a:rPr lang="en-US" sz="2400" dirty="0">
                          <a:solidFill>
                            <a:srgbClr val="14212B"/>
                          </a:solidFill>
                          <a:latin typeface="Calibri" pitchFamily="34" charset="0"/>
                          <a:ea typeface="Calibri" pitchFamily="34" charset="-122"/>
                          <a:cs typeface="Calibri" pitchFamily="34" charset="-120"/>
                        </a:rPr>
                        <a:t>0.10 m</a:t>
                      </a:r>
                      <a:endParaRPr lang="en-US" sz="2400" dirty="0">
                        <a:latin typeface="Calibri" charset="0"/>
                        <a:ea typeface="Calibri" charset="0"/>
                        <a:cs typeface="Calibri" charset="0"/>
                      </a:endParaRPr>
                    </a:p>
                  </a:txBody>
                  <a:tcPr marL="54864" marR="54864" marT="54864" marB="54864">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tcPr>
                </a:tc>
                <a:tc>
                  <a:txBody>
                    <a:bodyPr/>
                    <a:lstStyle/>
                    <a:p>
                      <a:pPr algn="r" indent="0" marL="0">
                        <a:buNone/>
                      </a:pPr>
                      <a:r>
                        <a:rPr lang="en-US" sz="2400" dirty="0">
                          <a:solidFill>
                            <a:srgbClr val="14212B"/>
                          </a:solidFill>
                          <a:latin typeface="Calibri" pitchFamily="34" charset="0"/>
                          <a:ea typeface="Calibri" pitchFamily="34" charset="-122"/>
                          <a:cs typeface="Calibri" pitchFamily="34" charset="-120"/>
                        </a:rPr>
                        <a:t>3.2°</a:t>
                      </a:r>
                      <a:endParaRPr lang="en-US" sz="2400" dirty="0">
                        <a:latin typeface="Calibri" charset="0"/>
                        <a:ea typeface="Calibri" charset="0"/>
                        <a:cs typeface="Calibri" charset="0"/>
                      </a:endParaRPr>
                    </a:p>
                  </a:txBody>
                  <a:tcPr marL="54864" marR="54864" marT="54864" marB="54864">
                    <a:lnL w="12700" cap="flat" cmpd="sng" algn="ctr">
                      <a:solidFill>
                        <a:srgbClr val="D3DCE3"/>
                      </a:solidFill>
                      <a:prstDash val="solid"/>
                      <a:round/>
                      <a:headEnd type="none" w="med" len="med"/>
                      <a:tailEnd type="none" w="med" len="med"/>
                    </a:lnL>
                    <a:lnR w="12700" cap="flat" cmpd="sng" algn="ctr">
                      <a:solidFill>
                        <a:srgbClr val="D3DCE3"/>
                      </a:solidFill>
                      <a:prstDash val="solid"/>
                      <a:round/>
                      <a:headEnd type="none" w="med" len="med"/>
                      <a:tailEnd type="none" w="med" len="med"/>
                    </a:lnR>
                    <a:lnT w="12700" cap="flat" cmpd="sng" algn="ctr">
                      <a:solidFill>
                        <a:srgbClr val="D3DCE3"/>
                      </a:solidFill>
                      <a:prstDash val="solid"/>
                      <a:round/>
                      <a:headEnd type="none" w="med" len="med"/>
                      <a:tailEnd type="none" w="med" len="med"/>
                    </a:lnT>
                    <a:lnB w="12700" cap="flat" cmpd="sng" algn="ctr">
                      <a:solidFill>
                        <a:srgbClr val="D3DCE3"/>
                      </a:solidFill>
                      <a:prstDash val="solid"/>
                      <a:round/>
                      <a:headEnd type="none" w="med" len="med"/>
                      <a:tailEnd type="none" w="med" len="med"/>
                    </a:lnB>
                  </a:tcPr>
                </a:tc>
              </a:tr>
            </a:tbl>
          </a:graphicData>
        </a:graphic>
      </p:graphicFrame>
      <p:sp>
        <p:nvSpPr>
          <p:cNvPr id="6" name="Shape 2"/>
          <p:cNvSpPr/>
          <p:nvPr/>
        </p:nvSpPr>
        <p:spPr>
          <a:xfrm>
            <a:off x="7315200" y="3931920"/>
            <a:ext cx="4297680" cy="2103120"/>
          </a:xfrm>
          <a:prstGeom prst="roundRect">
            <a:avLst>
              <a:gd name="adj" fmla="val 5217"/>
            </a:avLst>
          </a:prstGeom>
          <a:solidFill>
            <a:srgbClr val="FBEAE8"/>
          </a:solidFill>
          <a:ln/>
        </p:spPr>
      </p:sp>
      <p:sp>
        <p:nvSpPr>
          <p:cNvPr id="7" name="Text 3"/>
          <p:cNvSpPr txBox="1"/>
          <p:nvPr/>
        </p:nvSpPr>
        <p:spPr>
          <a:xfrm>
            <a:off x="7498080" y="3931920"/>
            <a:ext cx="3931920" cy="2103120"/>
          </a:xfrm>
          <a:prstGeom prst="rect">
            <a:avLst/>
          </a:prstGeom>
          <a:noFill/>
          <a:ln/>
        </p:spPr>
        <p:txBody>
          <a:bodyPr wrap="square" lIns="0" tIns="0" rIns="0" bIns="0" rtlCol="0" anchor="ctr"/>
          <a:lstStyle/>
          <a:p>
            <a:pPr algn="l" indent="0" marL="0">
              <a:buNone/>
            </a:pPr>
            <a:r>
              <a:rPr lang="en-US" sz="2400" dirty="0">
                <a:solidFill>
                  <a:srgbClr val="14212B"/>
                </a:solidFill>
                <a:latin typeface="Calibri" pitchFamily="34" charset="0"/>
                <a:ea typeface="Calibri" pitchFamily="34" charset="-122"/>
                <a:cs typeface="Calibri" pitchFamily="34" charset="-120"/>
              </a:rPr>
              <a:t>Unaided parks only in tandem (forward in): reversing is where guidance matters</a:t>
            </a:r>
            <a:endParaRPr lang="en-US" sz="2400" dirty="0"/>
          </a:p>
        </p:txBody>
      </p:sp>
      <p:sp>
        <p:nvSpPr>
          <p:cNvPr id="25" name="Slide Number Placeholder 0"/>
          <p:cNvSpPr>
            <a:spLocks noGrp="1"/>
          </p:cNvSpPr>
          <p:nvPr>
            <p:ph type="sldNum" sz="quarter" idx="4294967295"/>
          </p:nvPr>
        </p:nvSpPr>
        <p:spPr>
          <a:xfrm>
            <a:off x="10744200" y="6309360"/>
            <a:ext cx="91440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0E7C86"/>
                </a:solidFill>
                <a:latin typeface="Calibri"/>
                <a:ea typeface="Calibri"/>
                <a:cs typeface="Calibri"/>
              </a:defRPr>
            </a:lvl1pPr>
          </a:lstStyle>
          <a:p>
            <a:pPr algn="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777240"/>
          </a:xfrm>
          <a:prstGeom prst="rect">
            <a:avLst/>
          </a:prstGeom>
          <a:noFill/>
          <a:ln/>
        </p:spPr>
        <p:txBody>
          <a:bodyPr wrap="square" lIns="0" tIns="0" rIns="0" bIns="0" rtlCol="0" anchor="ctr"/>
          <a:lstStyle/>
          <a:p>
            <a:pPr indent="0" marL="0">
              <a:buNone/>
            </a:pPr>
            <a:r>
              <a:rPr lang="en-US" sz="3400" b="1" dirty="0">
                <a:solidFill>
                  <a:srgbClr val="14212B"/>
                </a:solidFill>
                <a:latin typeface="Cambria" pitchFamily="34" charset="0"/>
                <a:ea typeface="Cambria" pitchFamily="34" charset="-122"/>
                <a:cs typeface="Cambria" pitchFamily="34" charset="-120"/>
              </a:rPr>
              <a:t>One run in detail: cross layout, bay 6</a:t>
            </a:r>
            <a:endParaRPr lang="en-US" sz="3400" dirty="0"/>
          </a:p>
        </p:txBody>
      </p:sp>
      <p:sp>
        <p:nvSpPr>
          <p:cNvPr id="3" name="Text 1"/>
          <p:cNvSpPr txBox="1"/>
          <p:nvPr/>
        </p:nvSpPr>
        <p:spPr>
          <a:xfrm>
            <a:off x="548640" y="6309360"/>
            <a:ext cx="8229600" cy="411480"/>
          </a:xfrm>
          <a:prstGeom prst="rect">
            <a:avLst/>
          </a:prstGeom>
          <a:noFill/>
          <a:ln/>
        </p:spPr>
        <p:txBody>
          <a:bodyPr wrap="square" lIns="0" tIns="0" rIns="0" bIns="0" rtlCol="0" anchor="ctr"/>
          <a:lstStyle/>
          <a:p>
            <a:pPr indent="0" marL="0">
              <a:buNone/>
            </a:pPr>
            <a:r>
              <a:rPr lang="en-US" sz="2400" dirty="0">
                <a:solidFill>
                  <a:srgbClr val="44546A"/>
                </a:solidFill>
                <a:latin typeface="Calibri" pitchFamily="34" charset="0"/>
                <a:ea typeface="Calibri" pitchFamily="34" charset="-122"/>
                <a:cs typeface="Calibri" pitchFamily="34" charset="-120"/>
              </a:rPr>
              <a:t>Results</a:t>
            </a:r>
            <a:endParaRPr lang="en-US" sz="2400" dirty="0"/>
          </a:p>
        </p:txBody>
      </p:sp>
      <p:pic>
        <p:nvPicPr>
          <p:cNvPr id="4" name="Image 0" descr="Hitch angle versus time: NMPC stays within plus or minus 40 degrees; unaided exceeds 60 and jackknifes at 57 s">    </p:cNvPr>
          <p:cNvPicPr>
            <a:picLocks noChangeAspect="1"/>
          </p:cNvPicPr>
          <p:nvPr/>
        </p:nvPicPr>
        <p:blipFill>
          <a:blip r:embed="rId1"/>
          <a:stretch>
            <a:fillRect/>
          </a:stretch>
        </p:blipFill>
        <p:spPr>
          <a:xfrm>
            <a:off x="320040" y="1234440"/>
            <a:ext cx="6949440" cy="4572000"/>
          </a:xfrm>
          <a:prstGeom prst="rect">
            <a:avLst/>
          </a:prstGeom>
        </p:spPr>
      </p:pic>
      <p:sp>
        <p:nvSpPr>
          <p:cNvPr id="5" name="Text 2"/>
          <p:cNvSpPr txBox="1"/>
          <p:nvPr/>
        </p:nvSpPr>
        <p:spPr>
          <a:xfrm>
            <a:off x="7635240" y="1463040"/>
            <a:ext cx="4023360" cy="731520"/>
          </a:xfrm>
          <a:prstGeom prst="rect">
            <a:avLst/>
          </a:prstGeom>
          <a:noFill/>
          <a:ln/>
        </p:spPr>
        <p:txBody>
          <a:bodyPr wrap="square" lIns="0" tIns="0" rIns="0" bIns="0" rtlCol="0" anchor="ctr"/>
          <a:lstStyle/>
          <a:p>
            <a:pPr algn="l" indent="0" marL="0">
              <a:buNone/>
            </a:pPr>
            <a:r>
              <a:rPr lang="en-US" sz="2400" dirty="0">
                <a:solidFill>
                  <a:srgbClr val="14212B"/>
                </a:solidFill>
                <a:latin typeface="Calibri" pitchFamily="34" charset="0"/>
                <a:ea typeface="Calibri" pitchFamily="34" charset="-122"/>
                <a:cs typeface="Calibri" pitchFamily="34" charset="-120"/>
              </a:rPr>
              <a:t>Same start, path and vehicle</a:t>
            </a:r>
            <a:endParaRPr lang="en-US" sz="2400" dirty="0"/>
          </a:p>
        </p:txBody>
      </p:sp>
      <p:sp>
        <p:nvSpPr>
          <p:cNvPr id="6" name="Text 3"/>
          <p:cNvSpPr txBox="1"/>
          <p:nvPr/>
        </p:nvSpPr>
        <p:spPr>
          <a:xfrm>
            <a:off x="7635240" y="2331720"/>
            <a:ext cx="4023360" cy="731520"/>
          </a:xfrm>
          <a:prstGeom prst="rect">
            <a:avLst/>
          </a:prstGeom>
          <a:noFill/>
          <a:ln/>
        </p:spPr>
        <p:txBody>
          <a:bodyPr wrap="square" lIns="0" tIns="0" rIns="0" bIns="0" rtlCol="0" anchor="ctr"/>
          <a:lstStyle/>
          <a:p>
            <a:pPr algn="l" indent="0" marL="0">
              <a:buNone/>
            </a:pPr>
            <a:r>
              <a:rPr lang="en-US" sz="2400" b="1" dirty="0">
                <a:solidFill>
                  <a:srgbClr val="0E7C86"/>
                </a:solidFill>
                <a:latin typeface="Calibri" pitchFamily="34" charset="0"/>
                <a:ea typeface="Calibri" pitchFamily="34" charset="-122"/>
                <a:cs typeface="Calibri" pitchFamily="34" charset="-120"/>
              </a:rPr>
              <a:t>Guided: peak |ψ| 40°</a:t>
            </a:r>
            <a:endParaRPr lang="en-US" sz="2400" dirty="0"/>
          </a:p>
        </p:txBody>
      </p:sp>
      <p:sp>
        <p:nvSpPr>
          <p:cNvPr id="7" name="Text 4"/>
          <p:cNvSpPr txBox="1"/>
          <p:nvPr/>
        </p:nvSpPr>
        <p:spPr>
          <a:xfrm>
            <a:off x="7635240" y="3200400"/>
            <a:ext cx="4023360" cy="731520"/>
          </a:xfrm>
          <a:prstGeom prst="rect">
            <a:avLst/>
          </a:prstGeom>
          <a:noFill/>
          <a:ln/>
        </p:spPr>
        <p:txBody>
          <a:bodyPr wrap="square" lIns="0" tIns="0" rIns="0" bIns="0" rtlCol="0" anchor="ctr"/>
          <a:lstStyle/>
          <a:p>
            <a:pPr algn="l" indent="0" marL="0">
              <a:buNone/>
            </a:pPr>
            <a:r>
              <a:rPr lang="en-US" sz="2400" dirty="0">
                <a:solidFill>
                  <a:srgbClr val="0E7C86"/>
                </a:solidFill>
                <a:latin typeface="Calibri" pitchFamily="34" charset="0"/>
                <a:ea typeface="Calibri" pitchFamily="34" charset="-122"/>
                <a:cs typeface="Calibri" pitchFamily="34" charset="-120"/>
              </a:rPr>
              <a:t>Parked 0.58 m, 4.7° off</a:t>
            </a:r>
            <a:endParaRPr lang="en-US" sz="2400" dirty="0"/>
          </a:p>
        </p:txBody>
      </p:sp>
      <p:sp>
        <p:nvSpPr>
          <p:cNvPr id="8" name="Text 5"/>
          <p:cNvSpPr txBox="1"/>
          <p:nvPr/>
        </p:nvSpPr>
        <p:spPr>
          <a:xfrm>
            <a:off x="7635240" y="4069080"/>
            <a:ext cx="4023360" cy="731520"/>
          </a:xfrm>
          <a:prstGeom prst="rect">
            <a:avLst/>
          </a:prstGeom>
          <a:noFill/>
          <a:ln/>
        </p:spPr>
        <p:txBody>
          <a:bodyPr wrap="square" lIns="0" tIns="0" rIns="0" bIns="0" rtlCol="0" anchor="ctr"/>
          <a:lstStyle/>
          <a:p>
            <a:pPr algn="l" indent="0" marL="0">
              <a:buNone/>
            </a:pPr>
            <a:r>
              <a:rPr lang="en-US" sz="2400" b="1" dirty="0">
                <a:solidFill>
                  <a:srgbClr val="B83227"/>
                </a:solidFill>
                <a:latin typeface="Calibri" pitchFamily="34" charset="0"/>
                <a:ea typeface="Calibri" pitchFamily="34" charset="-122"/>
                <a:cs typeface="Calibri" pitchFamily="34" charset="-120"/>
              </a:rPr>
              <a:t>Unaided: past 60° at 55 s</a:t>
            </a:r>
            <a:endParaRPr lang="en-US" sz="2400" dirty="0"/>
          </a:p>
        </p:txBody>
      </p:sp>
      <p:sp>
        <p:nvSpPr>
          <p:cNvPr id="9" name="Text 6"/>
          <p:cNvSpPr txBox="1"/>
          <p:nvPr/>
        </p:nvSpPr>
        <p:spPr>
          <a:xfrm>
            <a:off x="7635240" y="4937760"/>
            <a:ext cx="4023360" cy="731520"/>
          </a:xfrm>
          <a:prstGeom prst="rect">
            <a:avLst/>
          </a:prstGeom>
          <a:noFill/>
          <a:ln/>
        </p:spPr>
        <p:txBody>
          <a:bodyPr wrap="square" lIns="0" tIns="0" rIns="0" bIns="0" rtlCol="0" anchor="ctr"/>
          <a:lstStyle/>
          <a:p>
            <a:pPr algn="l" indent="0" marL="0">
              <a:buNone/>
            </a:pPr>
            <a:r>
              <a:rPr lang="en-US" sz="2400" dirty="0">
                <a:solidFill>
                  <a:srgbClr val="B83227"/>
                </a:solidFill>
                <a:latin typeface="Calibri" pitchFamily="34" charset="0"/>
                <a:ea typeface="Calibri" pitchFamily="34" charset="-122"/>
                <a:cs typeface="Calibri" pitchFamily="34" charset="-120"/>
              </a:rPr>
              <a:t>Jackknife at 57 s (75°)</a:t>
            </a:r>
            <a:endParaRPr lang="en-US" sz="2400" dirty="0"/>
          </a:p>
        </p:txBody>
      </p:sp>
      <p:sp>
        <p:nvSpPr>
          <p:cNvPr id="25" name="Slide Number Placeholder 0"/>
          <p:cNvSpPr>
            <a:spLocks noGrp="1"/>
          </p:cNvSpPr>
          <p:nvPr>
            <p:ph type="sldNum" sz="quarter" idx="4294967295"/>
          </p:nvPr>
        </p:nvSpPr>
        <p:spPr>
          <a:xfrm>
            <a:off x="10744200" y="6309360"/>
            <a:ext cx="91440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0E7C86"/>
                </a:solidFill>
                <a:latin typeface="Calibri"/>
                <a:ea typeface="Calibri"/>
                <a:cs typeface="Calibri"/>
              </a:defRPr>
            </a:lvl1pPr>
          </a:lstStyle>
          <a:p>
            <a:pPr algn="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777240"/>
          </a:xfrm>
          <a:prstGeom prst="rect">
            <a:avLst/>
          </a:prstGeom>
          <a:noFill/>
          <a:ln/>
        </p:spPr>
        <p:txBody>
          <a:bodyPr wrap="square" lIns="0" tIns="0" rIns="0" bIns="0" rtlCol="0" anchor="ctr"/>
          <a:lstStyle/>
          <a:p>
            <a:pPr indent="0" marL="0">
              <a:buNone/>
            </a:pPr>
            <a:r>
              <a:rPr lang="en-US" sz="3400" b="1" dirty="0">
                <a:solidFill>
                  <a:srgbClr val="14212B"/>
                </a:solidFill>
                <a:latin typeface="Cambria" pitchFamily="34" charset="0"/>
                <a:ea typeface="Cambria" pitchFamily="34" charset="-122"/>
                <a:cs typeface="Cambria" pitchFamily="34" charset="-120"/>
              </a:rPr>
              <a:t>Guidance ON vs OFF, same bay</a:t>
            </a:r>
            <a:endParaRPr lang="en-US" sz="3400" dirty="0"/>
          </a:p>
        </p:txBody>
      </p:sp>
      <p:sp>
        <p:nvSpPr>
          <p:cNvPr id="3" name="Text 1"/>
          <p:cNvSpPr txBox="1"/>
          <p:nvPr/>
        </p:nvSpPr>
        <p:spPr>
          <a:xfrm>
            <a:off x="548640" y="6309360"/>
            <a:ext cx="8229600" cy="411480"/>
          </a:xfrm>
          <a:prstGeom prst="rect">
            <a:avLst/>
          </a:prstGeom>
          <a:noFill/>
          <a:ln/>
        </p:spPr>
        <p:txBody>
          <a:bodyPr wrap="square" lIns="0" tIns="0" rIns="0" bIns="0" rtlCol="0" anchor="ctr"/>
          <a:lstStyle/>
          <a:p>
            <a:pPr indent="0" marL="0">
              <a:buNone/>
            </a:pPr>
            <a:r>
              <a:rPr lang="en-US" sz="2400" dirty="0">
                <a:solidFill>
                  <a:srgbClr val="44546A"/>
                </a:solidFill>
                <a:latin typeface="Calibri" pitchFamily="34" charset="0"/>
                <a:ea typeface="Calibri" pitchFamily="34" charset="-122"/>
                <a:cs typeface="Calibri" pitchFamily="34" charset="-120"/>
              </a:rPr>
              <a:t>Results</a:t>
            </a:r>
            <a:endParaRPr lang="en-US" sz="2400" dirty="0"/>
          </a:p>
        </p:txBody>
      </p:sp>
      <p:pic>
        <p:nvPicPr>
          <p:cNvPr id="4" name="Image 0" descr="With guidance the rig is parked in bay 6">    </p:cNvPr>
          <p:cNvPicPr>
            <a:picLocks noChangeAspect="1"/>
          </p:cNvPicPr>
          <p:nvPr/>
        </p:nvPicPr>
        <p:blipFill>
          <a:blip r:embed="rId1"/>
          <a:stretch>
            <a:fillRect/>
          </a:stretch>
        </p:blipFill>
        <p:spPr>
          <a:xfrm>
            <a:off x="548640" y="1385118"/>
            <a:ext cx="5394960" cy="3722004"/>
          </a:xfrm>
          <a:prstGeom prst="rect">
            <a:avLst/>
          </a:prstGeom>
        </p:spPr>
      </p:pic>
      <p:pic>
        <p:nvPicPr>
          <p:cNvPr id="5" name="Image 1" descr="Without guidance the rig jackknifes before reaching the bay">    </p:cNvPr>
          <p:cNvPicPr>
            <a:picLocks noChangeAspect="1"/>
          </p:cNvPicPr>
          <p:nvPr/>
        </p:nvPicPr>
        <p:blipFill>
          <a:blip r:embed="rId2"/>
          <a:stretch>
            <a:fillRect/>
          </a:stretch>
        </p:blipFill>
        <p:spPr>
          <a:xfrm>
            <a:off x="6263640" y="1385118"/>
            <a:ext cx="5394960" cy="3722004"/>
          </a:xfrm>
          <a:prstGeom prst="rect">
            <a:avLst/>
          </a:prstGeom>
        </p:spPr>
      </p:pic>
      <p:sp>
        <p:nvSpPr>
          <p:cNvPr id="6" name="Text 2"/>
          <p:cNvSpPr txBox="1"/>
          <p:nvPr/>
        </p:nvSpPr>
        <p:spPr>
          <a:xfrm>
            <a:off x="548640" y="5349240"/>
            <a:ext cx="5394960" cy="457200"/>
          </a:xfrm>
          <a:prstGeom prst="rect">
            <a:avLst/>
          </a:prstGeom>
          <a:noFill/>
          <a:ln/>
        </p:spPr>
        <p:txBody>
          <a:bodyPr wrap="square" lIns="0" tIns="0" rIns="0" bIns="0" rtlCol="0" anchor="t"/>
          <a:lstStyle/>
          <a:p>
            <a:pPr algn="ctr" indent="0" marL="0">
              <a:buNone/>
            </a:pPr>
            <a:r>
              <a:rPr lang="en-US" sz="2400" b="1" dirty="0">
                <a:solidFill>
                  <a:srgbClr val="1E7A45"/>
                </a:solidFill>
                <a:latin typeface="Calibri" pitchFamily="34" charset="0"/>
                <a:ea typeface="Calibri" pitchFamily="34" charset="-122"/>
                <a:cs typeface="Calibri" pitchFamily="34" charset="-120"/>
              </a:rPr>
              <a:t>ON: parked, 0.58 m off-centre</a:t>
            </a:r>
            <a:endParaRPr lang="en-US" sz="2400" dirty="0"/>
          </a:p>
        </p:txBody>
      </p:sp>
      <p:sp>
        <p:nvSpPr>
          <p:cNvPr id="7" name="Text 3"/>
          <p:cNvSpPr txBox="1"/>
          <p:nvPr/>
        </p:nvSpPr>
        <p:spPr>
          <a:xfrm>
            <a:off x="6263640" y="5349240"/>
            <a:ext cx="5394960" cy="457200"/>
          </a:xfrm>
          <a:prstGeom prst="rect">
            <a:avLst/>
          </a:prstGeom>
          <a:noFill/>
          <a:ln/>
        </p:spPr>
        <p:txBody>
          <a:bodyPr wrap="square" lIns="0" tIns="0" rIns="0" bIns="0" rtlCol="0" anchor="t"/>
          <a:lstStyle/>
          <a:p>
            <a:pPr algn="ctr" indent="0" marL="0">
              <a:buNone/>
            </a:pPr>
            <a:r>
              <a:rPr lang="en-US" sz="2400" b="1" dirty="0">
                <a:solidFill>
                  <a:srgbClr val="B83227"/>
                </a:solidFill>
                <a:latin typeface="Calibri" pitchFamily="34" charset="0"/>
                <a:ea typeface="Calibri" pitchFamily="34" charset="-122"/>
                <a:cs typeface="Calibri" pitchFamily="34" charset="-120"/>
              </a:rPr>
              <a:t>OFF: jackknife after 57 s</a:t>
            </a:r>
            <a:endParaRPr lang="en-US" sz="2400" dirty="0"/>
          </a:p>
        </p:txBody>
      </p:sp>
      <p:sp>
        <p:nvSpPr>
          <p:cNvPr id="25" name="Slide Number Placeholder 0"/>
          <p:cNvSpPr>
            <a:spLocks noGrp="1"/>
          </p:cNvSpPr>
          <p:nvPr>
            <p:ph type="sldNum" sz="quarter" idx="4294967295"/>
          </p:nvPr>
        </p:nvSpPr>
        <p:spPr>
          <a:xfrm>
            <a:off x="10744200" y="6309360"/>
            <a:ext cx="91440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0E7C86"/>
                </a:solidFill>
                <a:latin typeface="Calibri"/>
                <a:ea typeface="Calibri"/>
                <a:cs typeface="Calibri"/>
              </a:defRPr>
            </a:lvl1pPr>
          </a:lstStyle>
          <a:p>
            <a:pPr algn="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777240"/>
          </a:xfrm>
          <a:prstGeom prst="rect">
            <a:avLst/>
          </a:prstGeom>
          <a:noFill/>
          <a:ln/>
        </p:spPr>
        <p:txBody>
          <a:bodyPr wrap="square" lIns="0" tIns="0" rIns="0" bIns="0" rtlCol="0" anchor="ctr"/>
          <a:lstStyle/>
          <a:p>
            <a:pPr indent="0" marL="0">
              <a:buNone/>
            </a:pPr>
            <a:r>
              <a:rPr lang="en-US" sz="3400" b="1" dirty="0">
                <a:solidFill>
                  <a:srgbClr val="14212B"/>
                </a:solidFill>
                <a:latin typeface="Cambria" pitchFamily="34" charset="0"/>
                <a:ea typeface="Cambria" pitchFamily="34" charset="-122"/>
                <a:cs typeface="Cambria" pitchFamily="34" charset="-120"/>
              </a:rPr>
              <a:t>The driver guidance interface</a:t>
            </a:r>
            <a:endParaRPr lang="en-US" sz="3400" dirty="0"/>
          </a:p>
        </p:txBody>
      </p:sp>
      <p:sp>
        <p:nvSpPr>
          <p:cNvPr id="3" name="Text 1"/>
          <p:cNvSpPr txBox="1"/>
          <p:nvPr/>
        </p:nvSpPr>
        <p:spPr>
          <a:xfrm>
            <a:off x="548640" y="6309360"/>
            <a:ext cx="8229600" cy="411480"/>
          </a:xfrm>
          <a:prstGeom prst="rect">
            <a:avLst/>
          </a:prstGeom>
          <a:noFill/>
          <a:ln/>
        </p:spPr>
        <p:txBody>
          <a:bodyPr wrap="square" lIns="0" tIns="0" rIns="0" bIns="0" rtlCol="0" anchor="ctr"/>
          <a:lstStyle/>
          <a:p>
            <a:pPr indent="0" marL="0">
              <a:buNone/>
            </a:pPr>
            <a:r>
              <a:rPr lang="en-US" sz="2400" dirty="0">
                <a:solidFill>
                  <a:srgbClr val="44546A"/>
                </a:solidFill>
                <a:latin typeface="Calibri" pitchFamily="34" charset="0"/>
                <a:ea typeface="Calibri" pitchFamily="34" charset="-122"/>
                <a:cs typeface="Calibri" pitchFamily="34" charset="-120"/>
              </a:rPr>
              <a:t>Results</a:t>
            </a:r>
            <a:endParaRPr lang="en-US" sz="2400" dirty="0"/>
          </a:p>
        </p:txBody>
      </p:sp>
      <p:pic>
        <p:nvPicPr>
          <p:cNvPr id="4" name="Image 0" descr="Application screenshot during step 5 of 9 with guidance bar, look-ahead, instruments, live maths and step table">    </p:cNvPr>
          <p:cNvPicPr>
            <a:picLocks noChangeAspect="1"/>
          </p:cNvPicPr>
          <p:nvPr/>
        </p:nvPicPr>
        <p:blipFill>
          <a:blip r:embed="rId1"/>
          <a:stretch>
            <a:fillRect/>
          </a:stretch>
        </p:blipFill>
        <p:spPr>
          <a:xfrm>
            <a:off x="548640" y="1234440"/>
            <a:ext cx="8503920" cy="4783455"/>
          </a:xfrm>
          <a:prstGeom prst="rect">
            <a:avLst/>
          </a:prstGeom>
        </p:spPr>
      </p:pic>
      <p:sp>
        <p:nvSpPr>
          <p:cNvPr id="5" name="Shape 2"/>
          <p:cNvSpPr/>
          <p:nvPr/>
        </p:nvSpPr>
        <p:spPr>
          <a:xfrm>
            <a:off x="1307135" y="1567739"/>
            <a:ext cx="438912" cy="438912"/>
          </a:xfrm>
          <a:prstGeom prst="ellipse">
            <a:avLst/>
          </a:prstGeom>
          <a:solidFill>
            <a:srgbClr val="A8661A"/>
          </a:solidFill>
          <a:ln/>
        </p:spPr>
      </p:sp>
      <p:sp>
        <p:nvSpPr>
          <p:cNvPr id="6" name="Text 3"/>
          <p:cNvSpPr txBox="1"/>
          <p:nvPr/>
        </p:nvSpPr>
        <p:spPr>
          <a:xfrm>
            <a:off x="1307135" y="1567739"/>
            <a:ext cx="438912" cy="438912"/>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1</a:t>
            </a:r>
            <a:endParaRPr lang="en-US" sz="2400" dirty="0"/>
          </a:p>
        </p:txBody>
      </p:sp>
      <p:sp>
        <p:nvSpPr>
          <p:cNvPr id="7" name="Shape 4"/>
          <p:cNvSpPr/>
          <p:nvPr/>
        </p:nvSpPr>
        <p:spPr>
          <a:xfrm>
            <a:off x="3305556" y="3013405"/>
            <a:ext cx="438912" cy="438912"/>
          </a:xfrm>
          <a:prstGeom prst="ellipse">
            <a:avLst/>
          </a:prstGeom>
          <a:solidFill>
            <a:srgbClr val="A8661A"/>
          </a:solidFill>
          <a:ln/>
        </p:spPr>
      </p:sp>
      <p:sp>
        <p:nvSpPr>
          <p:cNvPr id="8" name="Text 5"/>
          <p:cNvSpPr txBox="1"/>
          <p:nvPr/>
        </p:nvSpPr>
        <p:spPr>
          <a:xfrm>
            <a:off x="3305556" y="3013405"/>
            <a:ext cx="438912" cy="438912"/>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2</a:t>
            </a:r>
            <a:endParaRPr lang="en-US" sz="2400" dirty="0"/>
          </a:p>
        </p:txBody>
      </p:sp>
      <p:sp>
        <p:nvSpPr>
          <p:cNvPr id="9" name="Shape 6"/>
          <p:cNvSpPr/>
          <p:nvPr/>
        </p:nvSpPr>
        <p:spPr>
          <a:xfrm>
            <a:off x="7642555" y="1822856"/>
            <a:ext cx="438912" cy="438912"/>
          </a:xfrm>
          <a:prstGeom prst="ellipse">
            <a:avLst/>
          </a:prstGeom>
          <a:solidFill>
            <a:srgbClr val="A8661A"/>
          </a:solidFill>
          <a:ln/>
        </p:spPr>
      </p:sp>
      <p:sp>
        <p:nvSpPr>
          <p:cNvPr id="10" name="Text 7"/>
          <p:cNvSpPr txBox="1"/>
          <p:nvPr/>
        </p:nvSpPr>
        <p:spPr>
          <a:xfrm>
            <a:off x="7642555" y="1822856"/>
            <a:ext cx="438912" cy="438912"/>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3</a:t>
            </a:r>
            <a:endParaRPr lang="en-US" sz="2400" dirty="0"/>
          </a:p>
        </p:txBody>
      </p:sp>
      <p:sp>
        <p:nvSpPr>
          <p:cNvPr id="11" name="Shape 8"/>
          <p:cNvSpPr/>
          <p:nvPr/>
        </p:nvSpPr>
        <p:spPr>
          <a:xfrm>
            <a:off x="7642555" y="3140964"/>
            <a:ext cx="438912" cy="438912"/>
          </a:xfrm>
          <a:prstGeom prst="ellipse">
            <a:avLst/>
          </a:prstGeom>
          <a:solidFill>
            <a:srgbClr val="A8661A"/>
          </a:solidFill>
          <a:ln/>
        </p:spPr>
      </p:sp>
      <p:sp>
        <p:nvSpPr>
          <p:cNvPr id="12" name="Text 9"/>
          <p:cNvSpPr txBox="1"/>
          <p:nvPr/>
        </p:nvSpPr>
        <p:spPr>
          <a:xfrm>
            <a:off x="7642555" y="3140964"/>
            <a:ext cx="438912" cy="438912"/>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4</a:t>
            </a:r>
            <a:endParaRPr lang="en-US" sz="2400" dirty="0"/>
          </a:p>
        </p:txBody>
      </p:sp>
      <p:sp>
        <p:nvSpPr>
          <p:cNvPr id="13" name="Shape 10"/>
          <p:cNvSpPr/>
          <p:nvPr/>
        </p:nvSpPr>
        <p:spPr>
          <a:xfrm>
            <a:off x="3305556" y="5266944"/>
            <a:ext cx="438912" cy="438912"/>
          </a:xfrm>
          <a:prstGeom prst="ellipse">
            <a:avLst/>
          </a:prstGeom>
          <a:solidFill>
            <a:srgbClr val="A8661A"/>
          </a:solidFill>
          <a:ln/>
        </p:spPr>
      </p:sp>
      <p:sp>
        <p:nvSpPr>
          <p:cNvPr id="14" name="Text 11"/>
          <p:cNvSpPr txBox="1"/>
          <p:nvPr/>
        </p:nvSpPr>
        <p:spPr>
          <a:xfrm>
            <a:off x="3305556" y="5266944"/>
            <a:ext cx="438912" cy="438912"/>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5</a:t>
            </a:r>
            <a:endParaRPr lang="en-US" sz="2400" dirty="0"/>
          </a:p>
        </p:txBody>
      </p:sp>
      <p:sp>
        <p:nvSpPr>
          <p:cNvPr id="15" name="Shape 12"/>
          <p:cNvSpPr/>
          <p:nvPr/>
        </p:nvSpPr>
        <p:spPr>
          <a:xfrm>
            <a:off x="9281160" y="1371600"/>
            <a:ext cx="438912" cy="438912"/>
          </a:xfrm>
          <a:prstGeom prst="ellipse">
            <a:avLst/>
          </a:prstGeom>
          <a:solidFill>
            <a:srgbClr val="A8661A"/>
          </a:solidFill>
          <a:ln/>
        </p:spPr>
      </p:sp>
      <p:sp>
        <p:nvSpPr>
          <p:cNvPr id="16" name="Text 13"/>
          <p:cNvSpPr txBox="1"/>
          <p:nvPr/>
        </p:nvSpPr>
        <p:spPr>
          <a:xfrm>
            <a:off x="9281160" y="1371600"/>
            <a:ext cx="438912" cy="438912"/>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1</a:t>
            </a:r>
            <a:endParaRPr lang="en-US" sz="2400" dirty="0"/>
          </a:p>
        </p:txBody>
      </p:sp>
      <p:sp>
        <p:nvSpPr>
          <p:cNvPr id="17" name="Text 14"/>
          <p:cNvSpPr txBox="1"/>
          <p:nvPr/>
        </p:nvSpPr>
        <p:spPr>
          <a:xfrm>
            <a:off x="9829800" y="1325880"/>
            <a:ext cx="1828800" cy="868680"/>
          </a:xfrm>
          <a:prstGeom prst="rect">
            <a:avLst/>
          </a:prstGeom>
          <a:noFill/>
          <a:ln/>
        </p:spPr>
        <p:txBody>
          <a:bodyPr wrap="square" lIns="0" tIns="0" rIns="0" bIns="0" rtlCol="0" anchor="t"/>
          <a:lstStyle/>
          <a:p>
            <a:pPr algn="l" indent="0" marL="0">
              <a:buNone/>
            </a:pPr>
            <a:r>
              <a:rPr lang="en-US" sz="2400" dirty="0">
                <a:solidFill>
                  <a:srgbClr val="14212B"/>
                </a:solidFill>
                <a:latin typeface="Calibri" pitchFamily="34" charset="0"/>
                <a:ea typeface="Calibri" pitchFamily="34" charset="-122"/>
                <a:cs typeface="Calibri" pitchFamily="34" charset="-120"/>
              </a:rPr>
              <a:t>Instruction vs advised</a:t>
            </a:r>
            <a:endParaRPr lang="en-US" sz="2400" dirty="0"/>
          </a:p>
        </p:txBody>
      </p:sp>
      <p:sp>
        <p:nvSpPr>
          <p:cNvPr id="18" name="Shape 15"/>
          <p:cNvSpPr/>
          <p:nvPr/>
        </p:nvSpPr>
        <p:spPr>
          <a:xfrm>
            <a:off x="9281160" y="2304288"/>
            <a:ext cx="438912" cy="438912"/>
          </a:xfrm>
          <a:prstGeom prst="ellipse">
            <a:avLst/>
          </a:prstGeom>
          <a:solidFill>
            <a:srgbClr val="A8661A"/>
          </a:solidFill>
          <a:ln/>
        </p:spPr>
      </p:sp>
      <p:sp>
        <p:nvSpPr>
          <p:cNvPr id="19" name="Text 16"/>
          <p:cNvSpPr txBox="1"/>
          <p:nvPr/>
        </p:nvSpPr>
        <p:spPr>
          <a:xfrm>
            <a:off x="9281160" y="2304288"/>
            <a:ext cx="438912" cy="438912"/>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2</a:t>
            </a:r>
            <a:endParaRPr lang="en-US" sz="2400" dirty="0"/>
          </a:p>
        </p:txBody>
      </p:sp>
      <p:sp>
        <p:nvSpPr>
          <p:cNvPr id="20" name="Text 17"/>
          <p:cNvSpPr txBox="1"/>
          <p:nvPr/>
        </p:nvSpPr>
        <p:spPr>
          <a:xfrm>
            <a:off x="9829800" y="2258568"/>
            <a:ext cx="1828800" cy="868680"/>
          </a:xfrm>
          <a:prstGeom prst="rect">
            <a:avLst/>
          </a:prstGeom>
          <a:noFill/>
          <a:ln/>
        </p:spPr>
        <p:txBody>
          <a:bodyPr wrap="square" lIns="0" tIns="0" rIns="0" bIns="0" rtlCol="0" anchor="t"/>
          <a:lstStyle/>
          <a:p>
            <a:pPr algn="l" indent="0" marL="0">
              <a:buNone/>
            </a:pPr>
            <a:r>
              <a:rPr lang="en-US" sz="2400" dirty="0">
                <a:solidFill>
                  <a:srgbClr val="14212B"/>
                </a:solidFill>
                <a:latin typeface="Calibri" pitchFamily="34" charset="0"/>
                <a:ea typeface="Calibri" pitchFamily="34" charset="-122"/>
                <a:cs typeface="Calibri" pitchFamily="34" charset="-120"/>
              </a:rPr>
              <a:t>NMPC look-ahead</a:t>
            </a:r>
            <a:endParaRPr lang="en-US" sz="2400" dirty="0"/>
          </a:p>
        </p:txBody>
      </p:sp>
      <p:sp>
        <p:nvSpPr>
          <p:cNvPr id="21" name="Shape 18"/>
          <p:cNvSpPr/>
          <p:nvPr/>
        </p:nvSpPr>
        <p:spPr>
          <a:xfrm>
            <a:off x="9281160" y="3236976"/>
            <a:ext cx="438912" cy="438912"/>
          </a:xfrm>
          <a:prstGeom prst="ellipse">
            <a:avLst/>
          </a:prstGeom>
          <a:solidFill>
            <a:srgbClr val="A8661A"/>
          </a:solidFill>
          <a:ln/>
        </p:spPr>
      </p:sp>
      <p:sp>
        <p:nvSpPr>
          <p:cNvPr id="22" name="Text 19"/>
          <p:cNvSpPr txBox="1"/>
          <p:nvPr/>
        </p:nvSpPr>
        <p:spPr>
          <a:xfrm>
            <a:off x="9281160" y="3236976"/>
            <a:ext cx="438912" cy="438912"/>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3</a:t>
            </a:r>
            <a:endParaRPr lang="en-US" sz="2400" dirty="0"/>
          </a:p>
        </p:txBody>
      </p:sp>
      <p:sp>
        <p:nvSpPr>
          <p:cNvPr id="23" name="Text 20"/>
          <p:cNvSpPr txBox="1"/>
          <p:nvPr/>
        </p:nvSpPr>
        <p:spPr>
          <a:xfrm>
            <a:off x="9829800" y="3191256"/>
            <a:ext cx="1828800" cy="868680"/>
          </a:xfrm>
          <a:prstGeom prst="rect">
            <a:avLst/>
          </a:prstGeom>
          <a:noFill/>
          <a:ln/>
        </p:spPr>
        <p:txBody>
          <a:bodyPr wrap="square" lIns="0" tIns="0" rIns="0" bIns="0" rtlCol="0" anchor="t"/>
          <a:lstStyle/>
          <a:p>
            <a:pPr algn="l" indent="0" marL="0">
              <a:buNone/>
            </a:pPr>
            <a:r>
              <a:rPr lang="en-US" sz="2400" dirty="0">
                <a:solidFill>
                  <a:srgbClr val="14212B"/>
                </a:solidFill>
                <a:latin typeface="Calibri" pitchFamily="34" charset="0"/>
                <a:ea typeface="Calibri" pitchFamily="34" charset="-122"/>
                <a:cs typeface="Calibri" pitchFamily="34" charset="-120"/>
              </a:rPr>
              <a:t>Instruments</a:t>
            </a:r>
            <a:endParaRPr lang="en-US" sz="2400" dirty="0"/>
          </a:p>
        </p:txBody>
      </p:sp>
      <p:sp>
        <p:nvSpPr>
          <p:cNvPr id="24" name="Shape 21"/>
          <p:cNvSpPr/>
          <p:nvPr/>
        </p:nvSpPr>
        <p:spPr>
          <a:xfrm>
            <a:off x="9281160" y="4169664"/>
            <a:ext cx="438912" cy="438912"/>
          </a:xfrm>
          <a:prstGeom prst="ellipse">
            <a:avLst/>
          </a:prstGeom>
          <a:solidFill>
            <a:srgbClr val="A8661A"/>
          </a:solidFill>
          <a:ln/>
        </p:spPr>
      </p:sp>
      <p:sp>
        <p:nvSpPr>
          <p:cNvPr id="25" name="Text 22"/>
          <p:cNvSpPr txBox="1"/>
          <p:nvPr/>
        </p:nvSpPr>
        <p:spPr>
          <a:xfrm>
            <a:off x="9281160" y="4169664"/>
            <a:ext cx="438912" cy="438912"/>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4</a:t>
            </a:r>
            <a:endParaRPr lang="en-US" sz="2400" dirty="0"/>
          </a:p>
        </p:txBody>
      </p:sp>
      <p:sp>
        <p:nvSpPr>
          <p:cNvPr id="26" name="Text 23"/>
          <p:cNvSpPr txBox="1"/>
          <p:nvPr/>
        </p:nvSpPr>
        <p:spPr>
          <a:xfrm>
            <a:off x="9829800" y="4123944"/>
            <a:ext cx="1828800" cy="868680"/>
          </a:xfrm>
          <a:prstGeom prst="rect">
            <a:avLst/>
          </a:prstGeom>
          <a:noFill/>
          <a:ln/>
        </p:spPr>
        <p:txBody>
          <a:bodyPr wrap="square" lIns="0" tIns="0" rIns="0" bIns="0" rtlCol="0" anchor="t"/>
          <a:lstStyle/>
          <a:p>
            <a:pPr algn="l" indent="0" marL="0">
              <a:buNone/>
            </a:pPr>
            <a:r>
              <a:rPr lang="en-US" sz="2400" dirty="0">
                <a:solidFill>
                  <a:srgbClr val="14212B"/>
                </a:solidFill>
                <a:latin typeface="Calibri" pitchFamily="34" charset="0"/>
                <a:ea typeface="Calibri" pitchFamily="34" charset="-122"/>
                <a:cs typeface="Calibri" pitchFamily="34" charset="-120"/>
              </a:rPr>
              <a:t>Live maths</a:t>
            </a:r>
            <a:endParaRPr lang="en-US" sz="2400" dirty="0"/>
          </a:p>
        </p:txBody>
      </p:sp>
      <p:sp>
        <p:nvSpPr>
          <p:cNvPr id="27" name="Shape 24"/>
          <p:cNvSpPr/>
          <p:nvPr/>
        </p:nvSpPr>
        <p:spPr>
          <a:xfrm>
            <a:off x="9281160" y="5102352"/>
            <a:ext cx="438912" cy="438912"/>
          </a:xfrm>
          <a:prstGeom prst="ellipse">
            <a:avLst/>
          </a:prstGeom>
          <a:solidFill>
            <a:srgbClr val="A8661A"/>
          </a:solidFill>
          <a:ln/>
        </p:spPr>
      </p:sp>
      <p:sp>
        <p:nvSpPr>
          <p:cNvPr id="28" name="Text 25"/>
          <p:cNvSpPr txBox="1"/>
          <p:nvPr/>
        </p:nvSpPr>
        <p:spPr>
          <a:xfrm>
            <a:off x="9281160" y="5102352"/>
            <a:ext cx="438912" cy="438912"/>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5</a:t>
            </a:r>
            <a:endParaRPr lang="en-US" sz="2400" dirty="0"/>
          </a:p>
        </p:txBody>
      </p:sp>
      <p:sp>
        <p:nvSpPr>
          <p:cNvPr id="29" name="Text 26"/>
          <p:cNvSpPr txBox="1"/>
          <p:nvPr/>
        </p:nvSpPr>
        <p:spPr>
          <a:xfrm>
            <a:off x="9829800" y="5056632"/>
            <a:ext cx="1828800" cy="868680"/>
          </a:xfrm>
          <a:prstGeom prst="rect">
            <a:avLst/>
          </a:prstGeom>
          <a:noFill/>
          <a:ln/>
        </p:spPr>
        <p:txBody>
          <a:bodyPr wrap="square" lIns="0" tIns="0" rIns="0" bIns="0" rtlCol="0" anchor="t"/>
          <a:lstStyle/>
          <a:p>
            <a:pPr algn="l" indent="0" marL="0">
              <a:buNone/>
            </a:pPr>
            <a:r>
              <a:rPr lang="en-US" sz="2400" dirty="0">
                <a:solidFill>
                  <a:srgbClr val="14212B"/>
                </a:solidFill>
                <a:latin typeface="Calibri" pitchFamily="34" charset="0"/>
                <a:ea typeface="Calibri" pitchFamily="34" charset="-122"/>
                <a:cs typeface="Calibri" pitchFamily="34" charset="-120"/>
              </a:rPr>
              <a:t>Step table</a:t>
            </a:r>
            <a:endParaRPr lang="en-US" sz="2400" dirty="0"/>
          </a:p>
        </p:txBody>
      </p:sp>
      <p:sp>
        <p:nvSpPr>
          <p:cNvPr id="25" name="Slide Number Placeholder 0"/>
          <p:cNvSpPr>
            <a:spLocks noGrp="1"/>
          </p:cNvSpPr>
          <p:nvPr>
            <p:ph type="sldNum" sz="quarter" idx="4294967295"/>
          </p:nvPr>
        </p:nvSpPr>
        <p:spPr>
          <a:xfrm>
            <a:off x="10744200" y="6309360"/>
            <a:ext cx="91440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0E7C86"/>
                </a:solidFill>
                <a:latin typeface="Calibri"/>
                <a:ea typeface="Calibri"/>
                <a:cs typeface="Calibri"/>
              </a:defRPr>
            </a:lvl1pPr>
          </a:lstStyle>
          <a:p>
            <a:pPr algn="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777240"/>
          </a:xfrm>
          <a:prstGeom prst="rect">
            <a:avLst/>
          </a:prstGeom>
          <a:noFill/>
          <a:ln/>
        </p:spPr>
        <p:txBody>
          <a:bodyPr wrap="square" lIns="0" tIns="0" rIns="0" bIns="0" rtlCol="0" anchor="ctr"/>
          <a:lstStyle/>
          <a:p>
            <a:pPr indent="0" marL="0">
              <a:buNone/>
            </a:pPr>
            <a:r>
              <a:rPr lang="en-US" sz="3400" b="1" dirty="0">
                <a:solidFill>
                  <a:srgbClr val="14212B"/>
                </a:solidFill>
                <a:latin typeface="Cambria" pitchFamily="34" charset="0"/>
                <a:ea typeface="Cambria" pitchFamily="34" charset="-122"/>
                <a:cs typeface="Cambria" pitchFamily="34" charset="-120"/>
              </a:rPr>
              <a:t>Limitations &amp; future scope</a:t>
            </a:r>
            <a:endParaRPr lang="en-US" sz="3400" dirty="0"/>
          </a:p>
        </p:txBody>
      </p:sp>
      <p:sp>
        <p:nvSpPr>
          <p:cNvPr id="3" name="Text 1"/>
          <p:cNvSpPr txBox="1"/>
          <p:nvPr/>
        </p:nvSpPr>
        <p:spPr>
          <a:xfrm>
            <a:off x="548640" y="6309360"/>
            <a:ext cx="8229600" cy="411480"/>
          </a:xfrm>
          <a:prstGeom prst="rect">
            <a:avLst/>
          </a:prstGeom>
          <a:noFill/>
          <a:ln/>
        </p:spPr>
        <p:txBody>
          <a:bodyPr wrap="square" lIns="0" tIns="0" rIns="0" bIns="0" rtlCol="0" anchor="ctr"/>
          <a:lstStyle/>
          <a:p>
            <a:pPr indent="0" marL="0">
              <a:buNone/>
            </a:pPr>
            <a:r>
              <a:rPr lang="en-US" sz="2400" dirty="0">
                <a:solidFill>
                  <a:srgbClr val="44546A"/>
                </a:solidFill>
                <a:latin typeface="Calibri" pitchFamily="34" charset="0"/>
                <a:ea typeface="Calibri" pitchFamily="34" charset="-122"/>
                <a:cs typeface="Calibri" pitchFamily="34" charset="-120"/>
              </a:rPr>
              <a:t>Limitations &amp; future scope</a:t>
            </a:r>
            <a:endParaRPr lang="en-US" sz="2400" dirty="0"/>
          </a:p>
        </p:txBody>
      </p:sp>
      <p:sp>
        <p:nvSpPr>
          <p:cNvPr id="4" name="Shape 2"/>
          <p:cNvSpPr/>
          <p:nvPr/>
        </p:nvSpPr>
        <p:spPr>
          <a:xfrm>
            <a:off x="548640" y="1280160"/>
            <a:ext cx="5394960" cy="4846320"/>
          </a:xfrm>
          <a:prstGeom prst="roundRect">
            <a:avLst>
              <a:gd name="adj" fmla="val 2264"/>
            </a:avLst>
          </a:prstGeom>
          <a:solidFill>
            <a:srgbClr val="FBEAE8"/>
          </a:solidFill>
          <a:ln/>
        </p:spPr>
      </p:sp>
      <p:sp>
        <p:nvSpPr>
          <p:cNvPr id="5" name="Text 3"/>
          <p:cNvSpPr txBox="1"/>
          <p:nvPr/>
        </p:nvSpPr>
        <p:spPr>
          <a:xfrm>
            <a:off x="822960" y="1463040"/>
            <a:ext cx="4846320" cy="502920"/>
          </a:xfrm>
          <a:prstGeom prst="rect">
            <a:avLst/>
          </a:prstGeom>
          <a:noFill/>
          <a:ln/>
        </p:spPr>
        <p:txBody>
          <a:bodyPr wrap="square" lIns="0" tIns="0" rIns="0" bIns="0" rtlCol="0" anchor="t"/>
          <a:lstStyle/>
          <a:p>
            <a:pPr algn="l" indent="0" marL="0">
              <a:buNone/>
            </a:pPr>
            <a:r>
              <a:rPr lang="en-US" sz="2800" b="1" dirty="0">
                <a:solidFill>
                  <a:srgbClr val="B83227"/>
                </a:solidFill>
                <a:latin typeface="Calibri" pitchFamily="34" charset="0"/>
                <a:ea typeface="Calibri" pitchFamily="34" charset="-122"/>
                <a:cs typeface="Calibri" pitchFamily="34" charset="-120"/>
              </a:rPr>
              <a:t>Limitations</a:t>
            </a:r>
            <a:endParaRPr lang="en-US" sz="2800" dirty="0"/>
          </a:p>
        </p:txBody>
      </p:sp>
      <p:sp>
        <p:nvSpPr>
          <p:cNvPr id="6" name="Text 4"/>
          <p:cNvSpPr txBox="1"/>
          <p:nvPr/>
        </p:nvSpPr>
        <p:spPr>
          <a:xfrm>
            <a:off x="822960" y="2103120"/>
            <a:ext cx="4937760" cy="3931920"/>
          </a:xfrm>
          <a:prstGeom prst="rect">
            <a:avLst/>
          </a:prstGeom>
          <a:noFill/>
          <a:ln/>
        </p:spPr>
        <p:txBody>
          <a:bodyPr wrap="square" lIns="0" tIns="0" rIns="0" bIns="0" rtlCol="0" anchor="t"/>
          <a:lstStyle/>
          <a:p>
            <a:pPr marL="342900" indent="-342900">
              <a:spcAft>
                <a:spcPts val="1200"/>
              </a:spcAft>
              <a:buSzPct val="100000"/>
              <a:buChar char="•"/>
            </a:pPr>
            <a:r>
              <a:rPr lang="en-US" sz="2400" dirty="0">
                <a:solidFill>
                  <a:srgbClr val="14212B"/>
                </a:solidFill>
                <a:latin typeface="Calibri" pitchFamily="34" charset="0"/>
                <a:ea typeface="Calibri" pitchFamily="34" charset="-122"/>
                <a:cs typeface="Calibri" pitchFamily="34" charset="-120"/>
              </a:rPr>
              <a:t>Runs precomputed, then replayed</a:t>
            </a:r>
            <a:endParaRPr lang="en-US" sz="2400" dirty="0"/>
          </a:p>
          <a:p>
            <a:pPr marL="342900" indent="-342900">
              <a:spcAft>
                <a:spcPts val="1200"/>
              </a:spcAft>
              <a:buSzPct val="100000"/>
              <a:buChar char="•"/>
            </a:pPr>
            <a:r>
              <a:rPr lang="en-US" sz="2400" dirty="0">
                <a:solidFill>
                  <a:srgbClr val="14212B"/>
                </a:solidFill>
                <a:latin typeface="Calibri" pitchFamily="34" charset="0"/>
                <a:ea typeface="Calibri" pitchFamily="34" charset="-122"/>
                <a:cs typeface="Calibri" pitchFamily="34" charset="-120"/>
              </a:rPr>
              <a:t>Kinematic model: no tyre slip or load transfer</a:t>
            </a:r>
            <a:endParaRPr lang="en-US" sz="2400" dirty="0"/>
          </a:p>
          <a:p>
            <a:pPr marL="342900" indent="-342900">
              <a:spcAft>
                <a:spcPts val="1200"/>
              </a:spcAft>
              <a:buSzPct val="100000"/>
              <a:buChar char="•"/>
            </a:pPr>
            <a:r>
              <a:rPr lang="en-US" sz="2400" dirty="0">
                <a:solidFill>
                  <a:srgbClr val="14212B"/>
                </a:solidFill>
                <a:latin typeface="Calibri" pitchFamily="34" charset="0"/>
                <a:ea typeface="Calibri" pitchFamily="34" charset="-122"/>
                <a:cs typeface="Calibri" pitchFamily="34" charset="-120"/>
              </a:rPr>
              <a:t>Roomy aisles (32–40 m); 12/110 bays not certified</a:t>
            </a:r>
            <a:endParaRPr lang="en-US" sz="2400" dirty="0"/>
          </a:p>
          <a:p>
            <a:pPr marL="342900" indent="-342900">
              <a:spcAft>
                <a:spcPts val="1200"/>
              </a:spcAft>
              <a:buSzPct val="100000"/>
              <a:buChar char="•"/>
            </a:pPr>
            <a:r>
              <a:rPr lang="en-US" sz="2400" dirty="0">
                <a:solidFill>
                  <a:srgbClr val="14212B"/>
                </a:solidFill>
                <a:latin typeface="Calibri" pitchFamily="34" charset="0"/>
                <a:ea typeface="Calibri" pitchFamily="34" charset="-122"/>
                <a:cs typeface="Calibri" pitchFamily="34" charset="-120"/>
              </a:rPr>
              <a:t>One trailer, simulated yard</a:t>
            </a:r>
            <a:endParaRPr lang="en-US" sz="2400" dirty="0"/>
          </a:p>
        </p:txBody>
      </p:sp>
      <p:sp>
        <p:nvSpPr>
          <p:cNvPr id="7" name="Shape 5"/>
          <p:cNvSpPr/>
          <p:nvPr/>
        </p:nvSpPr>
        <p:spPr>
          <a:xfrm>
            <a:off x="6263640" y="1280160"/>
            <a:ext cx="5394960" cy="4846320"/>
          </a:xfrm>
          <a:prstGeom prst="roundRect">
            <a:avLst>
              <a:gd name="adj" fmla="val 2264"/>
            </a:avLst>
          </a:prstGeom>
          <a:solidFill>
            <a:srgbClr val="E8F3F4"/>
          </a:solidFill>
          <a:ln/>
        </p:spPr>
      </p:sp>
      <p:sp>
        <p:nvSpPr>
          <p:cNvPr id="8" name="Text 6"/>
          <p:cNvSpPr txBox="1"/>
          <p:nvPr/>
        </p:nvSpPr>
        <p:spPr>
          <a:xfrm>
            <a:off x="6537960" y="1463040"/>
            <a:ext cx="4846320" cy="502920"/>
          </a:xfrm>
          <a:prstGeom prst="rect">
            <a:avLst/>
          </a:prstGeom>
          <a:noFill/>
          <a:ln/>
        </p:spPr>
        <p:txBody>
          <a:bodyPr wrap="square" lIns="0" tIns="0" rIns="0" bIns="0" rtlCol="0" anchor="t"/>
          <a:lstStyle/>
          <a:p>
            <a:pPr algn="l" indent="0" marL="0">
              <a:buNone/>
            </a:pPr>
            <a:r>
              <a:rPr lang="en-US" sz="2800" b="1" dirty="0">
                <a:solidFill>
                  <a:srgbClr val="0E7C86"/>
                </a:solidFill>
                <a:latin typeface="Calibri" pitchFamily="34" charset="0"/>
                <a:ea typeface="Calibri" pitchFamily="34" charset="-122"/>
                <a:cs typeface="Calibri" pitchFamily="34" charset="-120"/>
              </a:rPr>
              <a:t>Future scope</a:t>
            </a:r>
            <a:endParaRPr lang="en-US" sz="2800" dirty="0"/>
          </a:p>
        </p:txBody>
      </p:sp>
      <p:sp>
        <p:nvSpPr>
          <p:cNvPr id="9" name="Text 7"/>
          <p:cNvSpPr txBox="1"/>
          <p:nvPr/>
        </p:nvSpPr>
        <p:spPr>
          <a:xfrm>
            <a:off x="6537960" y="2103120"/>
            <a:ext cx="4937760" cy="3931920"/>
          </a:xfrm>
          <a:prstGeom prst="rect">
            <a:avLst/>
          </a:prstGeom>
          <a:noFill/>
          <a:ln/>
        </p:spPr>
        <p:txBody>
          <a:bodyPr wrap="square" lIns="0" tIns="0" rIns="0" bIns="0" rtlCol="0" anchor="t"/>
          <a:lstStyle/>
          <a:p>
            <a:pPr marL="342900" indent="-342900">
              <a:spcAft>
                <a:spcPts val="1200"/>
              </a:spcAft>
              <a:buSzPct val="100000"/>
              <a:buChar char="•"/>
            </a:pPr>
            <a:r>
              <a:rPr lang="en-US" sz="2400" dirty="0">
                <a:solidFill>
                  <a:srgbClr val="14212B"/>
                </a:solidFill>
                <a:latin typeface="Calibri" pitchFamily="34" charset="0"/>
                <a:ea typeface="Calibri" pitchFamily="34" charset="-122"/>
                <a:cs typeface="Calibri" pitchFamily="34" charset="-120"/>
              </a:rPr>
              <a:t>Live solver: server or in-browser</a:t>
            </a:r>
            <a:endParaRPr lang="en-US" sz="2400" dirty="0"/>
          </a:p>
          <a:p>
            <a:pPr marL="342900" indent="-342900">
              <a:spcAft>
                <a:spcPts val="1200"/>
              </a:spcAft>
              <a:buSzPct val="100000"/>
              <a:buChar char="•"/>
            </a:pPr>
            <a:r>
              <a:rPr lang="en-US" sz="2400" dirty="0">
                <a:solidFill>
                  <a:srgbClr val="14212B"/>
                </a:solidFill>
                <a:latin typeface="Calibri" pitchFamily="34" charset="0"/>
                <a:ea typeface="Calibri" pitchFamily="34" charset="-122"/>
                <a:cs typeface="Calibri" pitchFamily="34" charset="-120"/>
              </a:rPr>
              <a:t>Faster NMPC (acados / IPOPT) for tight yards</a:t>
            </a:r>
            <a:endParaRPr lang="en-US" sz="2400" dirty="0"/>
          </a:p>
          <a:p>
            <a:pPr marL="342900" indent="-342900">
              <a:spcAft>
                <a:spcPts val="1200"/>
              </a:spcAft>
              <a:buSzPct val="100000"/>
              <a:buChar char="•"/>
            </a:pPr>
            <a:r>
              <a:rPr lang="en-US" sz="2400" dirty="0">
                <a:solidFill>
                  <a:srgbClr val="14212B"/>
                </a:solidFill>
                <a:latin typeface="Calibri" pitchFamily="34" charset="0"/>
                <a:ea typeface="Calibri" pitchFamily="34" charset="-122"/>
                <a:cs typeface="Calibri" pitchFamily="34" charset="-120"/>
              </a:rPr>
              <a:t>Camera / LiDAR pose feedback, as in [1]</a:t>
            </a:r>
            <a:endParaRPr lang="en-US" sz="2400" dirty="0"/>
          </a:p>
          <a:p>
            <a:pPr marL="342900" indent="-342900">
              <a:spcAft>
                <a:spcPts val="1200"/>
              </a:spcAft>
              <a:buSzPct val="100000"/>
              <a:buChar char="•"/>
            </a:pPr>
            <a:r>
              <a:rPr lang="en-US" sz="2400" dirty="0">
                <a:solidFill>
                  <a:srgbClr val="14212B"/>
                </a:solidFill>
                <a:latin typeface="Calibri" pitchFamily="34" charset="0"/>
                <a:ea typeface="Calibri" pitchFamily="34" charset="-122"/>
                <a:cs typeface="Calibri" pitchFamily="34" charset="-120"/>
              </a:rPr>
              <a:t>Driver-in-the-loop trials with reaction delay</a:t>
            </a:r>
            <a:endParaRPr lang="en-US" sz="2400" dirty="0"/>
          </a:p>
        </p:txBody>
      </p:sp>
      <p:sp>
        <p:nvSpPr>
          <p:cNvPr id="25" name="Slide Number Placeholder 0"/>
          <p:cNvSpPr>
            <a:spLocks noGrp="1"/>
          </p:cNvSpPr>
          <p:nvPr>
            <p:ph type="sldNum" sz="quarter" idx="4294967295"/>
          </p:nvPr>
        </p:nvSpPr>
        <p:spPr>
          <a:xfrm>
            <a:off x="10744200" y="6309360"/>
            <a:ext cx="91440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0E7C86"/>
                </a:solidFill>
                <a:latin typeface="Calibri"/>
                <a:ea typeface="Calibri"/>
                <a:cs typeface="Calibri"/>
              </a:defRPr>
            </a:lvl1pPr>
          </a:lstStyle>
          <a:p>
            <a:pPr algn="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777240"/>
          </a:xfrm>
          <a:prstGeom prst="rect">
            <a:avLst/>
          </a:prstGeom>
          <a:noFill/>
          <a:ln/>
        </p:spPr>
        <p:txBody>
          <a:bodyPr wrap="square" lIns="0" tIns="0" rIns="0" bIns="0" rtlCol="0" anchor="ctr"/>
          <a:lstStyle/>
          <a:p>
            <a:pPr indent="0" marL="0">
              <a:buNone/>
            </a:pPr>
            <a:r>
              <a:rPr lang="en-US" sz="3400" b="1" dirty="0">
                <a:solidFill>
                  <a:srgbClr val="14212B"/>
                </a:solidFill>
                <a:latin typeface="Cambria" pitchFamily="34" charset="0"/>
                <a:ea typeface="Cambria" pitchFamily="34" charset="-122"/>
                <a:cs typeface="Cambria" pitchFamily="34" charset="-120"/>
              </a:rPr>
              <a:t>Conclusion</a:t>
            </a:r>
            <a:endParaRPr lang="en-US" sz="3400" dirty="0"/>
          </a:p>
        </p:txBody>
      </p:sp>
      <p:sp>
        <p:nvSpPr>
          <p:cNvPr id="3" name="Text 1"/>
          <p:cNvSpPr txBox="1"/>
          <p:nvPr/>
        </p:nvSpPr>
        <p:spPr>
          <a:xfrm>
            <a:off x="548640" y="6309360"/>
            <a:ext cx="8229600" cy="411480"/>
          </a:xfrm>
          <a:prstGeom prst="rect">
            <a:avLst/>
          </a:prstGeom>
          <a:noFill/>
          <a:ln/>
        </p:spPr>
        <p:txBody>
          <a:bodyPr wrap="square" lIns="0" tIns="0" rIns="0" bIns="0" rtlCol="0" anchor="ctr"/>
          <a:lstStyle/>
          <a:p>
            <a:pPr indent="0" marL="0">
              <a:buNone/>
            </a:pPr>
            <a:r>
              <a:rPr lang="en-US" sz="2400" dirty="0">
                <a:solidFill>
                  <a:srgbClr val="44546A"/>
                </a:solidFill>
                <a:latin typeface="Calibri" pitchFamily="34" charset="0"/>
                <a:ea typeface="Calibri" pitchFamily="34" charset="-122"/>
                <a:cs typeface="Calibri" pitchFamily="34" charset="-120"/>
              </a:rPr>
              <a:t>Conclusion</a:t>
            </a:r>
            <a:endParaRPr lang="en-US" sz="2400" dirty="0"/>
          </a:p>
        </p:txBody>
      </p:sp>
      <p:sp>
        <p:nvSpPr>
          <p:cNvPr id="4" name="Text 2"/>
          <p:cNvSpPr txBox="1"/>
          <p:nvPr/>
        </p:nvSpPr>
        <p:spPr>
          <a:xfrm>
            <a:off x="548640" y="1371600"/>
            <a:ext cx="6766560" cy="4754880"/>
          </a:xfrm>
          <a:prstGeom prst="rect">
            <a:avLst/>
          </a:prstGeom>
          <a:noFill/>
          <a:ln/>
        </p:spPr>
        <p:txBody>
          <a:bodyPr wrap="square" lIns="0" tIns="0" rIns="0" bIns="0" rtlCol="0" anchor="t"/>
          <a:lstStyle/>
          <a:p>
            <a:pPr marL="342900" indent="-342900">
              <a:spcAft>
                <a:spcPts val="1800"/>
              </a:spcAft>
              <a:buSzPct val="100000"/>
              <a:buChar char="•"/>
            </a:pPr>
            <a:r>
              <a:rPr lang="en-US" sz="2400" b="1" dirty="0">
                <a:solidFill>
                  <a:srgbClr val="14212B"/>
                </a:solidFill>
                <a:latin typeface="Calibri" pitchFamily="34" charset="0"/>
                <a:ea typeface="Calibri" pitchFamily="34" charset="-122"/>
                <a:cs typeface="Calibri" pitchFamily="34" charset="-120"/>
              </a:rPr>
              <a:t>Instability: </a:t>
            </a:r>
            <a:pPr indent="0" marL="0">
              <a:buNone/>
            </a:pPr>
            <a:r>
              <a:rPr lang="en-US" sz="2400" dirty="0">
                <a:solidFill>
                  <a:srgbClr val="14212B"/>
                </a:solidFill>
                <a:latin typeface="Calibri" pitchFamily="34" charset="0"/>
                <a:ea typeface="Calibri" pitchFamily="34" charset="-122"/>
                <a:cs typeface="Calibri" pitchFamily="34" charset="-120"/>
              </a:rPr>
              <a:t>a 2° error hits 60° in 28 m</a:t>
            </a:r>
            <a:endParaRPr lang="en-US" sz="2400" dirty="0"/>
          </a:p>
          <a:p>
            <a:pPr marL="342900" indent="-342900">
              <a:spcAft>
                <a:spcPts val="1800"/>
              </a:spcAft>
              <a:buSzPct val="100000"/>
              <a:buChar char="•"/>
            </a:pPr>
            <a:r>
              <a:rPr lang="en-US" sz="2400" b="1" dirty="0">
                <a:solidFill>
                  <a:srgbClr val="14212B"/>
                </a:solidFill>
                <a:latin typeface="Calibri" pitchFamily="34" charset="0"/>
                <a:ea typeface="Calibri" pitchFamily="34" charset="-122"/>
                <a:cs typeface="Calibri" pitchFamily="34" charset="-120"/>
              </a:rPr>
              <a:t>Hybrid A* + NMPC </a:t>
            </a:r>
            <a:pPr indent="0" marL="0">
              <a:buNone/>
            </a:pPr>
            <a:r>
              <a:rPr lang="en-US" sz="2400" dirty="0">
                <a:solidFill>
                  <a:srgbClr val="14212B"/>
                </a:solidFill>
                <a:latin typeface="Calibri" pitchFamily="34" charset="0"/>
                <a:ea typeface="Calibri" pitchFamily="34" charset="-122"/>
                <a:cs typeface="Calibri" pitchFamily="34" charset="-120"/>
              </a:rPr>
              <a:t>with a hard 60° hitch limit</a:t>
            </a:r>
            <a:endParaRPr lang="en-US" sz="2400" dirty="0"/>
          </a:p>
          <a:p>
            <a:pPr marL="342900" indent="-342900">
              <a:spcAft>
                <a:spcPts val="1800"/>
              </a:spcAft>
              <a:buSzPct val="100000"/>
              <a:buChar char="•"/>
            </a:pPr>
            <a:r>
              <a:rPr lang="en-US" sz="2400" b="1" dirty="0">
                <a:solidFill>
                  <a:srgbClr val="14212B"/>
                </a:solidFill>
                <a:latin typeface="Calibri" pitchFamily="34" charset="0"/>
                <a:ea typeface="Calibri" pitchFamily="34" charset="-122"/>
                <a:cs typeface="Calibri" pitchFamily="34" charset="-120"/>
              </a:rPr>
              <a:t>98/110 parked; </a:t>
            </a:r>
            <a:pPr indent="0" marL="0">
              <a:buNone/>
            </a:pPr>
            <a:r>
              <a:rPr lang="en-US" sz="2400" dirty="0">
                <a:solidFill>
                  <a:srgbClr val="14212B"/>
                </a:solidFill>
                <a:latin typeface="Calibri" pitchFamily="34" charset="0"/>
                <a:ea typeface="Calibri" pitchFamily="34" charset="-122"/>
                <a:cs typeface="Calibri" pitchFamily="34" charset="-120"/>
              </a:rPr>
              <a:t>60/60 unaided jackknife</a:t>
            </a:r>
            <a:endParaRPr lang="en-US" sz="2400" dirty="0"/>
          </a:p>
          <a:p>
            <a:pPr marL="342900" indent="-342900">
              <a:spcAft>
                <a:spcPts val="1800"/>
              </a:spcAft>
              <a:buSzPct val="100000"/>
              <a:buChar char="•"/>
            </a:pPr>
            <a:r>
              <a:rPr lang="en-US" sz="2400" b="1" dirty="0">
                <a:solidFill>
                  <a:srgbClr val="14212B"/>
                </a:solidFill>
                <a:latin typeface="Calibri" pitchFamily="34" charset="0"/>
                <a:ea typeface="Calibri" pitchFamily="34" charset="-122"/>
                <a:cs typeface="Calibri" pitchFamily="34" charset="-120"/>
              </a:rPr>
              <a:t>Human output: </a:t>
            </a:r>
            <a:pPr indent="0" marL="0">
              <a:buNone/>
            </a:pPr>
            <a:r>
              <a:rPr lang="en-US" sz="2400" dirty="0">
                <a:solidFill>
                  <a:srgbClr val="14212B"/>
                </a:solidFill>
                <a:latin typeface="Calibri" pitchFamily="34" charset="0"/>
                <a:ea typeface="Calibri" pitchFamily="34" charset="-122"/>
                <a:cs typeface="Calibri" pitchFamily="34" charset="-120"/>
              </a:rPr>
              <a:t>gear, km/h, wheel turns</a:t>
            </a:r>
            <a:endParaRPr lang="en-US" sz="2400" dirty="0"/>
          </a:p>
          <a:p>
            <a:pPr marL="342900" indent="-342900">
              <a:spcAft>
                <a:spcPts val="1800"/>
              </a:spcAft>
              <a:buSzPct val="100000"/>
              <a:buChar char="•"/>
            </a:pPr>
            <a:r>
              <a:rPr lang="en-US" sz="2400" b="1" dirty="0">
                <a:solidFill>
                  <a:srgbClr val="14212B"/>
                </a:solidFill>
                <a:latin typeface="Calibri" pitchFamily="34" charset="0"/>
                <a:ea typeface="Calibri" pitchFamily="34" charset="-122"/>
                <a:cs typeface="Calibri" pitchFamily="34" charset="-120"/>
              </a:rPr>
              <a:t>Built and measured </a:t>
            </a:r>
            <a:pPr indent="0" marL="0">
              <a:buNone/>
            </a:pPr>
            <a:r>
              <a:rPr lang="en-US" sz="2400" dirty="0">
                <a:solidFill>
                  <a:srgbClr val="14212B"/>
                </a:solidFill>
                <a:latin typeface="Calibri" pitchFamily="34" charset="0"/>
                <a:ea typeface="Calibri" pitchFamily="34" charset="-122"/>
                <a:cs typeface="Calibri" pitchFamily="34" charset="-120"/>
              </a:rPr>
              <a:t>what [1] proposed</a:t>
            </a:r>
            <a:endParaRPr lang="en-US" sz="2400" dirty="0"/>
          </a:p>
        </p:txBody>
      </p:sp>
      <p:pic>
        <p:nvPicPr>
          <p:cNvPr id="5" name="Image 0" descr="Rig parked in bay 6 under guidance">    </p:cNvPr>
          <p:cNvPicPr>
            <a:picLocks noChangeAspect="1"/>
          </p:cNvPicPr>
          <p:nvPr/>
        </p:nvPicPr>
        <p:blipFill>
          <a:blip r:embed="rId1"/>
          <a:stretch>
            <a:fillRect/>
          </a:stretch>
        </p:blipFill>
        <p:spPr>
          <a:xfrm>
            <a:off x="7635240" y="1995414"/>
            <a:ext cx="4023360" cy="2775732"/>
          </a:xfrm>
          <a:prstGeom prst="rect">
            <a:avLst/>
          </a:prstGeom>
        </p:spPr>
      </p:pic>
      <p:sp>
        <p:nvSpPr>
          <p:cNvPr id="25" name="Slide Number Placeholder 0"/>
          <p:cNvSpPr>
            <a:spLocks noGrp="1"/>
          </p:cNvSpPr>
          <p:nvPr>
            <p:ph type="sldNum" sz="quarter" idx="4294967295"/>
          </p:nvPr>
        </p:nvSpPr>
        <p:spPr>
          <a:xfrm>
            <a:off x="10744200" y="6309360"/>
            <a:ext cx="91440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0E7C86"/>
                </a:solidFill>
                <a:latin typeface="Calibri"/>
                <a:ea typeface="Calibri"/>
                <a:cs typeface="Calibri"/>
              </a:defRPr>
            </a:lvl1pPr>
          </a:lstStyle>
          <a:p>
            <a:pPr algn="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777240"/>
          </a:xfrm>
          <a:prstGeom prst="rect">
            <a:avLst/>
          </a:prstGeom>
          <a:noFill/>
          <a:ln/>
        </p:spPr>
        <p:txBody>
          <a:bodyPr wrap="square" lIns="0" tIns="0" rIns="0" bIns="0" rtlCol="0" anchor="ctr"/>
          <a:lstStyle/>
          <a:p>
            <a:pPr indent="0" marL="0">
              <a:buNone/>
            </a:pPr>
            <a:r>
              <a:rPr lang="en-US" sz="3400" b="1" dirty="0">
                <a:solidFill>
                  <a:srgbClr val="14212B"/>
                </a:solidFill>
                <a:latin typeface="Cambria" pitchFamily="34" charset="0"/>
                <a:ea typeface="Cambria" pitchFamily="34" charset="-122"/>
                <a:cs typeface="Cambria" pitchFamily="34" charset="-120"/>
              </a:rPr>
              <a:t>References (1/2)</a:t>
            </a:r>
            <a:endParaRPr lang="en-US" sz="3400" dirty="0"/>
          </a:p>
        </p:txBody>
      </p:sp>
      <p:sp>
        <p:nvSpPr>
          <p:cNvPr id="3" name="Text 1"/>
          <p:cNvSpPr txBox="1"/>
          <p:nvPr/>
        </p:nvSpPr>
        <p:spPr>
          <a:xfrm>
            <a:off x="548640" y="6309360"/>
            <a:ext cx="8229600" cy="411480"/>
          </a:xfrm>
          <a:prstGeom prst="rect">
            <a:avLst/>
          </a:prstGeom>
          <a:noFill/>
          <a:ln/>
        </p:spPr>
        <p:txBody>
          <a:bodyPr wrap="square" lIns="0" tIns="0" rIns="0" bIns="0" rtlCol="0" anchor="ctr"/>
          <a:lstStyle/>
          <a:p>
            <a:pPr indent="0" marL="0">
              <a:buNone/>
            </a:pPr>
            <a:r>
              <a:rPr lang="en-US" sz="2400" dirty="0">
                <a:solidFill>
                  <a:srgbClr val="44546A"/>
                </a:solidFill>
                <a:latin typeface="Calibri" pitchFamily="34" charset="0"/>
                <a:ea typeface="Calibri" pitchFamily="34" charset="-122"/>
                <a:cs typeface="Calibri" pitchFamily="34" charset="-120"/>
              </a:rPr>
              <a:t>References</a:t>
            </a:r>
            <a:endParaRPr lang="en-US" sz="2400" dirty="0"/>
          </a:p>
        </p:txBody>
      </p:sp>
      <p:sp>
        <p:nvSpPr>
          <p:cNvPr id="4" name="Text 2"/>
          <p:cNvSpPr txBox="1"/>
          <p:nvPr/>
        </p:nvSpPr>
        <p:spPr>
          <a:xfrm>
            <a:off x="548640" y="1280160"/>
            <a:ext cx="11064240" cy="4846320"/>
          </a:xfrm>
          <a:prstGeom prst="rect">
            <a:avLst/>
          </a:prstGeom>
          <a:noFill/>
          <a:ln/>
        </p:spPr>
        <p:txBody>
          <a:bodyPr wrap="square" lIns="0" tIns="0" rIns="0" bIns="0" rtlCol="0" anchor="t"/>
          <a:lstStyle/>
          <a:p>
            <a:pPr indent="0" marL="0">
              <a:spcAft>
                <a:spcPts val="1400"/>
              </a:spcAft>
              <a:buNone/>
            </a:pPr>
            <a:r>
              <a:rPr lang="en-US" sz="2400" b="1" dirty="0">
                <a:solidFill>
                  <a:srgbClr val="0E7C86"/>
                </a:solidFill>
                <a:latin typeface="Calibri" pitchFamily="34" charset="0"/>
                <a:ea typeface="Calibri" pitchFamily="34" charset="-122"/>
                <a:cs typeface="Calibri" pitchFamily="34" charset="-120"/>
              </a:rPr>
              <a:t>[1]  </a:t>
            </a:r>
            <a:pPr indent="0" marL="0">
              <a:buNone/>
            </a:pPr>
            <a:r>
              <a:rPr lang="en-US" sz="2400" dirty="0">
                <a:solidFill>
                  <a:srgbClr val="14212B"/>
                </a:solidFill>
                <a:latin typeface="Calibri" pitchFamily="34" charset="0"/>
                <a:ea typeface="Calibri" pitchFamily="34" charset="-122"/>
                <a:cs typeface="Calibri" pitchFamily="34" charset="-120"/>
              </a:rPr>
              <a:t>G. Alenchery et al., “Parking Assistance for Trailer-Truck Transport Vehicles Using Sensor Fusion and Motion Planning,” arXiv:2605.02716 [cs.RO], 2026.</a:t>
            </a:r>
            <a:endParaRPr lang="en-US" sz="2400" dirty="0"/>
          </a:p>
          <a:p>
            <a:pPr indent="0" marL="0">
              <a:spcAft>
                <a:spcPts val="1400"/>
              </a:spcAft>
              <a:buNone/>
            </a:pPr>
            <a:r>
              <a:rPr lang="en-US" sz="2400" b="1" dirty="0">
                <a:solidFill>
                  <a:srgbClr val="0E7C86"/>
                </a:solidFill>
                <a:latin typeface="Calibri" pitchFamily="34" charset="0"/>
                <a:ea typeface="Calibri" pitchFamily="34" charset="-122"/>
                <a:cs typeface="Calibri" pitchFamily="34" charset="-120"/>
              </a:rPr>
              <a:t>[2]  </a:t>
            </a:r>
            <a:pPr indent="0" marL="0">
              <a:buNone/>
            </a:pPr>
            <a:r>
              <a:rPr lang="en-US" sz="2400" dirty="0">
                <a:solidFill>
                  <a:srgbClr val="14212B"/>
                </a:solidFill>
                <a:latin typeface="Calibri" pitchFamily="34" charset="0"/>
                <a:ea typeface="Calibri" pitchFamily="34" charset="-122"/>
                <a:cs typeface="Calibri" pitchFamily="34" charset="-120"/>
              </a:rPr>
              <a:t>M. Beglini, T. Belvedere, L. Lanari, G. Oriolo, “An Intrinsically Stable MPC Approach for Anti-Jackknifing Control of Tractor-Trailer Vehicles,” IEEE/ASME Trans. Mechatronics, 27(6), 4417–4428, 2022.</a:t>
            </a:r>
            <a:endParaRPr lang="en-US" sz="2400" dirty="0"/>
          </a:p>
          <a:p>
            <a:pPr indent="0" marL="0">
              <a:spcAft>
                <a:spcPts val="1400"/>
              </a:spcAft>
              <a:buNone/>
            </a:pPr>
            <a:r>
              <a:rPr lang="en-US" sz="2400" b="1" dirty="0">
                <a:solidFill>
                  <a:srgbClr val="0E7C86"/>
                </a:solidFill>
                <a:latin typeface="Calibri" pitchFamily="34" charset="0"/>
                <a:ea typeface="Calibri" pitchFamily="34" charset="-122"/>
                <a:cs typeface="Calibri" pitchFamily="34" charset="-120"/>
              </a:rPr>
              <a:t>[3]  </a:t>
            </a:r>
            <a:pPr indent="0" marL="0">
              <a:buNone/>
            </a:pPr>
            <a:r>
              <a:rPr lang="en-US" sz="2400" dirty="0">
                <a:solidFill>
                  <a:srgbClr val="14212B"/>
                </a:solidFill>
                <a:latin typeface="Calibri" pitchFamily="34" charset="0"/>
                <a:ea typeface="Calibri" pitchFamily="34" charset="-122"/>
                <a:cs typeface="Calibri" pitchFamily="34" charset="-120"/>
              </a:rPr>
              <a:t>E. Kayacan, E. Kayacan, H. Ramon, W. Saeys, “Robust Tube-Based Decentralized Nonlinear Model Predictive Control of an Autonomous Tractor-Trailer System,” IEEE/ASME Trans. Mechatronics, 20(1), 447–456, 2015.</a:t>
            </a:r>
            <a:endParaRPr lang="en-US" sz="2400" dirty="0"/>
          </a:p>
          <a:p>
            <a:pPr indent="0" marL="0">
              <a:spcAft>
                <a:spcPts val="1400"/>
              </a:spcAft>
              <a:buNone/>
            </a:pPr>
            <a:r>
              <a:rPr lang="en-US" sz="2400" b="1" dirty="0">
                <a:solidFill>
                  <a:srgbClr val="0E7C86"/>
                </a:solidFill>
                <a:latin typeface="Calibri" pitchFamily="34" charset="0"/>
                <a:ea typeface="Calibri" pitchFamily="34" charset="-122"/>
                <a:cs typeface="Calibri" pitchFamily="34" charset="-120"/>
              </a:rPr>
              <a:t>[4]  </a:t>
            </a:r>
            <a:pPr indent="0" marL="0">
              <a:buNone/>
            </a:pPr>
            <a:r>
              <a:rPr lang="en-US" sz="2400" dirty="0">
                <a:solidFill>
                  <a:srgbClr val="14212B"/>
                </a:solidFill>
                <a:latin typeface="Calibri" pitchFamily="34" charset="0"/>
                <a:ea typeface="Calibri" pitchFamily="34" charset="-122"/>
                <a:cs typeface="Calibri" pitchFamily="34" charset="-120"/>
              </a:rPr>
              <a:t>D. Dolgov, S. Thrun, M. Montemerlo, J. Diebel, “Path Planning for Autonomous Vehicles in Unknown Semi-structured Environments,” Int. J. Robotics Research, 29(5), 485–501, 2010.</a:t>
            </a:r>
            <a:endParaRPr lang="en-US" sz="2400" dirty="0"/>
          </a:p>
        </p:txBody>
      </p:sp>
      <p:sp>
        <p:nvSpPr>
          <p:cNvPr id="25" name="Slide Number Placeholder 0"/>
          <p:cNvSpPr>
            <a:spLocks noGrp="1"/>
          </p:cNvSpPr>
          <p:nvPr>
            <p:ph type="sldNum" sz="quarter" idx="4294967295"/>
          </p:nvPr>
        </p:nvSpPr>
        <p:spPr>
          <a:xfrm>
            <a:off x="10744200" y="6309360"/>
            <a:ext cx="91440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0E7C86"/>
                </a:solidFill>
                <a:latin typeface="Calibri"/>
                <a:ea typeface="Calibri"/>
                <a:cs typeface="Calibri"/>
              </a:defRPr>
            </a:lvl1pPr>
          </a:lstStyle>
          <a:p>
            <a:pPr algn="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777240"/>
          </a:xfrm>
          <a:prstGeom prst="rect">
            <a:avLst/>
          </a:prstGeom>
          <a:noFill/>
          <a:ln/>
        </p:spPr>
        <p:txBody>
          <a:bodyPr wrap="square" lIns="0" tIns="0" rIns="0" bIns="0" rtlCol="0" anchor="ctr"/>
          <a:lstStyle/>
          <a:p>
            <a:pPr indent="0" marL="0">
              <a:buNone/>
            </a:pPr>
            <a:r>
              <a:rPr lang="en-US" sz="3400" b="1" dirty="0">
                <a:solidFill>
                  <a:srgbClr val="14212B"/>
                </a:solidFill>
                <a:latin typeface="Cambria" pitchFamily="34" charset="0"/>
                <a:ea typeface="Cambria" pitchFamily="34" charset="-122"/>
                <a:cs typeface="Cambria" pitchFamily="34" charset="-120"/>
              </a:rPr>
              <a:t>References (2/2)</a:t>
            </a:r>
            <a:endParaRPr lang="en-US" sz="3400" dirty="0"/>
          </a:p>
        </p:txBody>
      </p:sp>
      <p:sp>
        <p:nvSpPr>
          <p:cNvPr id="3" name="Text 1"/>
          <p:cNvSpPr txBox="1"/>
          <p:nvPr/>
        </p:nvSpPr>
        <p:spPr>
          <a:xfrm>
            <a:off x="548640" y="6309360"/>
            <a:ext cx="8229600" cy="411480"/>
          </a:xfrm>
          <a:prstGeom prst="rect">
            <a:avLst/>
          </a:prstGeom>
          <a:noFill/>
          <a:ln/>
        </p:spPr>
        <p:txBody>
          <a:bodyPr wrap="square" lIns="0" tIns="0" rIns="0" bIns="0" rtlCol="0" anchor="ctr"/>
          <a:lstStyle/>
          <a:p>
            <a:pPr indent="0" marL="0">
              <a:buNone/>
            </a:pPr>
            <a:r>
              <a:rPr lang="en-US" sz="2400" dirty="0">
                <a:solidFill>
                  <a:srgbClr val="44546A"/>
                </a:solidFill>
                <a:latin typeface="Calibri" pitchFamily="34" charset="0"/>
                <a:ea typeface="Calibri" pitchFamily="34" charset="-122"/>
                <a:cs typeface="Calibri" pitchFamily="34" charset="-120"/>
              </a:rPr>
              <a:t>References</a:t>
            </a:r>
            <a:endParaRPr lang="en-US" sz="2400" dirty="0"/>
          </a:p>
        </p:txBody>
      </p:sp>
      <p:sp>
        <p:nvSpPr>
          <p:cNvPr id="4" name="Text 2"/>
          <p:cNvSpPr txBox="1"/>
          <p:nvPr/>
        </p:nvSpPr>
        <p:spPr>
          <a:xfrm>
            <a:off x="548640" y="1280160"/>
            <a:ext cx="11064240" cy="4846320"/>
          </a:xfrm>
          <a:prstGeom prst="rect">
            <a:avLst/>
          </a:prstGeom>
          <a:noFill/>
          <a:ln/>
        </p:spPr>
        <p:txBody>
          <a:bodyPr wrap="square" lIns="0" tIns="0" rIns="0" bIns="0" rtlCol="0" anchor="t"/>
          <a:lstStyle/>
          <a:p>
            <a:pPr indent="0" marL="0">
              <a:spcAft>
                <a:spcPts val="1400"/>
              </a:spcAft>
              <a:buNone/>
            </a:pPr>
            <a:r>
              <a:rPr lang="en-US" sz="2400" b="1" dirty="0">
                <a:solidFill>
                  <a:srgbClr val="0E7C86"/>
                </a:solidFill>
                <a:latin typeface="Calibri" pitchFamily="34" charset="0"/>
                <a:ea typeface="Calibri" pitchFamily="34" charset="-122"/>
                <a:cs typeface="Calibri" pitchFamily="34" charset="-120"/>
              </a:rPr>
              <a:t>[5]  </a:t>
            </a:r>
            <a:pPr indent="0" marL="0">
              <a:buNone/>
            </a:pPr>
            <a:r>
              <a:rPr lang="en-US" sz="2400" dirty="0">
                <a:solidFill>
                  <a:srgbClr val="14212B"/>
                </a:solidFill>
                <a:latin typeface="Calibri" pitchFamily="34" charset="0"/>
                <a:ea typeface="Calibri" pitchFamily="34" charset="-122"/>
                <a:cs typeface="Calibri" pitchFamily="34" charset="-120"/>
              </a:rPr>
              <a:t>L. E. Dubins, “On Curves of Minimal Length with a Constraint on Average Curvature, and with Prescribed Initial and Terminal Positions and Tangents,” American J. Mathematics, 79(3), 497–516, 1957.</a:t>
            </a:r>
            <a:endParaRPr lang="en-US" sz="2400" dirty="0"/>
          </a:p>
          <a:p>
            <a:pPr indent="0" marL="0">
              <a:spcAft>
                <a:spcPts val="1400"/>
              </a:spcAft>
              <a:buNone/>
            </a:pPr>
            <a:r>
              <a:rPr lang="en-US" sz="2400" b="1" dirty="0">
                <a:solidFill>
                  <a:srgbClr val="0E7C86"/>
                </a:solidFill>
                <a:latin typeface="Calibri" pitchFamily="34" charset="0"/>
                <a:ea typeface="Calibri" pitchFamily="34" charset="-122"/>
                <a:cs typeface="Calibri" pitchFamily="34" charset="-120"/>
              </a:rPr>
              <a:t>[6]  </a:t>
            </a:r>
            <a:pPr indent="0" marL="0">
              <a:buNone/>
            </a:pPr>
            <a:r>
              <a:rPr lang="en-US" sz="2400" dirty="0">
                <a:solidFill>
                  <a:srgbClr val="14212B"/>
                </a:solidFill>
                <a:latin typeface="Calibri" pitchFamily="34" charset="0"/>
                <a:ea typeface="Calibri" pitchFamily="34" charset="-122"/>
                <a:cs typeface="Calibri" pitchFamily="34" charset="-120"/>
              </a:rPr>
              <a:t>D. Kraft, “A Software Package for Sequential Quadratic Programming,” DFVLR-FB 88-28, German Aerospace Center (DLR), 1988.</a:t>
            </a:r>
            <a:endParaRPr lang="en-US" sz="2400" dirty="0"/>
          </a:p>
          <a:p>
            <a:pPr indent="0" marL="0">
              <a:spcAft>
                <a:spcPts val="1400"/>
              </a:spcAft>
              <a:buNone/>
            </a:pPr>
            <a:r>
              <a:rPr lang="en-US" sz="2400" b="1" dirty="0">
                <a:solidFill>
                  <a:srgbClr val="0E7C86"/>
                </a:solidFill>
                <a:latin typeface="Calibri" pitchFamily="34" charset="0"/>
                <a:ea typeface="Calibri" pitchFamily="34" charset="-122"/>
                <a:cs typeface="Calibri" pitchFamily="34" charset="-120"/>
              </a:rPr>
              <a:t>[7]  </a:t>
            </a:r>
            <a:pPr indent="0" marL="0">
              <a:buNone/>
            </a:pPr>
            <a:r>
              <a:rPr lang="en-US" sz="2400" dirty="0">
                <a:solidFill>
                  <a:srgbClr val="14212B"/>
                </a:solidFill>
                <a:latin typeface="Calibri" pitchFamily="34" charset="0"/>
                <a:ea typeface="Calibri" pitchFamily="34" charset="-122"/>
                <a:cs typeface="Calibri" pitchFamily="34" charset="-120"/>
              </a:rPr>
              <a:t>J. B. Rawlings, D. Q. Mayne, M. M. Diehl, Model Predictive Control: Theory, Computation, and Design, 2nd ed., Nob Hill Publishing, 2017.</a:t>
            </a:r>
            <a:endParaRPr lang="en-US" sz="2400" dirty="0"/>
          </a:p>
          <a:p>
            <a:pPr indent="0" marL="0">
              <a:spcAft>
                <a:spcPts val="1400"/>
              </a:spcAft>
              <a:buNone/>
            </a:pPr>
            <a:r>
              <a:rPr lang="en-US" sz="2400" b="1" dirty="0">
                <a:solidFill>
                  <a:srgbClr val="0E7C86"/>
                </a:solidFill>
                <a:latin typeface="Calibri" pitchFamily="34" charset="0"/>
                <a:ea typeface="Calibri" pitchFamily="34" charset="-122"/>
                <a:cs typeface="Calibri" pitchFamily="34" charset="-120"/>
              </a:rPr>
              <a:t>[8]  </a:t>
            </a:r>
            <a:pPr indent="0" marL="0">
              <a:buNone/>
            </a:pPr>
            <a:r>
              <a:rPr lang="en-US" sz="2400" dirty="0">
                <a:solidFill>
                  <a:srgbClr val="14212B"/>
                </a:solidFill>
                <a:latin typeface="Calibri" pitchFamily="34" charset="0"/>
                <a:ea typeface="Calibri" pitchFamily="34" charset="-122"/>
                <a:cs typeface="Calibri" pitchFamily="34" charset="-120"/>
              </a:rPr>
              <a:t>P. Virtanen et al., “SciPy 1.0: Fundamental Algorithms for Scientific Computing in Python,” Nature Methods, 17, 261–272, 2020.</a:t>
            </a:r>
            <a:endParaRPr lang="en-US" sz="2400" dirty="0"/>
          </a:p>
        </p:txBody>
      </p:sp>
      <p:sp>
        <p:nvSpPr>
          <p:cNvPr id="25" name="Slide Number Placeholder 0"/>
          <p:cNvSpPr>
            <a:spLocks noGrp="1"/>
          </p:cNvSpPr>
          <p:nvPr>
            <p:ph type="sldNum" sz="quarter" idx="4294967295"/>
          </p:nvPr>
        </p:nvSpPr>
        <p:spPr>
          <a:xfrm>
            <a:off x="10744200" y="6309360"/>
            <a:ext cx="91440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0E7C86"/>
                </a:solidFill>
                <a:latin typeface="Calibri"/>
                <a:ea typeface="Calibri"/>
                <a:cs typeface="Calibri"/>
              </a:defRPr>
            </a:lvl1pPr>
          </a:lstStyle>
          <a:p>
            <a:pPr algn="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1280160"/>
            <a:ext cx="6400800" cy="1188720"/>
          </a:xfrm>
          <a:prstGeom prst="rect">
            <a:avLst/>
          </a:prstGeom>
          <a:noFill/>
          <a:ln/>
        </p:spPr>
        <p:txBody>
          <a:bodyPr wrap="square" lIns="0" tIns="0" rIns="0" bIns="0" rtlCol="0" anchor="t"/>
          <a:lstStyle/>
          <a:p>
            <a:pPr algn="l" indent="0" marL="0">
              <a:buNone/>
            </a:pPr>
            <a:r>
              <a:rPr lang="en-US" sz="5400" b="1" dirty="0">
                <a:solidFill>
                  <a:srgbClr val="14212B"/>
                </a:solidFill>
                <a:latin typeface="Cambria" pitchFamily="34" charset="0"/>
                <a:ea typeface="Cambria" pitchFamily="34" charset="-122"/>
                <a:cs typeface="Cambria" pitchFamily="34" charset="-120"/>
              </a:rPr>
              <a:t>Thank you</a:t>
            </a:r>
            <a:endParaRPr lang="en-US" sz="5400" dirty="0"/>
          </a:p>
        </p:txBody>
      </p:sp>
      <p:sp>
        <p:nvSpPr>
          <p:cNvPr id="3" name="Text 1"/>
          <p:cNvSpPr txBox="1"/>
          <p:nvPr/>
        </p:nvSpPr>
        <p:spPr>
          <a:xfrm>
            <a:off x="548640" y="2468880"/>
            <a:ext cx="6400800" cy="731520"/>
          </a:xfrm>
          <a:prstGeom prst="rect">
            <a:avLst/>
          </a:prstGeom>
          <a:noFill/>
          <a:ln/>
        </p:spPr>
        <p:txBody>
          <a:bodyPr wrap="square" lIns="0" tIns="0" rIns="0" bIns="0" rtlCol="0" anchor="t"/>
          <a:lstStyle/>
          <a:p>
            <a:pPr algn="l" indent="0" marL="0">
              <a:buNone/>
            </a:pPr>
            <a:r>
              <a:rPr lang="en-US" sz="3200" b="1" dirty="0">
                <a:solidFill>
                  <a:srgbClr val="0E7C86"/>
                </a:solidFill>
                <a:latin typeface="Calibri" pitchFamily="34" charset="0"/>
                <a:ea typeface="Calibri" pitchFamily="34" charset="-122"/>
                <a:cs typeface="Calibri" pitchFamily="34" charset="-120"/>
              </a:rPr>
              <a:t>Questions?</a:t>
            </a:r>
            <a:endParaRPr lang="en-US" sz="3200" dirty="0"/>
          </a:p>
        </p:txBody>
      </p:sp>
      <p:sp>
        <p:nvSpPr>
          <p:cNvPr id="4" name="Text 2"/>
          <p:cNvSpPr txBox="1"/>
          <p:nvPr/>
        </p:nvSpPr>
        <p:spPr>
          <a:xfrm>
            <a:off x="548640" y="3383280"/>
            <a:ext cx="6309360" cy="1463040"/>
          </a:xfrm>
          <a:prstGeom prst="rect">
            <a:avLst/>
          </a:prstGeom>
          <a:noFill/>
          <a:ln/>
        </p:spPr>
        <p:txBody>
          <a:bodyPr wrap="square" lIns="0" tIns="0" rIns="0" bIns="0" rtlCol="0" anchor="t"/>
          <a:lstStyle/>
          <a:p>
            <a:pPr algn="l" indent="0" marL="0">
              <a:buNone/>
            </a:pPr>
            <a:r>
              <a:rPr lang="en-US" sz="2400" dirty="0">
                <a:solidFill>
                  <a:srgbClr val="14212B"/>
                </a:solidFill>
                <a:latin typeface="Calibri" pitchFamily="34" charset="0"/>
                <a:ea typeface="Calibri" pitchFamily="34" charset="-122"/>
                <a:cs typeface="Calibri" pitchFamily="34" charset="-120"/>
              </a:rPr>
              <a:t>Group B9</a:t>
            </a:r>
            <a:endParaRPr lang="en-US" sz="2400" dirty="0"/>
          </a:p>
          <a:p>
            <a:pPr algn="l" indent="0" marL="0">
              <a:buNone/>
            </a:pPr>
            <a:r>
              <a:rPr lang="en-US" sz="2400" dirty="0">
                <a:solidFill>
                  <a:srgbClr val="14212B"/>
                </a:solidFill>
                <a:latin typeface="Calibri" pitchFamily="34" charset="0"/>
                <a:ea typeface="Calibri" pitchFamily="34" charset="-122"/>
                <a:cs typeface="Calibri" pitchFamily="34" charset="-120"/>
              </a:rPr>
              <a:t>Harshith KV · G Venugopalan</a:t>
            </a:r>
            <a:endParaRPr lang="en-US" sz="2400" dirty="0"/>
          </a:p>
          <a:p>
            <a:pPr algn="l" indent="0" marL="0">
              <a:buNone/>
            </a:pPr>
            <a:r>
              <a:rPr lang="en-US" sz="2400" dirty="0">
                <a:solidFill>
                  <a:srgbClr val="14212B"/>
                </a:solidFill>
                <a:latin typeface="Calibri" pitchFamily="34" charset="0"/>
                <a:ea typeface="Calibri" pitchFamily="34" charset="-122"/>
                <a:cs typeface="Calibri" pitchFamily="34" charset="-120"/>
              </a:rPr>
              <a:t>Rithvik Arulprakash · Vipin Sudhakar</a:t>
            </a:r>
            <a:endParaRPr lang="en-US" sz="2400" dirty="0"/>
          </a:p>
        </p:txBody>
      </p:sp>
      <p:sp>
        <p:nvSpPr>
          <p:cNvPr id="5" name="Text 3"/>
          <p:cNvSpPr txBox="1"/>
          <p:nvPr/>
        </p:nvSpPr>
        <p:spPr>
          <a:xfrm>
            <a:off x="548640" y="4937760"/>
            <a:ext cx="6309360" cy="822960"/>
          </a:xfrm>
          <a:prstGeom prst="rect">
            <a:avLst/>
          </a:prstGeom>
          <a:noFill/>
          <a:ln/>
        </p:spPr>
        <p:txBody>
          <a:bodyPr wrap="square" lIns="0" tIns="0" rIns="0" bIns="0" rtlCol="0" anchor="t"/>
          <a:lstStyle/>
          <a:p>
            <a:pPr algn="l" indent="0" marL="0">
              <a:buNone/>
            </a:pPr>
            <a:r>
              <a:rPr lang="en-US" sz="2400" dirty="0">
                <a:solidFill>
                  <a:srgbClr val="44546A"/>
                </a:solidFill>
                <a:latin typeface="Calibri" pitchFamily="34" charset="0"/>
                <a:ea typeface="Calibri" pitchFamily="34" charset="-122"/>
                <a:cs typeface="Calibri" pitchFamily="34" charset="-120"/>
              </a:rPr>
              <a:t>Live demo: run_demo.bat → any layout → any green bay</a:t>
            </a:r>
            <a:endParaRPr lang="en-US" sz="2400" dirty="0"/>
          </a:p>
        </p:txBody>
      </p:sp>
      <p:pic>
        <p:nvPicPr>
          <p:cNvPr id="6" name="Image 0" descr="Tractor-trailer reversing with the NMPC look-ahead">    </p:cNvPr>
          <p:cNvPicPr>
            <a:picLocks noChangeAspect="1"/>
          </p:cNvPicPr>
          <p:nvPr/>
        </p:nvPicPr>
        <p:blipFill>
          <a:blip r:embed="rId1"/>
          <a:stretch>
            <a:fillRect/>
          </a:stretch>
        </p:blipFill>
        <p:spPr>
          <a:xfrm>
            <a:off x="7132320" y="2370296"/>
            <a:ext cx="4526280" cy="2391728"/>
          </a:xfrm>
          <a:prstGeom prst="rect">
            <a:avLst/>
          </a:prstGeom>
        </p:spPr>
      </p:pic>
      <p:sp>
        <p:nvSpPr>
          <p:cNvPr id="25" name="Slide Number Placeholder 0"/>
          <p:cNvSpPr>
            <a:spLocks noGrp="1"/>
          </p:cNvSpPr>
          <p:nvPr>
            <p:ph type="sldNum" sz="quarter" idx="4294967295"/>
          </p:nvPr>
        </p:nvSpPr>
        <p:spPr>
          <a:xfrm>
            <a:off x="10744200" y="6309360"/>
            <a:ext cx="91440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0E7C86"/>
                </a:solidFill>
                <a:latin typeface="Calibri"/>
                <a:ea typeface="Calibri"/>
                <a:cs typeface="Calibri"/>
              </a:defRPr>
            </a:lvl1pPr>
          </a:lstStyle>
          <a:p>
            <a:pPr algn="r"/>
            <a:fld id="{F7021451-1387-4CA6-816F-3879F97B5CBC}" type="slidenum">
              <a:rPr b="1" lang="en-US"/>
              <a:t>30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MPC for Automated Reverse Docking of an Articulated Tractor-Trailer</dc:title>
  <dc:subject>PptxGenJS Presentation</dc:subject>
  <dc:creator>Group B9</dc:creator>
  <cp:lastModifiedBy>Group B9</cp:lastModifiedBy>
  <cp:revision>1</cp:revision>
  <dcterms:created xsi:type="dcterms:W3CDTF">2026-09-25T05:18:07Z</dcterms:created>
  <dcterms:modified xsi:type="dcterms:W3CDTF">2026-09-25T05:18:07Z</dcterms:modified>
</cp:coreProperties>
</file>