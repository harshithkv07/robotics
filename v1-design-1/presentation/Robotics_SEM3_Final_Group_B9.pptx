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NMPC guidance</c:v>
                </c:pt>
              </c:strCache>
            </c:strRef>
          </c:tx>
          <c:spPr>
            <a:solidFill>
              <a:srgbClr val="0E7C86"/>
            </a:solidFill>
            <a:effectLst/>
          </c:spPr>
          <c:invertIfNegative val="0"/>
          <c:dLbls>
            <c:numFmt formatCode="#,##0" sourceLinked="0"/>
            <c:txPr>
              <a:bodyPr/>
              <a:lstStyle/>
              <a:p>
                <a:pPr>
                  <a:defRPr b="0" i="0" strike="noStrike" sz="2400" u="none">
                    <a:solidFill>
                      <a:srgbClr val="142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Cross</c:v>
                  </c:pt>
                  <c:pt idx="1">
                    <c:v>Angled</c:v>
                  </c:pt>
                  <c:pt idx="2">
                    <c:v>Parallel</c:v>
                  </c:pt>
                  <c:pt idx="3">
                    <c:v>Tandem</c:v>
                  </c:pt>
                </c:lvl>
              </c:multiLvlStrCache>
            </c:multiLvlStrRef>
          </c:cat>
          <c:val>
            <c:numRef>
              <c:f>Sheet1!$B$2:$B$5</c:f>
              <c:numCache>
                <c:formatCode>General</c:formatCode>
                <c:ptCount val="4"/>
                <c:pt idx="0">
                  <c:v>20</c:v>
                </c:pt>
                <c:pt idx="1">
                  <c:v>23</c:v>
                </c:pt>
                <c:pt idx="2">
                  <c:v>17</c:v>
                </c:pt>
                <c:pt idx="3">
                  <c:v>38</c:v>
                </c:pt>
              </c:numCache>
            </c:numRef>
          </c:val>
        </c:ser>
        <c:ser>
          <c:idx val="1"/>
          <c:order val="1"/>
          <c:tx>
            <c:strRef>
              <c:f>Sheet1!$C$1</c:f>
              <c:strCache>
                <c:ptCount val="1"/>
                <c:pt idx="0">
                  <c:v>Unaided</c:v>
                </c:pt>
              </c:strCache>
            </c:strRef>
          </c:tx>
          <c:spPr>
            <a:solidFill>
              <a:srgbClr val="B83227"/>
            </a:solidFill>
            <a:effectLst/>
          </c:spPr>
          <c:invertIfNegative val="0"/>
          <c:dLbls>
            <c:numFmt formatCode="#,##0" sourceLinked="0"/>
            <c:txPr>
              <a:bodyPr/>
              <a:lstStyle/>
              <a:p>
                <a:pPr>
                  <a:defRPr b="0" i="0" strike="noStrike" sz="2400" u="none">
                    <a:solidFill>
                      <a:srgbClr val="142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Cross</c:v>
                  </c:pt>
                  <c:pt idx="1">
                    <c:v>Angled</c:v>
                  </c:pt>
                  <c:pt idx="2">
                    <c:v>Parallel</c:v>
                  </c:pt>
                  <c:pt idx="3">
                    <c:v>Tandem</c:v>
                  </c:pt>
                </c:lvl>
              </c:multiLvlStrCache>
            </c:multiLvlStrRef>
          </c:cat>
          <c:val>
            <c:numRef>
              <c:f>Sheet1!$C$2:$C$5</c:f>
              <c:numCache>
                <c:formatCode>General</c:formatCode>
                <c:ptCount val="4"/>
                <c:pt idx="0">
                  <c:v>0</c:v>
                </c:pt>
                <c:pt idx="1">
                  <c:v>0</c:v>
                </c:pt>
                <c:pt idx="2">
                  <c:v>0</c:v>
                </c:pt>
                <c:pt idx="3">
                  <c:v>38</c:v>
                </c:pt>
              </c:numCache>
            </c:numRef>
          </c:val>
        </c:ser>
        <c:dLbls>
          <c:numFmt formatCode="#,##0" sourceLinked="0"/>
          <c:txPr>
            <a:bodyPr/>
            <a:lstStyle/>
            <a:p>
              <a:pPr>
                <a:defRPr b="0" i="0" strike="noStrike" sz="2400" u="none">
                  <a:solidFill>
                    <a:srgbClr val="1421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400" b="0" i="0" u="none" strike="noStrike">
                <a:solidFill>
                  <a:srgbClr val="14212B"/>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3E9ED"/>
              </a:solidFill>
              <a:prstDash val="solid"/>
              <a:round/>
            </a:ln>
          </c:spPr>
        </c:majorGridlines>
        <c:title>
          <c:tx>
            <c:rich>
              <a:bodyPr/>
              <a:lstStyle/>
              <a:p>
                <a:pPr>
                  <a:defRPr sz="2400" b="0" i="0" u="none" strike="noStrike">
                    <a:solidFill>
                      <a:srgbClr val="44546A"/>
                    </a:solidFill>
                    <a:latin typeface="Arial"/>
                  </a:defRPr>
                </a:pPr>
                <a:r>
                  <a:rPr sz="2400" b="0" i="0" u="none" strike="noStrike">
                    <a:solidFill>
                      <a:srgbClr val="44546A"/>
                    </a:solidFill>
                    <a:latin typeface="Arial"/>
                  </a:rPr>
                  <a:t>bays parked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2400" b="0" i="0" u="none" strike="noStrike">
                <a:solidFill>
                  <a:srgbClr val="44546A"/>
                </a:solidFill>
                <a:latin typeface="Calibri"/>
              </a:defRPr>
            </a:pPr>
            <a:endParaRPr lang="en-US"/>
          </a:p>
        </c:txPr>
        <c:crossAx val="2094734554"/>
        <c:crosses val="autoZero"/>
        <c:crossBetween val="between"/>
        <c:majorUnit val="15"/>
      </c:valAx>
      <c:spPr>
        <a:noFill/>
        <a:ln>
          <a:noFill/>
        </a:ln>
        <a:effectLst/>
      </c:spPr>
    </c:plotArea>
    <c:legend>
      <c:legendPos val="b"/>
      <c:overlay val="0"/>
      <c:txPr>
        <a:bodyPr/>
        <a:lstStyle/>
        <a:p>
          <a:pPr>
            <a:defRPr sz="2400">
              <a:solidFill>
                <a:srgbClr val="14212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Group B9. Same project as our first review, now completed: a model-predictive controller that reverses a tractor-trailer into a parking bay without jackknifing, and turns its output into instructions a human driver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clips from our first review. Left: a tractor-trailer reversing to a warehouse dock. Right: a crowded truck lot. In both, the final manoeuvre is a reverse, where the driver cannot see the trailer end and the vehicle is unstable. Click a clip to play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driving is self-stabilising; reversing behaves like balancing an inverted pendulum: a small hitch-angle error grows until the rig folds. Our objective from the first review is unchanged: dock in reverse while keeping the hitch angle inside safe limits. What is new is that the system now also guides a human driver. The picture is our simulated yard.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Reversing is non-minimum phase: to move the trailer one way you must first turn the tractor the other way. The chart is from our model: reversing with a constant 10-degree steer, the tractor heading turns one way while the trailer heading turns the other. A controller that only reacts to the present error steers the wrong way and folds the rig. This is why we need a controller that looks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classic controllers are not enough. PID only reacts, so it cannot make the counter-intuitive first move. Fuzzy rules work in practice but give no guarantee that the hitch limit is respected. Geometric planners draw curves the vehicle cannot follow. Our answer combines a planner that uses the real vehicle model with a predictive controller that enforces the hitch limit as a hard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works closest to ours. [1] is our base paper (arXiv, May 2026). [2] is the anti-jackknife MPC from Sapienza Rome. [3] is robust NMPC for an agricultural tractor-trailer.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[1] proposes exactly our pipeline, Hybrid A* plus NMPC, but only implemented A* and reports jackknifing. [2] solves reverse tracking but needs a given trajectory. [3] is forward-only with no hitch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since our first review: we originally cited Shah (2019), a feedback controller for reverse docking. Once we found [1], it matched our pipeline, Hybrid A* plus NMPC, so it became the base paper. The table shows what [1] proposed and what we actually built and measured. Shah's idea of analysing the motion in distance travelled rather than time survives in our instability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gaps. The biggest: the NMPC layer in the base paper was never built, and without it the rig jackknifed.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maps to a methodology block and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find the input history U(t) = (speed, steering) that takes the rig from the gate to the bay, obeying the kinematics, never exceeding 60 degrees of hitch angle or 35 degrees of steering, and keeping 25 cm from obstacles. The answer must be something a person can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blocks. Maths for each block is on the slides shown under it. Everything runs offline and is replayed, so a live demo cannot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review showed a live CasADi solver streaming to the browser over WebSockets at 60 Hz. That was hard to install on Windows and could not keep up. The final system solves everything offline in plain Python with NumPy and SciPy, certifies every bay, and exports a JSON library. The React and Three.js viewer replays certified runs, so the demo needs no install and cannot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states: rear-axle position x1,y1, tractor heading theta0 and hitch angle psi. Two inputs: speed v (negative in reverse) and steering delta. Parameters are a 4 m tractor and an 8 m trailer.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problem is psi-dot. Its hitch term, minus v sin psi over L2, has the sign of minus v: going forward it pulls psi back to zero, reversing it pushes psi away. Because every term is proportional to v, dividing by speed gives a model in distance travelled, which is why the base paper parameterises in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Linearise at psi = 0 with zero steering: psi-dot = -(v/L2) psi. The eigenvalue is -v/L2, negative forward and positive in reverse. Written in distance the equation is separable: tan(psi/2) grows like e^(s/L2). With L2 = 8 m a 2-degree error hits 60 degrees after 28 m. Our simulator gives 28.0 m and 30.3 m, identical to the closed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psi-dot to zero to find the steering that holds a given hitch angle. The curve peaks at 26.6 degrees of steering, at psi near 86 degrees. At 60 degrees you need 24 degrees just to hold, leaving 11 degrees of our 35-degree lock to pull the trailer back. That is the mathematical reason for choosing 60 degrees as the hard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Substituting this steering law into the psi-dot equation cancels the unstable hitch term and leaves psi-dot = -|v| k (psi - psi_des), which is stable whatever the sign of v. With k = 0.5 per metre the error shrinks by e every 2 m. This makes reversing behave like driving forward and is the building block of the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A* searches continuous poses snapped to a lattice. Each expansion runs the regulator for 2 m towards one of five hitch set-points, forward or reverse, on the real model. Branches that exceed 52 degrees or come within 35 cm of an obstacle are discarded. The cost adds distance, a reverse premium and penalties for sharp or changing steering, hitch angle and gear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trailer axle is a flat output: its path curvature alone fixes the hitch angle, psi = arctan(L2 kappa). So the trailer axle behaves like a car whose steering is psi, and the shortest Dubins path of the trailer axle is a good cost-to-go estimate. Near the goal we try an analytic shot: simulate that Dubins path on the real model and accept it only if it is collision-free and lands in the 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line is the cost from our formulation document: tracking error, control effort and control smoothness. Below is exactly what the code minimises: the trailer axle position and heading are weighted most, the hitch angle deviation is weighted 15, the steering itself is cheap and changes of steering are expensive, so the wheel does not jerk. The trailer axle is the main target because, in reverse, the tractor rear axle initially moves the wrong way: it is the non-minimum-phase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optimiser chooses eight steering corrections, each held for 1.2 s, around the planner steering. States are predicted with RK4 and the hitch limit, steering lock and clearance are hard inequality constraints, solved with SciPy SLSQP. Only the first 0.25 s is applied, then the problem is re-solved from the new state: receding horizon. If no feasible solution exists we keep the hitch limit and drop clearance; failing that, the stable regulator takes over. Measured: 94 to 154 ms per solve, inside the 250 ms control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NMPC outputs a road-wheel angle every quarter second; nobody can follow that. We convert to steering-wheel turns at a 20 to 1 ratio, round to quarter turns, and merge short phases, giving 6 to 16 instructions per manoeuvre. Speed is slowed where steering is large and respects acceleration and braking limits. The strip at the top is the live guidance bar from our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layouts, each filled at random six times with parked rigs: 110 free bays. Three layouts need reversing; tandem is a forward pull-in, which acts as a control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free bay goes through the same pipeline. The guided run must pass all five checks to be offered; the unaided run uses the identical path and vehicle, only without the hitch model,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 of 110 bays pass every check; 12 are flagged as too tight rather than offered. Without guidance every one of the 60 reversing runs jackknifes. With NMPC the hitch limit was never violated; the worst case was 53.3 degrees against the 60-degree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Guidance parks every certified bay in every layout. The unaided driver parks only the tandem bays, which are driven forward, and jackknifes on every reversing layout. Median parking error is 10 to 72 cm laterally and 2 to 6 degrees of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scenario, two drivers. Both follow the same forward set-up. Once reversing starts, the unaided hitch angle runs away and folds at 57 seconds. The NMPC deliberately lets psi go to about minus 40 degrees to swing the trailer, then brings it back, and parks 58 cm from the centre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from our app at the end of each run: left with NMPC guidance, parked in bay 6; right, the unaided driver folded the rig short of the bays.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web app during a run. (1) the current instruction with live steering and speed against the advised values, (2) the NMPC 9.6-second look-ahead drawn in the yard, (3) steering wheel, speedometer and hitch gauge, (4) the kinematic equations evaluated live, with the hitch term flagged destabilising, (5) the full instruction table. Playback can be slowed to quarter speed or paused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project maps to the course. Unit 1: the hitch and trailer-axle positions are chained rigid-body transforms of the tractor pose; we use them for drawing and for collision checking of both bodies. Unit 2: the wheels roll without sliding, which gives the non-holonomic kinematic model. Unit 3: the feedback-linearising hitch regulator and the NMPC with a hard hitch-angle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the runs are computed offline and replayed; the model ignores tyre slip, which is acceptable at yard speeds; aisles are generous; 12 bays could not be certified. Next steps: a live solver, a faster NLP solver for tighter yards, closing the loop with real sensing, and trials with human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sentence: we turned the Hybrid A* plus NMPC architecture that the base paper proposed into a working, measured system that keeps the hitch angle inside a hard limit and tells a human driver exactly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on the slides as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on the slides as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 pick a layout, pick a green bay, show guidance, then switch to Unaided on the same 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video" Target="../media/media-2-4.mp4"/><Relationship Id="rId5" Type="http://schemas.microsoft.com/office/2007/relationships/media" Target="../media/media-2-4.mp4"/><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411480"/>
          </a:xfrm>
          <a:prstGeom prst="rect">
            <a:avLst/>
          </a:prstGeom>
          <a:noFill/>
          <a:ln/>
        </p:spPr>
        <p:txBody>
          <a:bodyPr wrap="square" lIns="0" tIns="0" rIns="0" bIns="0" rtlCol="0" anchor="t"/>
          <a:lstStyle/>
          <a:p>
            <a:pPr algn="l" indent="0" marL="0">
              <a:buNone/>
            </a:pPr>
            <a:r>
              <a:rPr lang="en-US" sz="2400" b="1" dirty="0">
                <a:solidFill>
                  <a:srgbClr val="0E7C86"/>
                </a:solidFill>
                <a:latin typeface="Calibri" pitchFamily="34" charset="0"/>
                <a:ea typeface="Calibri" pitchFamily="34" charset="-122"/>
                <a:cs typeface="Calibri" pitchFamily="34" charset="-120"/>
              </a:rPr>
              <a:t>Robotics · Semester 3 · Group B9</a:t>
            </a:r>
            <a:endParaRPr lang="en-US" sz="2400" dirty="0"/>
          </a:p>
        </p:txBody>
      </p:sp>
      <p:sp>
        <p:nvSpPr>
          <p:cNvPr id="3" name="Text 1"/>
          <p:cNvSpPr txBox="1"/>
          <p:nvPr/>
        </p:nvSpPr>
        <p:spPr>
          <a:xfrm>
            <a:off x="548640" y="868680"/>
            <a:ext cx="11064240" cy="1280160"/>
          </a:xfrm>
          <a:prstGeom prst="rect">
            <a:avLst/>
          </a:prstGeom>
          <a:noFill/>
          <a:ln/>
        </p:spPr>
        <p:txBody>
          <a:bodyPr wrap="square" lIns="0" tIns="0" rIns="0" bIns="0" rtlCol="0" anchor="t"/>
          <a:lstStyle/>
          <a:p>
            <a:pPr algn="l" indent="0" marL="0">
              <a:buNone/>
            </a:pPr>
            <a:r>
              <a:rPr lang="en-US" sz="4000" b="1" dirty="0">
                <a:solidFill>
                  <a:srgbClr val="14212B"/>
                </a:solidFill>
                <a:latin typeface="Cambria" pitchFamily="34" charset="0"/>
                <a:ea typeface="Cambria" pitchFamily="34" charset="-122"/>
                <a:cs typeface="Cambria" pitchFamily="34" charset="-120"/>
              </a:rPr>
              <a:t>Model Predictive Control for Automated Reverse Docking</a:t>
            </a:r>
            <a:endParaRPr lang="en-US" sz="4000" dirty="0"/>
          </a:p>
        </p:txBody>
      </p:sp>
      <p:sp>
        <p:nvSpPr>
          <p:cNvPr id="4" name="Text 2"/>
          <p:cNvSpPr txBox="1"/>
          <p:nvPr/>
        </p:nvSpPr>
        <p:spPr>
          <a:xfrm>
            <a:off x="548640" y="2194560"/>
            <a:ext cx="11064240" cy="868680"/>
          </a:xfrm>
          <a:prstGeom prst="rect">
            <a:avLst/>
          </a:prstGeom>
          <a:noFill/>
          <a:ln/>
        </p:spPr>
        <p:txBody>
          <a:bodyPr wrap="square" lIns="0" tIns="0" rIns="0" bIns="0" rtlCol="0" anchor="t"/>
          <a:lstStyle/>
          <a:p>
            <a:pPr algn="l" indent="0" marL="0">
              <a:buNone/>
            </a:pPr>
            <a:r>
              <a:rPr lang="en-US" sz="2600" dirty="0">
                <a:solidFill>
                  <a:srgbClr val="44546A"/>
                </a:solidFill>
                <a:latin typeface="Calibri" pitchFamily="34" charset="0"/>
                <a:ea typeface="Calibri" pitchFamily="34" charset="-122"/>
                <a:cs typeface="Calibri" pitchFamily="34" charset="-120"/>
              </a:rPr>
              <a:t>Trajectory tracking and constraint management of an articulated tractor-trailer, with step-by-step driver guidance</a:t>
            </a:r>
            <a:endParaRPr lang="en-US" sz="2600" dirty="0"/>
          </a:p>
        </p:txBody>
      </p:sp>
      <p:sp>
        <p:nvSpPr>
          <p:cNvPr id="5" name="Shape 3"/>
          <p:cNvSpPr/>
          <p:nvPr/>
        </p:nvSpPr>
        <p:spPr>
          <a:xfrm>
            <a:off x="548640" y="3291840"/>
            <a:ext cx="5486400" cy="2697480"/>
          </a:xfrm>
          <a:prstGeom prst="roundRect">
            <a:avLst>
              <a:gd name="adj" fmla="val 4068"/>
            </a:avLst>
          </a:prstGeom>
          <a:solidFill>
            <a:srgbClr val="E8F3F4"/>
          </a:solidFill>
          <a:ln/>
        </p:spPr>
      </p:sp>
      <p:sp>
        <p:nvSpPr>
          <p:cNvPr id="6" name="Text 4"/>
          <p:cNvSpPr txBox="1"/>
          <p:nvPr/>
        </p:nvSpPr>
        <p:spPr>
          <a:xfrm>
            <a:off x="868680" y="3520440"/>
            <a:ext cx="5029200" cy="2377440"/>
          </a:xfrm>
          <a:prstGeom prst="rect">
            <a:avLst/>
          </a:prstGeom>
          <a:noFill/>
          <a:ln/>
        </p:spPr>
        <p:txBody>
          <a:bodyPr wrap="square" lIns="0" tIns="0" rIns="0" bIns="0" rtlCol="0" anchor="t"/>
          <a:lstStyle/>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Harshith KV</a:t>
            </a:r>
            <a:pPr indent="0" marL="0">
              <a:buNone/>
            </a:pPr>
            <a:r>
              <a:rPr lang="en-US" sz="2400" dirty="0">
                <a:solidFill>
                  <a:srgbClr val="14212B"/>
                </a:solidFill>
                <a:latin typeface="Calibri" pitchFamily="34" charset="0"/>
                <a:ea typeface="Calibri" pitchFamily="34" charset="-122"/>
                <a:cs typeface="Calibri" pitchFamily="34" charset="-120"/>
              </a:rPr>
              <a:t>  AID25119</a:t>
            </a:r>
            <a:endParaRPr lang="en-US" sz="2400" dirty="0"/>
          </a:p>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G Venugopalan</a:t>
            </a:r>
            <a:pPr indent="0" marL="0">
              <a:buNone/>
            </a:pPr>
            <a:r>
              <a:rPr lang="en-US" sz="2400" dirty="0">
                <a:solidFill>
                  <a:srgbClr val="14212B"/>
                </a:solidFill>
                <a:latin typeface="Calibri" pitchFamily="34" charset="0"/>
                <a:ea typeface="Calibri" pitchFamily="34" charset="-122"/>
                <a:cs typeface="Calibri" pitchFamily="34" charset="-120"/>
              </a:rPr>
              <a:t>  AID25115</a:t>
            </a:r>
            <a:endParaRPr lang="en-US" sz="2400" dirty="0"/>
          </a:p>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Rithvik Arulprakash</a:t>
            </a:r>
            <a:pPr indent="0" marL="0">
              <a:buNone/>
            </a:pPr>
            <a:r>
              <a:rPr lang="en-US" sz="2400" dirty="0">
                <a:solidFill>
                  <a:srgbClr val="14212B"/>
                </a:solidFill>
                <a:latin typeface="Calibri" pitchFamily="34" charset="0"/>
                <a:ea typeface="Calibri" pitchFamily="34" charset="-122"/>
                <a:cs typeface="Calibri" pitchFamily="34" charset="-120"/>
              </a:rPr>
              <a:t>  AID25148</a:t>
            </a:r>
            <a:endParaRPr lang="en-US" sz="2400" dirty="0"/>
          </a:p>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Vipin Sudhakar</a:t>
            </a:r>
            <a:pPr indent="0" marL="0">
              <a:buNone/>
            </a:pPr>
            <a:r>
              <a:rPr lang="en-US" sz="2400" dirty="0">
                <a:solidFill>
                  <a:srgbClr val="14212B"/>
                </a:solidFill>
                <a:latin typeface="Calibri" pitchFamily="34" charset="0"/>
                <a:ea typeface="Calibri" pitchFamily="34" charset="-122"/>
                <a:cs typeface="Calibri" pitchFamily="34" charset="-120"/>
              </a:rPr>
              <a:t>  AID25166</a:t>
            </a:r>
            <a:endParaRPr lang="en-US" sz="2400" dirty="0"/>
          </a:p>
        </p:txBody>
      </p:sp>
      <p:pic>
        <p:nvPicPr>
          <p:cNvPr id="7" name="Image 0" descr="Simulated tractor-trailer reversing with the NMPC look-ahead drawn ahead of it">    </p:cNvPr>
          <p:cNvPicPr>
            <a:picLocks noChangeAspect="1"/>
          </p:cNvPicPr>
          <p:nvPr/>
        </p:nvPicPr>
        <p:blipFill>
          <a:blip r:embed="rId1"/>
          <a:stretch>
            <a:fillRect/>
          </a:stretch>
        </p:blipFill>
        <p:spPr>
          <a:xfrm>
            <a:off x="6355080" y="3262226"/>
            <a:ext cx="5303520" cy="2802428"/>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Introduction: reverse docking in real yards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Introduction</a:t>
            </a:r>
            <a:endParaRPr lang="en-US" sz="24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280160"/>
            <a:ext cx="6949440" cy="3322250"/>
          </a:xfrm>
          <a:prstGeom prst="rect">
            <a:avLst/>
          </a:prstGeom>
        </p:spPr>
      </p:pic>
      <p:sp>
        <p:nvSpPr>
          <p:cNvPr id="5" name="Text 2"/>
          <p:cNvSpPr txBox="1"/>
          <p:nvPr/>
        </p:nvSpPr>
        <p:spPr>
          <a:xfrm>
            <a:off x="548640" y="4693850"/>
            <a:ext cx="694944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Reversing to a warehouse dock</a:t>
            </a:r>
            <a:endParaRPr lang="en-US" sz="2400" dirty="0"/>
          </a:p>
        </p:txBody>
      </p:sp>
      <p:sp>
        <p:nvSpPr>
          <p:cNvPr id="6" name="Text 3"/>
          <p:cNvSpPr txBox="1"/>
          <p:nvPr/>
        </p:nvSpPr>
        <p:spPr>
          <a:xfrm>
            <a:off x="548640" y="5379650"/>
            <a:ext cx="6949440" cy="109728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14212B"/>
                </a:solidFill>
                <a:latin typeface="Calibri" pitchFamily="34" charset="0"/>
                <a:ea typeface="Calibri" pitchFamily="34" charset="-122"/>
                <a:cs typeface="Calibri" pitchFamily="34" charset="-120"/>
              </a:rPr>
              <a:t>Long trailer, tight bays, blind spots</a:t>
            </a:r>
            <a:endParaRPr lang="en-US" sz="2400" dirty="0"/>
          </a:p>
          <a:p>
            <a:pPr marL="342900" indent="-342900">
              <a:spcAft>
                <a:spcPts val="800"/>
              </a:spcAft>
              <a:buSzPct val="100000"/>
              <a:buChar char="•"/>
            </a:pPr>
            <a:r>
              <a:rPr lang="en-US" sz="2400" dirty="0">
                <a:solidFill>
                  <a:srgbClr val="14212B"/>
                </a:solidFill>
                <a:latin typeface="Calibri" pitchFamily="34" charset="0"/>
                <a:ea typeface="Calibri" pitchFamily="34" charset="-122"/>
                <a:cs typeface="Calibri" pitchFamily="34" charset="-120"/>
              </a:rPr>
              <a:t>Every docking ends in reverse</a:t>
            </a:r>
            <a:endParaRPr lang="en-US" sz="2400" dirty="0"/>
          </a:p>
        </p:txBody>
      </p:sp>
      <p:pic>
        <p:nvPicPr>
          <p:cNvPr id="6" name="Media 1">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8476349" y="1280160"/>
            <a:ext cx="2569742" cy="4572000"/>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The core challenge: kinematic instability</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Introduction</a:t>
            </a:r>
            <a:endParaRPr lang="en-US" sz="2400" dirty="0"/>
          </a:p>
        </p:txBody>
      </p:sp>
      <p:sp>
        <p:nvSpPr>
          <p:cNvPr id="4" name="Text 2"/>
          <p:cNvSpPr txBox="1"/>
          <p:nvPr/>
        </p:nvSpPr>
        <p:spPr>
          <a:xfrm>
            <a:off x="548640" y="1325880"/>
            <a:ext cx="6583680" cy="4663440"/>
          </a:xfrm>
          <a:prstGeom prst="rect">
            <a:avLst/>
          </a:prstGeom>
          <a:noFill/>
          <a:ln/>
        </p:spPr>
        <p:txBody>
          <a:bodyPr wrap="square" lIns="0" tIns="0" rIns="0" bIns="0" rtlCol="0" anchor="t"/>
          <a:lstStyle/>
          <a:p>
            <a:pPr marL="342900" indent="-342900">
              <a:spcAft>
                <a:spcPts val="1600"/>
              </a:spcAft>
              <a:buSzPct val="100000"/>
              <a:buChar char="•"/>
            </a:pPr>
            <a:r>
              <a:rPr lang="en-US" sz="2400" b="1" dirty="0">
                <a:solidFill>
                  <a:srgbClr val="1E7A45"/>
                </a:solidFill>
                <a:latin typeface="Calibri" pitchFamily="34" charset="0"/>
                <a:ea typeface="Calibri" pitchFamily="34" charset="-122"/>
                <a:cs typeface="Calibri" pitchFamily="34" charset="-120"/>
              </a:rPr>
              <a:t>Forward: </a:t>
            </a:r>
            <a:pPr indent="0" marL="0">
              <a:buNone/>
            </a:pPr>
            <a:r>
              <a:rPr lang="en-US" sz="2400" dirty="0">
                <a:solidFill>
                  <a:srgbClr val="14212B"/>
                </a:solidFill>
                <a:latin typeface="Calibri" pitchFamily="34" charset="0"/>
                <a:ea typeface="Calibri" pitchFamily="34" charset="-122"/>
                <a:cs typeface="Calibri" pitchFamily="34" charset="-120"/>
              </a:rPr>
              <a:t>the trailer self-aligns (stable)</a:t>
            </a:r>
            <a:endParaRPr lang="en-US" sz="2400" dirty="0"/>
          </a:p>
          <a:p>
            <a:pPr marL="342900" indent="-342900">
              <a:spcAft>
                <a:spcPts val="1600"/>
              </a:spcAft>
              <a:buSzPct val="100000"/>
              <a:buChar char="•"/>
            </a:pPr>
            <a:r>
              <a:rPr lang="en-US" sz="2400" b="1" dirty="0">
                <a:solidFill>
                  <a:srgbClr val="B83227"/>
                </a:solidFill>
                <a:latin typeface="Calibri" pitchFamily="34" charset="0"/>
                <a:ea typeface="Calibri" pitchFamily="34" charset="-122"/>
                <a:cs typeface="Calibri" pitchFamily="34" charset="-120"/>
              </a:rPr>
              <a:t>Reverse: </a:t>
            </a:r>
            <a:pPr indent="0" marL="0">
              <a:buNone/>
            </a:pPr>
            <a:r>
              <a:rPr lang="en-US" sz="2400" dirty="0">
                <a:solidFill>
                  <a:srgbClr val="14212B"/>
                </a:solidFill>
                <a:latin typeface="Calibri" pitchFamily="34" charset="0"/>
                <a:ea typeface="Calibri" pitchFamily="34" charset="-122"/>
                <a:cs typeface="Calibri" pitchFamily="34" charset="-120"/>
              </a:rPr>
              <a:t>an inverted pendulum; hitch angle ψ grows exponentially</a:t>
            </a:r>
            <a:endParaRPr lang="en-US" sz="2400" dirty="0"/>
          </a:p>
          <a:p>
            <a:pPr marL="342900" indent="-342900">
              <a:spcAft>
                <a:spcPts val="1600"/>
              </a:spcAft>
              <a:buSzPct val="100000"/>
              <a:buChar char="•"/>
            </a:pPr>
            <a:r>
              <a:rPr lang="en-US" sz="2400" dirty="0">
                <a:solidFill>
                  <a:srgbClr val="14212B"/>
                </a:solidFill>
                <a:latin typeface="Calibri" pitchFamily="34" charset="0"/>
                <a:ea typeface="Calibri" pitchFamily="34" charset="-122"/>
                <a:cs typeface="Calibri" pitchFamily="34" charset="-120"/>
              </a:rPr>
              <a:t>Uncorrected, the rig folds: a jackknife</a:t>
            </a:r>
            <a:endParaRPr lang="en-US" sz="2400" dirty="0"/>
          </a:p>
          <a:p>
            <a:pPr marL="342900" indent="-342900">
              <a:spcAft>
                <a:spcPts val="1600"/>
              </a:spcAft>
              <a:buSzPct val="100000"/>
              <a:buChar char="•"/>
            </a:pPr>
            <a:r>
              <a:rPr lang="en-US" sz="2400" b="1" dirty="0">
                <a:solidFill>
                  <a:srgbClr val="14212B"/>
                </a:solidFill>
                <a:latin typeface="Calibri" pitchFamily="34" charset="0"/>
                <a:ea typeface="Calibri" pitchFamily="34" charset="-122"/>
                <a:cs typeface="Calibri" pitchFamily="34" charset="-120"/>
              </a:rPr>
              <a:t>Goal: </a:t>
            </a:r>
            <a:pPr indent="0" marL="0">
              <a:buNone/>
            </a:pPr>
            <a:r>
              <a:rPr lang="en-US" sz="2400" dirty="0">
                <a:solidFill>
                  <a:srgbClr val="14212B"/>
                </a:solidFill>
                <a:latin typeface="Calibri" pitchFamily="34" charset="0"/>
                <a:ea typeface="Calibri" pitchFamily="34" charset="-122"/>
                <a:cs typeface="Calibri" pitchFamily="34" charset="-120"/>
              </a:rPr>
              <a:t>dock in reverse with ψ inside safe limits</a:t>
            </a:r>
            <a:endParaRPr lang="en-US" sz="2400" dirty="0"/>
          </a:p>
          <a:p>
            <a:pPr marL="342900" indent="-342900">
              <a:spcAft>
                <a:spcPts val="1600"/>
              </a:spcAft>
              <a:buSzPct val="100000"/>
              <a:buChar char="•"/>
            </a:pPr>
            <a:r>
              <a:rPr lang="en-US" sz="2400" b="1" dirty="0">
                <a:solidFill>
                  <a:srgbClr val="0E7C86"/>
                </a:solidFill>
                <a:latin typeface="Calibri" pitchFamily="34" charset="0"/>
                <a:ea typeface="Calibri" pitchFamily="34" charset="-122"/>
                <a:cs typeface="Calibri" pitchFamily="34" charset="-120"/>
              </a:rPr>
              <a:t>This project: </a:t>
            </a:r>
            <a:pPr indent="0" marL="0">
              <a:buNone/>
            </a:pPr>
            <a:r>
              <a:rPr lang="en-US" sz="2400" dirty="0">
                <a:solidFill>
                  <a:srgbClr val="14212B"/>
                </a:solidFill>
                <a:latin typeface="Calibri" pitchFamily="34" charset="0"/>
                <a:ea typeface="Calibri" pitchFamily="34" charset="-122"/>
                <a:cs typeface="Calibri" pitchFamily="34" charset="-120"/>
              </a:rPr>
              <a:t>a co-pilot that says how to steer, how fast and how far</a:t>
            </a:r>
            <a:endParaRPr lang="en-US" sz="2400" dirty="0"/>
          </a:p>
        </p:txBody>
      </p:sp>
      <p:pic>
        <p:nvPicPr>
          <p:cNvPr id="5" name="Image 0" descr="Parking yard with the rig at the gate and ten bays, some occupied">    </p:cNvPr>
          <p:cNvPicPr>
            <a:picLocks noChangeAspect="1"/>
          </p:cNvPicPr>
          <p:nvPr/>
        </p:nvPicPr>
        <p:blipFill>
          <a:blip r:embed="rId1"/>
          <a:stretch>
            <a:fillRect/>
          </a:stretch>
        </p:blipFill>
        <p:spPr>
          <a:xfrm>
            <a:off x="7569507" y="1234440"/>
            <a:ext cx="3971946" cy="4343400"/>
          </a:xfrm>
          <a:prstGeom prst="rect">
            <a:avLst/>
          </a:prstGeom>
        </p:spPr>
      </p:pic>
      <p:sp>
        <p:nvSpPr>
          <p:cNvPr id="6" name="Text 3"/>
          <p:cNvSpPr txBox="1"/>
          <p:nvPr/>
        </p:nvSpPr>
        <p:spPr>
          <a:xfrm>
            <a:off x="7223760" y="5669280"/>
            <a:ext cx="466344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Our yard: green = free bays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The “non-minimum phase” dilemma</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Introduction</a:t>
            </a:r>
            <a:endParaRPr lang="en-US" sz="2400" dirty="0"/>
          </a:p>
        </p:txBody>
      </p:sp>
      <p:sp>
        <p:nvSpPr>
          <p:cNvPr id="4" name="Shape 2"/>
          <p:cNvSpPr/>
          <p:nvPr/>
        </p:nvSpPr>
        <p:spPr>
          <a:xfrm>
            <a:off x="548640" y="1325880"/>
            <a:ext cx="6035040" cy="868680"/>
          </a:xfrm>
          <a:prstGeom prst="roundRect">
            <a:avLst>
              <a:gd name="adj" fmla="val 12632"/>
            </a:avLst>
          </a:prstGeom>
          <a:solidFill>
            <a:srgbClr val="E8F3F4"/>
          </a:solidFill>
          <a:ln/>
        </p:spPr>
      </p:sp>
      <p:sp>
        <p:nvSpPr>
          <p:cNvPr id="5" name="Shape 3"/>
          <p:cNvSpPr/>
          <p:nvPr/>
        </p:nvSpPr>
        <p:spPr>
          <a:xfrm>
            <a:off x="731520" y="1508760"/>
            <a:ext cx="502920" cy="502920"/>
          </a:xfrm>
          <a:prstGeom prst="ellipse">
            <a:avLst/>
          </a:prstGeom>
          <a:solidFill>
            <a:srgbClr val="0E7C86"/>
          </a:solidFill>
          <a:ln/>
        </p:spPr>
      </p:sp>
      <p:sp>
        <p:nvSpPr>
          <p:cNvPr id="6" name="Text 4"/>
          <p:cNvSpPr txBox="1"/>
          <p:nvPr/>
        </p:nvSpPr>
        <p:spPr>
          <a:xfrm>
            <a:off x="731520" y="1508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417320" y="1325880"/>
            <a:ext cx="5029200" cy="86868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Goal: swing the trailer one way</a:t>
            </a:r>
            <a:endParaRPr lang="en-US" sz="2400" dirty="0"/>
          </a:p>
        </p:txBody>
      </p:sp>
      <p:sp>
        <p:nvSpPr>
          <p:cNvPr id="8" name="Shape 6"/>
          <p:cNvSpPr/>
          <p:nvPr/>
        </p:nvSpPr>
        <p:spPr>
          <a:xfrm>
            <a:off x="982980" y="2212848"/>
            <a:ext cx="0" cy="192024"/>
          </a:xfrm>
          <a:prstGeom prst="line">
            <a:avLst/>
          </a:prstGeom>
          <a:noFill/>
          <a:ln w="31750">
            <a:solidFill>
              <a:srgbClr val="14212B"/>
            </a:solidFill>
            <a:prstDash val="solid"/>
            <a:tailEnd type="triangle"/>
          </a:ln>
        </p:spPr>
      </p:sp>
      <p:sp>
        <p:nvSpPr>
          <p:cNvPr id="9" name="Shape 7"/>
          <p:cNvSpPr/>
          <p:nvPr/>
        </p:nvSpPr>
        <p:spPr>
          <a:xfrm>
            <a:off x="548640" y="2423160"/>
            <a:ext cx="6035040" cy="868680"/>
          </a:xfrm>
          <a:prstGeom prst="roundRect">
            <a:avLst>
              <a:gd name="adj" fmla="val 12632"/>
            </a:avLst>
          </a:prstGeom>
          <a:solidFill>
            <a:srgbClr val="FBF1E3"/>
          </a:solidFill>
          <a:ln/>
        </p:spPr>
      </p:sp>
      <p:sp>
        <p:nvSpPr>
          <p:cNvPr id="10" name="Shape 8"/>
          <p:cNvSpPr/>
          <p:nvPr/>
        </p:nvSpPr>
        <p:spPr>
          <a:xfrm>
            <a:off x="731520" y="2606040"/>
            <a:ext cx="502920" cy="502920"/>
          </a:xfrm>
          <a:prstGeom prst="ellipse">
            <a:avLst/>
          </a:prstGeom>
          <a:solidFill>
            <a:srgbClr val="A8661A"/>
          </a:solidFill>
          <a:ln/>
        </p:spPr>
      </p:sp>
      <p:sp>
        <p:nvSpPr>
          <p:cNvPr id="11" name="Text 9"/>
          <p:cNvSpPr txBox="1"/>
          <p:nvPr/>
        </p:nvSpPr>
        <p:spPr>
          <a:xfrm>
            <a:off x="731520" y="2606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1417320" y="2423160"/>
            <a:ext cx="5029200" cy="86868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First: turn the tractor the other way</a:t>
            </a:r>
            <a:endParaRPr lang="en-US" sz="2400" dirty="0"/>
          </a:p>
        </p:txBody>
      </p:sp>
      <p:sp>
        <p:nvSpPr>
          <p:cNvPr id="13" name="Shape 11"/>
          <p:cNvSpPr/>
          <p:nvPr/>
        </p:nvSpPr>
        <p:spPr>
          <a:xfrm>
            <a:off x="982980" y="3310128"/>
            <a:ext cx="0" cy="192024"/>
          </a:xfrm>
          <a:prstGeom prst="line">
            <a:avLst/>
          </a:prstGeom>
          <a:noFill/>
          <a:ln w="31750">
            <a:solidFill>
              <a:srgbClr val="14212B"/>
            </a:solidFill>
            <a:prstDash val="solid"/>
            <a:tailEnd type="triangle"/>
          </a:ln>
        </p:spPr>
      </p:sp>
      <p:sp>
        <p:nvSpPr>
          <p:cNvPr id="14" name="Shape 12"/>
          <p:cNvSpPr/>
          <p:nvPr/>
        </p:nvSpPr>
        <p:spPr>
          <a:xfrm>
            <a:off x="548640" y="3520440"/>
            <a:ext cx="6035040" cy="868680"/>
          </a:xfrm>
          <a:prstGeom prst="roundRect">
            <a:avLst>
              <a:gd name="adj" fmla="val 12632"/>
            </a:avLst>
          </a:prstGeom>
          <a:solidFill>
            <a:srgbClr val="E8F3F4"/>
          </a:solidFill>
          <a:ln/>
        </p:spPr>
      </p:sp>
      <p:sp>
        <p:nvSpPr>
          <p:cNvPr id="15" name="Shape 13"/>
          <p:cNvSpPr/>
          <p:nvPr/>
        </p:nvSpPr>
        <p:spPr>
          <a:xfrm>
            <a:off x="731520" y="3703320"/>
            <a:ext cx="502920" cy="502920"/>
          </a:xfrm>
          <a:prstGeom prst="ellipse">
            <a:avLst/>
          </a:prstGeom>
          <a:solidFill>
            <a:srgbClr val="0E7C86"/>
          </a:solidFill>
          <a:ln/>
        </p:spPr>
      </p:sp>
      <p:sp>
        <p:nvSpPr>
          <p:cNvPr id="16" name="Text 14"/>
          <p:cNvSpPr txBox="1"/>
          <p:nvPr/>
        </p:nvSpPr>
        <p:spPr>
          <a:xfrm>
            <a:off x="731520" y="370332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1417320" y="3520440"/>
            <a:ext cx="5029200" cy="86868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Then: follow the trailer round</a:t>
            </a:r>
            <a:endParaRPr lang="en-US" sz="2400" dirty="0"/>
          </a:p>
        </p:txBody>
      </p:sp>
      <p:sp>
        <p:nvSpPr>
          <p:cNvPr id="18" name="Shape 16"/>
          <p:cNvSpPr/>
          <p:nvPr/>
        </p:nvSpPr>
        <p:spPr>
          <a:xfrm>
            <a:off x="548640" y="4754880"/>
            <a:ext cx="6035040" cy="1280160"/>
          </a:xfrm>
          <a:prstGeom prst="roundRect">
            <a:avLst>
              <a:gd name="adj" fmla="val 8571"/>
            </a:avLst>
          </a:prstGeom>
          <a:solidFill>
            <a:srgbClr val="FBEAE8"/>
          </a:solidFill>
          <a:ln/>
        </p:spPr>
      </p:sp>
      <p:sp>
        <p:nvSpPr>
          <p:cNvPr id="19" name="Text 17"/>
          <p:cNvSpPr txBox="1"/>
          <p:nvPr/>
        </p:nvSpPr>
        <p:spPr>
          <a:xfrm>
            <a:off x="777240" y="4754880"/>
            <a:ext cx="5669280" cy="128016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A reactive PID steers straight at the error ⇒ wrong way first ⇒ jackknife</a:t>
            </a:r>
            <a:endParaRPr lang="en-US" sz="2400" dirty="0"/>
          </a:p>
        </p:txBody>
      </p:sp>
      <p:pic>
        <p:nvPicPr>
          <p:cNvPr id="20" name="Image 0" descr="Reversing with constant steering: tractor heading goes down while trailer heading goes up">    </p:cNvPr>
          <p:cNvPicPr>
            <a:picLocks noChangeAspect="1"/>
          </p:cNvPicPr>
          <p:nvPr/>
        </p:nvPicPr>
        <p:blipFill>
          <a:blip r:embed="rId1"/>
          <a:stretch>
            <a:fillRect/>
          </a:stretch>
        </p:blipFill>
        <p:spPr>
          <a:xfrm>
            <a:off x="6675120" y="1325880"/>
            <a:ext cx="5120640" cy="3749040"/>
          </a:xfrm>
          <a:prstGeom prst="rect">
            <a:avLst/>
          </a:prstGeom>
        </p:spPr>
      </p:pic>
      <p:sp>
        <p:nvSpPr>
          <p:cNvPr id="21" name="Text 18"/>
          <p:cNvSpPr txBox="1"/>
          <p:nvPr/>
        </p:nvSpPr>
        <p:spPr>
          <a:xfrm>
            <a:off x="6675120" y="5166360"/>
            <a:ext cx="5120640" cy="82296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Same steering input, reversing: headings move apart</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Historical approaches &amp; their limits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Introduction</a:t>
            </a:r>
            <a:endParaRPr lang="en-US" sz="2400" dirty="0"/>
          </a:p>
        </p:txBody>
      </p:sp>
      <p:sp>
        <p:nvSpPr>
          <p:cNvPr id="4" name="Shape 2"/>
          <p:cNvSpPr/>
          <p:nvPr/>
        </p:nvSpPr>
        <p:spPr>
          <a:xfrm>
            <a:off x="548640" y="1325880"/>
            <a:ext cx="3474720" cy="2926080"/>
          </a:xfrm>
          <a:prstGeom prst="roundRect">
            <a:avLst>
              <a:gd name="adj" fmla="val 3750"/>
            </a:avLst>
          </a:prstGeom>
          <a:solidFill>
            <a:srgbClr val="FBEAE8"/>
          </a:solidFill>
          <a:ln/>
        </p:spPr>
      </p:sp>
      <p:sp>
        <p:nvSpPr>
          <p:cNvPr id="5" name="Text 3"/>
          <p:cNvSpPr txBox="1"/>
          <p:nvPr/>
        </p:nvSpPr>
        <p:spPr>
          <a:xfrm>
            <a:off x="822960" y="1463040"/>
            <a:ext cx="3017520" cy="502920"/>
          </a:xfrm>
          <a:prstGeom prst="rect">
            <a:avLst/>
          </a:prstGeom>
          <a:noFill/>
          <a:ln/>
        </p:spPr>
        <p:txBody>
          <a:bodyPr wrap="square" lIns="0" tIns="0" rIns="0" bIns="0" rtlCol="0" anchor="t"/>
          <a:lstStyle/>
          <a:p>
            <a:pPr algn="l" indent="0" marL="0">
              <a:buNone/>
            </a:pPr>
            <a:r>
              <a:rPr lang="en-US" sz="2800" b="1" dirty="0">
                <a:solidFill>
                  <a:srgbClr val="B83227"/>
                </a:solidFill>
                <a:latin typeface="Calibri" pitchFamily="34" charset="0"/>
                <a:ea typeface="Calibri" pitchFamily="34" charset="-122"/>
                <a:cs typeface="Calibri" pitchFamily="34" charset="-120"/>
              </a:rPr>
              <a:t>PID</a:t>
            </a:r>
            <a:endParaRPr lang="en-US" sz="2800" dirty="0"/>
          </a:p>
        </p:txBody>
      </p:sp>
      <p:sp>
        <p:nvSpPr>
          <p:cNvPr id="6" name="Text 4"/>
          <p:cNvSpPr txBox="1"/>
          <p:nvPr/>
        </p:nvSpPr>
        <p:spPr>
          <a:xfrm>
            <a:off x="822960" y="2103120"/>
            <a:ext cx="301752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Reacts to present error</a:t>
            </a:r>
            <a:endParaRPr lang="en-US" sz="2400" dirty="0"/>
          </a:p>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Blind to the future</a:t>
            </a:r>
            <a:endParaRPr lang="en-US" sz="2400" dirty="0"/>
          </a:p>
        </p:txBody>
      </p:sp>
      <p:sp>
        <p:nvSpPr>
          <p:cNvPr id="7" name="Shape 5"/>
          <p:cNvSpPr/>
          <p:nvPr/>
        </p:nvSpPr>
        <p:spPr>
          <a:xfrm>
            <a:off x="4343400" y="1325880"/>
            <a:ext cx="3474720" cy="2926080"/>
          </a:xfrm>
          <a:prstGeom prst="roundRect">
            <a:avLst>
              <a:gd name="adj" fmla="val 3750"/>
            </a:avLst>
          </a:prstGeom>
          <a:solidFill>
            <a:srgbClr val="FBEAE8"/>
          </a:solidFill>
          <a:ln/>
        </p:spPr>
      </p:sp>
      <p:sp>
        <p:nvSpPr>
          <p:cNvPr id="8" name="Text 6"/>
          <p:cNvSpPr txBox="1"/>
          <p:nvPr/>
        </p:nvSpPr>
        <p:spPr>
          <a:xfrm>
            <a:off x="4617720" y="1463040"/>
            <a:ext cx="3017520" cy="502920"/>
          </a:xfrm>
          <a:prstGeom prst="rect">
            <a:avLst/>
          </a:prstGeom>
          <a:noFill/>
          <a:ln/>
        </p:spPr>
        <p:txBody>
          <a:bodyPr wrap="square" lIns="0" tIns="0" rIns="0" bIns="0" rtlCol="0" anchor="t"/>
          <a:lstStyle/>
          <a:p>
            <a:pPr algn="l" indent="0" marL="0">
              <a:buNone/>
            </a:pPr>
            <a:r>
              <a:rPr lang="en-US" sz="2800" b="1" dirty="0">
                <a:solidFill>
                  <a:srgbClr val="B83227"/>
                </a:solidFill>
                <a:latin typeface="Calibri" pitchFamily="34" charset="0"/>
                <a:ea typeface="Calibri" pitchFamily="34" charset="-122"/>
                <a:cs typeface="Calibri" pitchFamily="34" charset="-120"/>
              </a:rPr>
              <a:t>Fuzzy logic</a:t>
            </a:r>
            <a:endParaRPr lang="en-US" sz="2800" dirty="0"/>
          </a:p>
        </p:txBody>
      </p:sp>
      <p:sp>
        <p:nvSpPr>
          <p:cNvPr id="9" name="Text 7"/>
          <p:cNvSpPr txBox="1"/>
          <p:nvPr/>
        </p:nvSpPr>
        <p:spPr>
          <a:xfrm>
            <a:off x="4617720" y="2103120"/>
            <a:ext cx="301752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Hand-written rules</a:t>
            </a:r>
            <a:endParaRPr lang="en-US" sz="2400" dirty="0"/>
          </a:p>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No hard guarantees</a:t>
            </a:r>
            <a:endParaRPr lang="en-US" sz="2400" dirty="0"/>
          </a:p>
        </p:txBody>
      </p:sp>
      <p:sp>
        <p:nvSpPr>
          <p:cNvPr id="10" name="Shape 8"/>
          <p:cNvSpPr/>
          <p:nvPr/>
        </p:nvSpPr>
        <p:spPr>
          <a:xfrm>
            <a:off x="8138160" y="1325880"/>
            <a:ext cx="3474720" cy="2926080"/>
          </a:xfrm>
          <a:prstGeom prst="roundRect">
            <a:avLst>
              <a:gd name="adj" fmla="val 3750"/>
            </a:avLst>
          </a:prstGeom>
          <a:solidFill>
            <a:srgbClr val="FBEAE8"/>
          </a:solidFill>
          <a:ln/>
        </p:spPr>
      </p:sp>
      <p:sp>
        <p:nvSpPr>
          <p:cNvPr id="11" name="Text 9"/>
          <p:cNvSpPr txBox="1"/>
          <p:nvPr/>
        </p:nvSpPr>
        <p:spPr>
          <a:xfrm>
            <a:off x="8412480" y="1463040"/>
            <a:ext cx="3017520" cy="502920"/>
          </a:xfrm>
          <a:prstGeom prst="rect">
            <a:avLst/>
          </a:prstGeom>
          <a:noFill/>
          <a:ln/>
        </p:spPr>
        <p:txBody>
          <a:bodyPr wrap="square" lIns="0" tIns="0" rIns="0" bIns="0" rtlCol="0" anchor="t"/>
          <a:lstStyle/>
          <a:p>
            <a:pPr algn="l" indent="0" marL="0">
              <a:buNone/>
            </a:pPr>
            <a:r>
              <a:rPr lang="en-US" sz="2800" b="1" dirty="0">
                <a:solidFill>
                  <a:srgbClr val="B83227"/>
                </a:solidFill>
                <a:latin typeface="Calibri" pitchFamily="34" charset="0"/>
                <a:ea typeface="Calibri" pitchFamily="34" charset="-122"/>
                <a:cs typeface="Calibri" pitchFamily="34" charset="-120"/>
              </a:rPr>
              <a:t>Geometric paths</a:t>
            </a:r>
            <a:endParaRPr lang="en-US" sz="2800" dirty="0"/>
          </a:p>
        </p:txBody>
      </p:sp>
      <p:sp>
        <p:nvSpPr>
          <p:cNvPr id="12" name="Text 10"/>
          <p:cNvSpPr txBox="1"/>
          <p:nvPr/>
        </p:nvSpPr>
        <p:spPr>
          <a:xfrm>
            <a:off x="8412480" y="2103120"/>
            <a:ext cx="301752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Ideal curves</a:t>
            </a:r>
            <a:endParaRPr lang="en-US" sz="2400" dirty="0"/>
          </a:p>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Ignore steering lock and ψ</a:t>
            </a:r>
            <a:endParaRPr lang="en-US" sz="2400" dirty="0"/>
          </a:p>
        </p:txBody>
      </p:sp>
      <p:sp>
        <p:nvSpPr>
          <p:cNvPr id="13" name="Shape 11"/>
          <p:cNvSpPr/>
          <p:nvPr/>
        </p:nvSpPr>
        <p:spPr>
          <a:xfrm>
            <a:off x="6099048" y="4343400"/>
            <a:ext cx="0" cy="320040"/>
          </a:xfrm>
          <a:prstGeom prst="line">
            <a:avLst/>
          </a:prstGeom>
          <a:noFill/>
          <a:ln w="31750">
            <a:solidFill>
              <a:srgbClr val="14212B"/>
            </a:solidFill>
            <a:prstDash val="solid"/>
            <a:tailEnd type="triangle"/>
          </a:ln>
        </p:spPr>
      </p:sp>
      <p:sp>
        <p:nvSpPr>
          <p:cNvPr id="14" name="Shape 12"/>
          <p:cNvSpPr/>
          <p:nvPr/>
        </p:nvSpPr>
        <p:spPr>
          <a:xfrm>
            <a:off x="548640" y="4709160"/>
            <a:ext cx="11064240" cy="1325880"/>
          </a:xfrm>
          <a:prstGeom prst="roundRect">
            <a:avLst>
              <a:gd name="adj" fmla="val 8276"/>
            </a:avLst>
          </a:prstGeom>
          <a:solidFill>
            <a:srgbClr val="0E7C86"/>
          </a:solidFill>
          <a:ln/>
        </p:spPr>
      </p:sp>
      <p:sp>
        <p:nvSpPr>
          <p:cNvPr id="15" name="Text 13"/>
          <p:cNvSpPr txBox="1"/>
          <p:nvPr/>
        </p:nvSpPr>
        <p:spPr>
          <a:xfrm>
            <a:off x="822960" y="4709160"/>
            <a:ext cx="10515600" cy="1325880"/>
          </a:xfrm>
          <a:prstGeom prst="rect">
            <a:avLst/>
          </a:prstGeom>
          <a:noFill/>
          <a:ln/>
        </p:spPr>
        <p:txBody>
          <a:bodyPr wrap="square" lIns="0" tIns="0" rIns="0" bIns="0"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Our approach: plan on the real model (Hybrid A*), then look ahead with hard limits (NMPC)</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Literature review (1/2): the three closest works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Literature review</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685800"/>
                <a:gridCol w="4892040"/>
                <a:gridCol w="2834640"/>
                <a:gridCol w="914400"/>
                <a:gridCol w="1737360"/>
              </a:tblGrid>
              <a:tr h="502920">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Title</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Authors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Year</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Venue</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1325880">
                <a:tc>
                  <a:txBody>
                    <a:bodyPr/>
                    <a:lstStyle/>
                    <a:p>
                      <a:pPr indent="0" marL="0">
                        <a:buNone/>
                      </a:pPr>
                      <a:r>
                        <a:rPr lang="en-US" sz="2400" b="1" dirty="0">
                          <a:solidFill>
                            <a:srgbClr val="0E7C8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Parking Assistance for Trailer-Truck Transport Vehicles Using Sensor Fusion and Motion Planning </a:t>
                      </a:r>
                      <a:pPr indent="0" marL="0">
                        <a:buNone/>
                      </a:pPr>
                      <a:r>
                        <a:rPr lang="en-US" sz="2400" b="1" dirty="0">
                          <a:solidFill>
                            <a:srgbClr val="0E7C86"/>
                          </a:solidFill>
                          <a:latin typeface="Calibri" pitchFamily="34" charset="0"/>
                          <a:ea typeface="Calibri" pitchFamily="34" charset="-122"/>
                          <a:cs typeface="Calibri" pitchFamily="34" charset="-120"/>
                        </a:rPr>
                        <a:t>(base paper)</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G. Alenchery et al. (7 authors)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2026</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arXiv 2605.02716</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r>
              <a:tr h="132588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An Intrinsically Stable MPC Approach for Anti-Jackknifing Control of Tractor-Trailer Vehicles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M. Beglini, T. Belvedere, L. Lanari, G. Oriolo</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2022</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IEEE/ASME T-Mech 27(6)</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r>
              <a:tr h="132588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Robust Tube-Based Decentralized Nonlinear MPC of an Autonomous Tractor-Trailer System</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E. Kayacan, E. Kayacan, H. Ramon, W. Saeys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2015</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IEEE/ASME T-Mech 20(1)</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r>
            </a:tbl>
          </a:graphicData>
        </a:graphic>
      </p:graphicFrame>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Literature review (2/2): outcomes and limitations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Literature review</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685800"/>
                <a:gridCol w="5257800"/>
                <a:gridCol w="5120640"/>
              </a:tblGrid>
              <a:tr h="502920">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Outcomes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Limitations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1554480">
                <a:tc>
                  <a:txBody>
                    <a:bodyPr/>
                    <a:lstStyle/>
                    <a:p>
                      <a:pPr indent="0" marL="0">
                        <a:buNone/>
                      </a:pPr>
                      <a:r>
                        <a:rPr lang="en-US" sz="2400" b="1" dirty="0">
                          <a:solidFill>
                            <a:srgbClr val="0E7C8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Layered design: sensor fusion → Hybrid A* → NMPC → LQR</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A* + B-spline path on a tractor-trailer model (CLI simulation)</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NMPC only proposed, not implemented</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Jackknifing observed in tests</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quantitative results</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r>
              <a:tr h="146304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Reverse tracking without hitch divergence (I/O linearisation + IS-MPC)</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Simulation and prototype experiments</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Needs a given reference trajectory</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obstacle-aware parking</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driver-facing output</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r>
              <a:tr h="118872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Robust NMPC + moving-horizon estimation</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5–8 cm error on straight lines (field)</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Forward driving only</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hitch-angle (jackknife) constraint</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r>
            </a:tbl>
          </a:graphicData>
        </a:graphic>
      </p:graphicFrame>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Base paper [1]: proposed vs. built</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Literature review</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560320"/>
                <a:gridCol w="3931920"/>
                <a:gridCol w="4572000"/>
              </a:tblGrid>
              <a:tr h="566928">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Layer</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In [1]</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This project</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566928">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Path planning</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 + B-spline</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b="1" dirty="0">
                          <a:solidFill>
                            <a:srgbClr val="1E7A45"/>
                          </a:solidFill>
                          <a:latin typeface="Calibri" pitchFamily="34" charset="0"/>
                          <a:ea typeface="Calibri" pitchFamily="34" charset="-122"/>
                          <a:cs typeface="Calibri" pitchFamily="34" charset="-120"/>
                        </a:rPr>
                        <a:t>Hybrid A* on (x, y, θ₀, ψ)</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r>
              <a:tr h="566928">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Tracking</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NMPC proposed, not built</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b="1" dirty="0">
                          <a:solidFill>
                            <a:srgbClr val="1E7A45"/>
                          </a:solidFill>
                          <a:latin typeface="Calibri" pitchFamily="34" charset="0"/>
                          <a:ea typeface="Calibri" pitchFamily="34" charset="-122"/>
                          <a:cs typeface="Calibri" pitchFamily="34" charset="-120"/>
                        </a:rPr>
                        <a:t>NMPC built, hard |ψ| ≤ 60°</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r>
              <a:tr h="566928">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Jackknife</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observed in tests</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b="1" dirty="0">
                          <a:solidFill>
                            <a:srgbClr val="1E7A45"/>
                          </a:solidFill>
                          <a:latin typeface="Calibri" pitchFamily="34" charset="0"/>
                          <a:ea typeface="Calibri" pitchFamily="34" charset="-122"/>
                          <a:cs typeface="Calibri" pitchFamily="34" charset="-120"/>
                        </a:rPr>
                        <a:t>0 limit violations</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r>
              <a:tr h="566928">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Output</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autonomy concept</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b="1" dirty="0">
                          <a:solidFill>
                            <a:srgbClr val="1E7A45"/>
                          </a:solidFill>
                          <a:latin typeface="Calibri" pitchFamily="34" charset="0"/>
                          <a:ea typeface="Calibri" pitchFamily="34" charset="-122"/>
                          <a:cs typeface="Calibri" pitchFamily="34" charset="-120"/>
                        </a:rPr>
                        <a:t>driver instructions</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r>
              <a:tr h="566928">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Evaluation</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qualitative</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b="1" dirty="0">
                          <a:solidFill>
                            <a:srgbClr val="1E7A45"/>
                          </a:solidFill>
                          <a:latin typeface="Calibri" pitchFamily="34" charset="0"/>
                          <a:ea typeface="Calibri" pitchFamily="34" charset="-122"/>
                          <a:cs typeface="Calibri" pitchFamily="34" charset="-120"/>
                        </a:rPr>
                        <a:t>110 scenarios, measured</a:t>
                      </a:r>
                      <a:endParaRPr lang="en-US" sz="2400" dirty="0">
                        <a:latin typeface="Calibri" charset="0"/>
                        <a:ea typeface="Calibri" charset="0"/>
                        <a:cs typeface="Calibri" charset="0"/>
                      </a:endParaRPr>
                    </a:p>
                  </a:txBody>
                  <a:tcPr marL="73152" marR="73152" marT="73152" marB="73152"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257800"/>
            <a:ext cx="11064240" cy="82296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Sensing (camera / LiDAR fusion in [1]) is left as future work: we assume a known pose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Research gaps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Research gaps</a:t>
            </a:r>
            <a:endParaRPr lang="en-US" sz="2400" dirty="0"/>
          </a:p>
        </p:txBody>
      </p:sp>
      <p:sp>
        <p:nvSpPr>
          <p:cNvPr id="4" name="Shape 2"/>
          <p:cNvSpPr/>
          <p:nvPr/>
        </p:nvSpPr>
        <p:spPr>
          <a:xfrm>
            <a:off x="548640" y="1325880"/>
            <a:ext cx="5394960" cy="2194560"/>
          </a:xfrm>
          <a:prstGeom prst="roundRect">
            <a:avLst>
              <a:gd name="adj" fmla="val 5000"/>
            </a:avLst>
          </a:prstGeom>
          <a:solidFill>
            <a:srgbClr val="E8F3F4"/>
          </a:solidFill>
          <a:ln/>
        </p:spPr>
      </p:sp>
      <p:sp>
        <p:nvSpPr>
          <p:cNvPr id="5" name="Shape 3"/>
          <p:cNvSpPr/>
          <p:nvPr/>
        </p:nvSpPr>
        <p:spPr>
          <a:xfrm>
            <a:off x="822960" y="1600200"/>
            <a:ext cx="566928" cy="566928"/>
          </a:xfrm>
          <a:prstGeom prst="ellipse">
            <a:avLst/>
          </a:prstGeom>
          <a:solidFill>
            <a:srgbClr val="0E7C86"/>
          </a:solidFill>
          <a:ln/>
        </p:spPr>
      </p:sp>
      <p:sp>
        <p:nvSpPr>
          <p:cNvPr id="6" name="Text 4"/>
          <p:cNvSpPr txBox="1"/>
          <p:nvPr/>
        </p:nvSpPr>
        <p:spPr>
          <a:xfrm>
            <a:off x="822960" y="16002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600200" y="162763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Proposed, not built</a:t>
            </a:r>
            <a:endParaRPr lang="en-US" sz="2600" dirty="0"/>
          </a:p>
        </p:txBody>
      </p:sp>
      <p:sp>
        <p:nvSpPr>
          <p:cNvPr id="8" name="Text 6"/>
          <p:cNvSpPr txBox="1"/>
          <p:nvPr/>
        </p:nvSpPr>
        <p:spPr>
          <a:xfrm>
            <a:off x="1600200" y="222199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NMPC and a hitch limit are only proposed in [1]</a:t>
            </a:r>
            <a:endParaRPr lang="en-US" sz="2400" dirty="0"/>
          </a:p>
        </p:txBody>
      </p:sp>
      <p:sp>
        <p:nvSpPr>
          <p:cNvPr id="9" name="Shape 7"/>
          <p:cNvSpPr/>
          <p:nvPr/>
        </p:nvSpPr>
        <p:spPr>
          <a:xfrm>
            <a:off x="6263640" y="1325880"/>
            <a:ext cx="5394960" cy="2194560"/>
          </a:xfrm>
          <a:prstGeom prst="roundRect">
            <a:avLst>
              <a:gd name="adj" fmla="val 5000"/>
            </a:avLst>
          </a:prstGeom>
          <a:solidFill>
            <a:srgbClr val="FBEAE8"/>
          </a:solidFill>
          <a:ln/>
        </p:spPr>
      </p:sp>
      <p:sp>
        <p:nvSpPr>
          <p:cNvPr id="10" name="Shape 8"/>
          <p:cNvSpPr/>
          <p:nvPr/>
        </p:nvSpPr>
        <p:spPr>
          <a:xfrm>
            <a:off x="6537960" y="1600200"/>
            <a:ext cx="566928" cy="566928"/>
          </a:xfrm>
          <a:prstGeom prst="ellipse">
            <a:avLst/>
          </a:prstGeom>
          <a:solidFill>
            <a:srgbClr val="B83227"/>
          </a:solidFill>
          <a:ln/>
        </p:spPr>
      </p:sp>
      <p:sp>
        <p:nvSpPr>
          <p:cNvPr id="11" name="Text 9"/>
          <p:cNvSpPr txBox="1"/>
          <p:nvPr/>
        </p:nvSpPr>
        <p:spPr>
          <a:xfrm>
            <a:off x="6537960" y="16002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7315200" y="162763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No hard jackknife guarantee</a:t>
            </a:r>
            <a:endParaRPr lang="en-US" sz="2600" dirty="0"/>
          </a:p>
        </p:txBody>
      </p:sp>
      <p:sp>
        <p:nvSpPr>
          <p:cNvPr id="13" name="Text 11"/>
          <p:cNvSpPr txBox="1"/>
          <p:nvPr/>
        </p:nvSpPr>
        <p:spPr>
          <a:xfrm>
            <a:off x="7315200" y="222199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[1] observed jackknifing; [3] has no hitch constraint</a:t>
            </a:r>
            <a:endParaRPr lang="en-US" sz="2400" dirty="0"/>
          </a:p>
        </p:txBody>
      </p:sp>
      <p:sp>
        <p:nvSpPr>
          <p:cNvPr id="14" name="Shape 12"/>
          <p:cNvSpPr/>
          <p:nvPr/>
        </p:nvSpPr>
        <p:spPr>
          <a:xfrm>
            <a:off x="548640" y="3749040"/>
            <a:ext cx="5394960" cy="2194560"/>
          </a:xfrm>
          <a:prstGeom prst="roundRect">
            <a:avLst>
              <a:gd name="adj" fmla="val 5000"/>
            </a:avLst>
          </a:prstGeom>
          <a:solidFill>
            <a:srgbClr val="E8F3F4"/>
          </a:solidFill>
          <a:ln/>
        </p:spPr>
      </p:sp>
      <p:sp>
        <p:nvSpPr>
          <p:cNvPr id="15" name="Shape 13"/>
          <p:cNvSpPr/>
          <p:nvPr/>
        </p:nvSpPr>
        <p:spPr>
          <a:xfrm>
            <a:off x="822960" y="4023360"/>
            <a:ext cx="566928" cy="566928"/>
          </a:xfrm>
          <a:prstGeom prst="ellipse">
            <a:avLst/>
          </a:prstGeom>
          <a:solidFill>
            <a:srgbClr val="0E7C86"/>
          </a:solidFill>
          <a:ln/>
        </p:spPr>
      </p:sp>
      <p:sp>
        <p:nvSpPr>
          <p:cNvPr id="16" name="Text 14"/>
          <p:cNvSpPr txBox="1"/>
          <p:nvPr/>
        </p:nvSpPr>
        <p:spPr>
          <a:xfrm>
            <a:off x="822960" y="402336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1600200" y="405079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Planning kept separate</a:t>
            </a:r>
            <a:endParaRPr lang="en-US" sz="2600" dirty="0"/>
          </a:p>
        </p:txBody>
      </p:sp>
      <p:sp>
        <p:nvSpPr>
          <p:cNvPr id="18" name="Text 16"/>
          <p:cNvSpPr txBox="1"/>
          <p:nvPr/>
        </p:nvSpPr>
        <p:spPr>
          <a:xfrm>
            <a:off x="1600200" y="464515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[2], [3] track a given path; no obstacle-aware parking</a:t>
            </a:r>
            <a:endParaRPr lang="en-US" sz="2400" dirty="0"/>
          </a:p>
        </p:txBody>
      </p:sp>
      <p:sp>
        <p:nvSpPr>
          <p:cNvPr id="19" name="Shape 17"/>
          <p:cNvSpPr/>
          <p:nvPr/>
        </p:nvSpPr>
        <p:spPr>
          <a:xfrm>
            <a:off x="6263640" y="3749040"/>
            <a:ext cx="5394960" cy="2194560"/>
          </a:xfrm>
          <a:prstGeom prst="roundRect">
            <a:avLst>
              <a:gd name="adj" fmla="val 5000"/>
            </a:avLst>
          </a:prstGeom>
          <a:solidFill>
            <a:srgbClr val="E8F3F4"/>
          </a:solidFill>
          <a:ln/>
        </p:spPr>
      </p:sp>
      <p:sp>
        <p:nvSpPr>
          <p:cNvPr id="20" name="Shape 18"/>
          <p:cNvSpPr/>
          <p:nvPr/>
        </p:nvSpPr>
        <p:spPr>
          <a:xfrm>
            <a:off x="6537960" y="4023360"/>
            <a:ext cx="566928" cy="566928"/>
          </a:xfrm>
          <a:prstGeom prst="ellipse">
            <a:avLst/>
          </a:prstGeom>
          <a:solidFill>
            <a:srgbClr val="0E7C86"/>
          </a:solidFill>
          <a:ln/>
        </p:spPr>
      </p:sp>
      <p:sp>
        <p:nvSpPr>
          <p:cNvPr id="21" name="Text 19"/>
          <p:cNvSpPr txBox="1"/>
          <p:nvPr/>
        </p:nvSpPr>
        <p:spPr>
          <a:xfrm>
            <a:off x="6537960" y="402336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txBox="1"/>
          <p:nvPr/>
        </p:nvSpPr>
        <p:spPr>
          <a:xfrm>
            <a:off x="7315200" y="405079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No driver output, no metrics</a:t>
            </a:r>
            <a:endParaRPr lang="en-US" sz="2600" dirty="0"/>
          </a:p>
        </p:txBody>
      </p:sp>
      <p:sp>
        <p:nvSpPr>
          <p:cNvPr id="23" name="Text 21"/>
          <p:cNvSpPr txBox="1"/>
          <p:nvPr/>
        </p:nvSpPr>
        <p:spPr>
          <a:xfrm>
            <a:off x="7315200" y="464515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No human-executable guidance; no measured evaluation</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Objectives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Objectives</a:t>
            </a:r>
            <a:endParaRPr lang="en-US" sz="2400" dirty="0"/>
          </a:p>
        </p:txBody>
      </p:sp>
      <p:sp>
        <p:nvSpPr>
          <p:cNvPr id="4" name="Shape 2"/>
          <p:cNvSpPr/>
          <p:nvPr/>
        </p:nvSpPr>
        <p:spPr>
          <a:xfrm>
            <a:off x="594360" y="1371600"/>
            <a:ext cx="566928" cy="566928"/>
          </a:xfrm>
          <a:prstGeom prst="ellipse">
            <a:avLst/>
          </a:prstGeom>
          <a:solidFill>
            <a:srgbClr val="0E7C86"/>
          </a:solidFill>
          <a:ln/>
        </p:spPr>
      </p:sp>
      <p:sp>
        <p:nvSpPr>
          <p:cNvPr id="5" name="Text 3"/>
          <p:cNvSpPr txBox="1"/>
          <p:nvPr/>
        </p:nvSpPr>
        <p:spPr>
          <a:xfrm>
            <a:off x="594360" y="13716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4"/>
          <p:cNvSpPr txBox="1"/>
          <p:nvPr/>
        </p:nvSpPr>
        <p:spPr>
          <a:xfrm>
            <a:off x="1417320" y="13898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Model the tractor-trailer kinematics and quantify why reversing is unstable</a:t>
            </a:r>
            <a:endParaRPr lang="en-US" sz="2400" dirty="0"/>
          </a:p>
        </p:txBody>
      </p:sp>
      <p:sp>
        <p:nvSpPr>
          <p:cNvPr id="7" name="Shape 5"/>
          <p:cNvSpPr/>
          <p:nvPr/>
        </p:nvSpPr>
        <p:spPr>
          <a:xfrm>
            <a:off x="594360" y="2286000"/>
            <a:ext cx="566928" cy="566928"/>
          </a:xfrm>
          <a:prstGeom prst="ellipse">
            <a:avLst/>
          </a:prstGeom>
          <a:solidFill>
            <a:srgbClr val="0E7C86"/>
          </a:solidFill>
          <a:ln/>
        </p:spPr>
      </p:sp>
      <p:sp>
        <p:nvSpPr>
          <p:cNvPr id="8" name="Text 6"/>
          <p:cNvSpPr txBox="1"/>
          <p:nvPr/>
        </p:nvSpPr>
        <p:spPr>
          <a:xfrm>
            <a:off x="594360" y="22860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9" name="Text 7"/>
          <p:cNvSpPr txBox="1"/>
          <p:nvPr/>
        </p:nvSpPr>
        <p:spPr>
          <a:xfrm>
            <a:off x="1417320" y="23042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Plan collision-free, kinematically feasible paths (Hybrid A*) into four bay layouts</a:t>
            </a:r>
            <a:endParaRPr lang="en-US" sz="2400" dirty="0"/>
          </a:p>
        </p:txBody>
      </p:sp>
      <p:sp>
        <p:nvSpPr>
          <p:cNvPr id="10" name="Shape 8"/>
          <p:cNvSpPr/>
          <p:nvPr/>
        </p:nvSpPr>
        <p:spPr>
          <a:xfrm>
            <a:off x="594360" y="3200400"/>
            <a:ext cx="566928" cy="566928"/>
          </a:xfrm>
          <a:prstGeom prst="ellipse">
            <a:avLst/>
          </a:prstGeom>
          <a:solidFill>
            <a:srgbClr val="0E7C86"/>
          </a:solidFill>
          <a:ln/>
        </p:spPr>
      </p:sp>
      <p:sp>
        <p:nvSpPr>
          <p:cNvPr id="11" name="Text 9"/>
          <p:cNvSpPr txBox="1"/>
          <p:nvPr/>
        </p:nvSpPr>
        <p:spPr>
          <a:xfrm>
            <a:off x="594360" y="32004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2" name="Text 10"/>
          <p:cNvSpPr txBox="1"/>
          <p:nvPr/>
        </p:nvSpPr>
        <p:spPr>
          <a:xfrm>
            <a:off x="1417320" y="32186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Track the path with NMPC under a hard hitch-angle limit |ψ| ≤ 60°</a:t>
            </a:r>
            <a:endParaRPr lang="en-US" sz="2400" dirty="0"/>
          </a:p>
        </p:txBody>
      </p:sp>
      <p:sp>
        <p:nvSpPr>
          <p:cNvPr id="13" name="Shape 11"/>
          <p:cNvSpPr/>
          <p:nvPr/>
        </p:nvSpPr>
        <p:spPr>
          <a:xfrm>
            <a:off x="594360" y="4114800"/>
            <a:ext cx="566928" cy="566928"/>
          </a:xfrm>
          <a:prstGeom prst="ellipse">
            <a:avLst/>
          </a:prstGeom>
          <a:solidFill>
            <a:srgbClr val="0E7C86"/>
          </a:solidFill>
          <a:ln/>
        </p:spPr>
      </p:sp>
      <p:sp>
        <p:nvSpPr>
          <p:cNvPr id="14" name="Text 12"/>
          <p:cNvSpPr txBox="1"/>
          <p:nvPr/>
        </p:nvSpPr>
        <p:spPr>
          <a:xfrm>
            <a:off x="594360" y="41148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5" name="Text 13"/>
          <p:cNvSpPr txBox="1"/>
          <p:nvPr/>
        </p:nvSpPr>
        <p:spPr>
          <a:xfrm>
            <a:off x="1417320" y="41330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Turn the optimal controls into driver instructions: gear, speed, wheel turns, distance</a:t>
            </a:r>
            <a:endParaRPr lang="en-US" sz="2400" dirty="0"/>
          </a:p>
        </p:txBody>
      </p:sp>
      <p:sp>
        <p:nvSpPr>
          <p:cNvPr id="16" name="Shape 14"/>
          <p:cNvSpPr/>
          <p:nvPr/>
        </p:nvSpPr>
        <p:spPr>
          <a:xfrm>
            <a:off x="594360" y="5029200"/>
            <a:ext cx="566928" cy="566928"/>
          </a:xfrm>
          <a:prstGeom prst="ellipse">
            <a:avLst/>
          </a:prstGeom>
          <a:solidFill>
            <a:srgbClr val="0E7C86"/>
          </a:solidFill>
          <a:ln/>
        </p:spPr>
      </p:sp>
      <p:sp>
        <p:nvSpPr>
          <p:cNvPr id="17" name="Text 15"/>
          <p:cNvSpPr txBox="1"/>
          <p:nvPr/>
        </p:nvSpPr>
        <p:spPr>
          <a:xfrm>
            <a:off x="594360" y="50292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18" name="Text 16"/>
          <p:cNvSpPr txBox="1"/>
          <p:nvPr/>
        </p:nvSpPr>
        <p:spPr>
          <a:xfrm>
            <a:off x="1417320" y="50474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Certify on 110 scenarios against an unaided-driver baseline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Problem statement</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Problem statement</a:t>
            </a:r>
            <a:endParaRPr lang="en-US" sz="2400" dirty="0"/>
          </a:p>
        </p:txBody>
      </p:sp>
      <p:sp>
        <p:nvSpPr>
          <p:cNvPr id="4" name="Shape 2"/>
          <p:cNvSpPr/>
          <p:nvPr/>
        </p:nvSpPr>
        <p:spPr>
          <a:xfrm>
            <a:off x="548640" y="1325880"/>
            <a:ext cx="2377440" cy="685800"/>
          </a:xfrm>
          <a:prstGeom prst="roundRect">
            <a:avLst>
              <a:gd name="adj" fmla="val 16000"/>
            </a:avLst>
          </a:prstGeom>
          <a:solidFill>
            <a:srgbClr val="E8F3F4"/>
          </a:solidFill>
          <a:ln/>
        </p:spPr>
      </p:sp>
      <p:sp>
        <p:nvSpPr>
          <p:cNvPr id="5" name="Text 3"/>
          <p:cNvSpPr txBox="1"/>
          <p:nvPr/>
        </p:nvSpPr>
        <p:spPr>
          <a:xfrm>
            <a:off x="548640" y="1325880"/>
            <a:ext cx="2377440" cy="68580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GIVEN</a:t>
            </a:r>
            <a:endParaRPr lang="en-US" sz="2400" dirty="0"/>
          </a:p>
        </p:txBody>
      </p:sp>
      <p:sp>
        <p:nvSpPr>
          <p:cNvPr id="6" name="Shape 4"/>
          <p:cNvSpPr/>
          <p:nvPr/>
        </p:nvSpPr>
        <p:spPr>
          <a:xfrm>
            <a:off x="548640" y="2194560"/>
            <a:ext cx="2377440" cy="685800"/>
          </a:xfrm>
          <a:prstGeom prst="roundRect">
            <a:avLst>
              <a:gd name="adj" fmla="val 16000"/>
            </a:avLst>
          </a:prstGeom>
          <a:solidFill>
            <a:srgbClr val="E8F3F4"/>
          </a:solidFill>
          <a:ln/>
        </p:spPr>
      </p:sp>
      <p:sp>
        <p:nvSpPr>
          <p:cNvPr id="7" name="Text 5"/>
          <p:cNvSpPr txBox="1"/>
          <p:nvPr/>
        </p:nvSpPr>
        <p:spPr>
          <a:xfrm>
            <a:off x="548640" y="2194560"/>
            <a:ext cx="2377440" cy="68580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FIND</a:t>
            </a:r>
            <a:endParaRPr lang="en-US" sz="2400" dirty="0"/>
          </a:p>
        </p:txBody>
      </p:sp>
      <p:sp>
        <p:nvSpPr>
          <p:cNvPr id="8" name="Shape 6"/>
          <p:cNvSpPr/>
          <p:nvPr/>
        </p:nvSpPr>
        <p:spPr>
          <a:xfrm>
            <a:off x="548640" y="3063240"/>
            <a:ext cx="2377440" cy="1325880"/>
          </a:xfrm>
          <a:prstGeom prst="roundRect">
            <a:avLst>
              <a:gd name="adj" fmla="val 8276"/>
            </a:avLst>
          </a:prstGeom>
          <a:solidFill>
            <a:srgbClr val="E8F3F4"/>
          </a:solidFill>
          <a:ln/>
        </p:spPr>
      </p:sp>
      <p:sp>
        <p:nvSpPr>
          <p:cNvPr id="9" name="Text 7"/>
          <p:cNvSpPr txBox="1"/>
          <p:nvPr/>
        </p:nvSpPr>
        <p:spPr>
          <a:xfrm>
            <a:off x="548640" y="3063240"/>
            <a:ext cx="2377440" cy="132588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SUBJECT TO</a:t>
            </a:r>
            <a:endParaRPr lang="en-US" sz="2400" dirty="0"/>
          </a:p>
        </p:txBody>
      </p:sp>
      <p:sp>
        <p:nvSpPr>
          <p:cNvPr id="10" name="Shape 8"/>
          <p:cNvSpPr/>
          <p:nvPr/>
        </p:nvSpPr>
        <p:spPr>
          <a:xfrm>
            <a:off x="548640" y="4572000"/>
            <a:ext cx="2377440" cy="868680"/>
          </a:xfrm>
          <a:prstGeom prst="roundRect">
            <a:avLst>
              <a:gd name="adj" fmla="val 12632"/>
            </a:avLst>
          </a:prstGeom>
          <a:solidFill>
            <a:srgbClr val="E8F3F4"/>
          </a:solidFill>
          <a:ln/>
        </p:spPr>
      </p:sp>
      <p:sp>
        <p:nvSpPr>
          <p:cNvPr id="11" name="Text 9"/>
          <p:cNvSpPr txBox="1"/>
          <p:nvPr/>
        </p:nvSpPr>
        <p:spPr>
          <a:xfrm>
            <a:off x="548640" y="4572000"/>
            <a:ext cx="2377440" cy="86868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DELIVER</a:t>
            </a:r>
            <a:endParaRPr lang="en-US" sz="2400" dirty="0"/>
          </a:p>
        </p:txBody>
      </p:sp>
      <p:sp>
        <p:nvSpPr>
          <p:cNvPr id="12" name="Text 10"/>
          <p:cNvSpPr txBox="1"/>
          <p:nvPr/>
        </p:nvSpPr>
        <p:spPr>
          <a:xfrm>
            <a:off x="3200400" y="1325880"/>
            <a:ext cx="8412480" cy="6858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Yard map (walls, parked rigs), gate pose, target bay pose</a:t>
            </a:r>
            <a:endParaRPr lang="en-US" sz="2400" dirty="0"/>
          </a:p>
        </p:txBody>
      </p:sp>
      <p:pic>
        <p:nvPicPr>
          <p:cNvPr id="13" name="Image 0" descr="find U of t such that X of 0 equals X gate and X of T approximately X bay">    </p:cNvPr>
          <p:cNvPicPr>
            <a:picLocks noChangeAspect="1"/>
          </p:cNvPicPr>
          <p:nvPr/>
        </p:nvPicPr>
        <p:blipFill>
          <a:blip r:embed="rId1"/>
          <a:stretch>
            <a:fillRect/>
          </a:stretch>
        </p:blipFill>
        <p:spPr>
          <a:xfrm>
            <a:off x="3200400" y="2286000"/>
            <a:ext cx="6998208" cy="490728"/>
          </a:xfrm>
          <a:prstGeom prst="rect">
            <a:avLst/>
          </a:prstGeom>
        </p:spPr>
      </p:pic>
      <p:sp>
        <p:nvSpPr>
          <p:cNvPr id="14" name="Text 11"/>
          <p:cNvSpPr txBox="1"/>
          <p:nvPr/>
        </p:nvSpPr>
        <p:spPr>
          <a:xfrm>
            <a:off x="3200400" y="3090672"/>
            <a:ext cx="8412480" cy="45720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Ẋ = f(X, U)  and  |v| ≤ 2 m/s</a:t>
            </a:r>
            <a:endParaRPr lang="en-US" sz="2400" dirty="0"/>
          </a:p>
        </p:txBody>
      </p:sp>
      <p:pic>
        <p:nvPicPr>
          <p:cNvPr id="15" name="Image 1" descr="absolute psi at most 60 degrees, steering at most 35 degrees, clearance at least 0.25 m">    </p:cNvPr>
          <p:cNvPicPr>
            <a:picLocks noChangeAspect="1"/>
          </p:cNvPicPr>
          <p:nvPr/>
        </p:nvPicPr>
        <p:blipFill>
          <a:blip r:embed="rId2"/>
          <a:stretch>
            <a:fillRect/>
          </a:stretch>
        </p:blipFill>
        <p:spPr>
          <a:xfrm>
            <a:off x="3200400" y="3767328"/>
            <a:ext cx="6315456" cy="490728"/>
          </a:xfrm>
          <a:prstGeom prst="rect">
            <a:avLst/>
          </a:prstGeom>
        </p:spPr>
      </p:pic>
      <p:sp>
        <p:nvSpPr>
          <p:cNvPr id="16" name="Text 12"/>
          <p:cNvSpPr txBox="1"/>
          <p:nvPr/>
        </p:nvSpPr>
        <p:spPr>
          <a:xfrm>
            <a:off x="3200400" y="4572000"/>
            <a:ext cx="8412480" cy="86868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Instructions a human can follow: gear · speed · wheel turns · hold distance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Methodology: the pipeline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a:t>
            </a:r>
            <a:endParaRPr lang="en-US" sz="2400" dirty="0"/>
          </a:p>
        </p:txBody>
      </p:sp>
      <p:sp>
        <p:nvSpPr>
          <p:cNvPr id="4" name="Shape 2"/>
          <p:cNvSpPr/>
          <p:nvPr/>
        </p:nvSpPr>
        <p:spPr>
          <a:xfrm>
            <a:off x="548640" y="1737360"/>
            <a:ext cx="1920240" cy="1280160"/>
          </a:xfrm>
          <a:prstGeom prst="roundRect">
            <a:avLst>
              <a:gd name="adj" fmla="val 8571"/>
            </a:avLst>
          </a:prstGeom>
          <a:solidFill>
            <a:srgbClr val="1B5E66"/>
          </a:solidFill>
          <a:ln/>
        </p:spPr>
      </p:sp>
      <p:sp>
        <p:nvSpPr>
          <p:cNvPr id="5" name="Text 3"/>
          <p:cNvSpPr txBox="1"/>
          <p:nvPr/>
        </p:nvSpPr>
        <p:spPr>
          <a:xfrm>
            <a:off x="621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Yard &amp; model</a:t>
            </a:r>
            <a:endParaRPr lang="en-US" sz="2400" dirty="0"/>
          </a:p>
        </p:txBody>
      </p:sp>
      <p:sp>
        <p:nvSpPr>
          <p:cNvPr id="6" name="Text 4"/>
          <p:cNvSpPr txBox="1"/>
          <p:nvPr/>
        </p:nvSpPr>
        <p:spPr>
          <a:xfrm>
            <a:off x="548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4 layouts, seeded fill</a:t>
            </a:r>
            <a:endParaRPr lang="en-US" sz="2400" dirty="0"/>
          </a:p>
        </p:txBody>
      </p:sp>
      <p:sp>
        <p:nvSpPr>
          <p:cNvPr id="7" name="Text 5"/>
          <p:cNvSpPr txBox="1"/>
          <p:nvPr/>
        </p:nvSpPr>
        <p:spPr>
          <a:xfrm>
            <a:off x="548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14–18</a:t>
            </a:r>
            <a:endParaRPr lang="en-US" sz="2400" dirty="0"/>
          </a:p>
        </p:txBody>
      </p:sp>
      <p:sp>
        <p:nvSpPr>
          <p:cNvPr id="8" name="Shape 6"/>
          <p:cNvSpPr/>
          <p:nvPr/>
        </p:nvSpPr>
        <p:spPr>
          <a:xfrm>
            <a:off x="2514600" y="2377440"/>
            <a:ext cx="274320" cy="0"/>
          </a:xfrm>
          <a:prstGeom prst="line">
            <a:avLst/>
          </a:prstGeom>
          <a:noFill/>
          <a:ln w="31750">
            <a:solidFill>
              <a:srgbClr val="14212B"/>
            </a:solidFill>
            <a:prstDash val="solid"/>
            <a:tailEnd type="triangle"/>
          </a:ln>
        </p:spPr>
      </p:sp>
      <p:sp>
        <p:nvSpPr>
          <p:cNvPr id="9" name="Shape 7"/>
          <p:cNvSpPr/>
          <p:nvPr/>
        </p:nvSpPr>
        <p:spPr>
          <a:xfrm>
            <a:off x="2834640" y="1737360"/>
            <a:ext cx="1920240" cy="1280160"/>
          </a:xfrm>
          <a:prstGeom prst="roundRect">
            <a:avLst>
              <a:gd name="adj" fmla="val 8571"/>
            </a:avLst>
          </a:prstGeom>
          <a:solidFill>
            <a:srgbClr val="1B5E66"/>
          </a:solidFill>
          <a:ln/>
        </p:spPr>
      </p:sp>
      <p:sp>
        <p:nvSpPr>
          <p:cNvPr id="10" name="Text 8"/>
          <p:cNvSpPr txBox="1"/>
          <p:nvPr/>
        </p:nvSpPr>
        <p:spPr>
          <a:xfrm>
            <a:off x="2907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Hybrid A* planner</a:t>
            </a:r>
            <a:endParaRPr lang="en-US" sz="2400" dirty="0"/>
          </a:p>
        </p:txBody>
      </p:sp>
      <p:sp>
        <p:nvSpPr>
          <p:cNvPr id="11" name="Text 9"/>
          <p:cNvSpPr txBox="1"/>
          <p:nvPr/>
        </p:nvSpPr>
        <p:spPr>
          <a:xfrm>
            <a:off x="2834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collision-free path</a:t>
            </a:r>
            <a:endParaRPr lang="en-US" sz="2400" dirty="0"/>
          </a:p>
        </p:txBody>
      </p:sp>
      <p:sp>
        <p:nvSpPr>
          <p:cNvPr id="12" name="Text 10"/>
          <p:cNvSpPr txBox="1"/>
          <p:nvPr/>
        </p:nvSpPr>
        <p:spPr>
          <a:xfrm>
            <a:off x="2834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19–20</a:t>
            </a:r>
            <a:endParaRPr lang="en-US" sz="2400" dirty="0"/>
          </a:p>
        </p:txBody>
      </p:sp>
      <p:sp>
        <p:nvSpPr>
          <p:cNvPr id="13" name="Shape 11"/>
          <p:cNvSpPr/>
          <p:nvPr/>
        </p:nvSpPr>
        <p:spPr>
          <a:xfrm>
            <a:off x="4800600" y="2377440"/>
            <a:ext cx="274320" cy="0"/>
          </a:xfrm>
          <a:prstGeom prst="line">
            <a:avLst/>
          </a:prstGeom>
          <a:noFill/>
          <a:ln w="31750">
            <a:solidFill>
              <a:srgbClr val="14212B"/>
            </a:solidFill>
            <a:prstDash val="solid"/>
            <a:tailEnd type="triangle"/>
          </a:ln>
        </p:spPr>
      </p:sp>
      <p:sp>
        <p:nvSpPr>
          <p:cNvPr id="14" name="Shape 12"/>
          <p:cNvSpPr/>
          <p:nvPr/>
        </p:nvSpPr>
        <p:spPr>
          <a:xfrm>
            <a:off x="5120640" y="1737360"/>
            <a:ext cx="1920240" cy="1280160"/>
          </a:xfrm>
          <a:prstGeom prst="roundRect">
            <a:avLst>
              <a:gd name="adj" fmla="val 8571"/>
            </a:avLst>
          </a:prstGeom>
          <a:solidFill>
            <a:srgbClr val="0E7C86"/>
          </a:solidFill>
          <a:ln/>
        </p:spPr>
      </p:sp>
      <p:sp>
        <p:nvSpPr>
          <p:cNvPr id="15" name="Text 13"/>
          <p:cNvSpPr txBox="1"/>
          <p:nvPr/>
        </p:nvSpPr>
        <p:spPr>
          <a:xfrm>
            <a:off x="5193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NMPC tracker</a:t>
            </a:r>
            <a:endParaRPr lang="en-US" sz="2400" dirty="0"/>
          </a:p>
        </p:txBody>
      </p:sp>
      <p:sp>
        <p:nvSpPr>
          <p:cNvPr id="16" name="Text 14"/>
          <p:cNvSpPr txBox="1"/>
          <p:nvPr/>
        </p:nvSpPr>
        <p:spPr>
          <a:xfrm>
            <a:off x="5120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hard |ψ| ≤ 60°</a:t>
            </a:r>
            <a:endParaRPr lang="en-US" sz="2400" dirty="0"/>
          </a:p>
        </p:txBody>
      </p:sp>
      <p:sp>
        <p:nvSpPr>
          <p:cNvPr id="17" name="Text 15"/>
          <p:cNvSpPr txBox="1"/>
          <p:nvPr/>
        </p:nvSpPr>
        <p:spPr>
          <a:xfrm>
            <a:off x="5120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21–22</a:t>
            </a:r>
            <a:endParaRPr lang="en-US" sz="2400" dirty="0"/>
          </a:p>
        </p:txBody>
      </p:sp>
      <p:sp>
        <p:nvSpPr>
          <p:cNvPr id="18" name="Shape 16"/>
          <p:cNvSpPr/>
          <p:nvPr/>
        </p:nvSpPr>
        <p:spPr>
          <a:xfrm>
            <a:off x="7086600" y="2377440"/>
            <a:ext cx="274320" cy="0"/>
          </a:xfrm>
          <a:prstGeom prst="line">
            <a:avLst/>
          </a:prstGeom>
          <a:noFill/>
          <a:ln w="31750">
            <a:solidFill>
              <a:srgbClr val="14212B"/>
            </a:solidFill>
            <a:prstDash val="solid"/>
            <a:tailEnd type="triangle"/>
          </a:ln>
        </p:spPr>
      </p:sp>
      <p:sp>
        <p:nvSpPr>
          <p:cNvPr id="19" name="Shape 17"/>
          <p:cNvSpPr/>
          <p:nvPr/>
        </p:nvSpPr>
        <p:spPr>
          <a:xfrm>
            <a:off x="7406640" y="1737360"/>
            <a:ext cx="1920240" cy="1280160"/>
          </a:xfrm>
          <a:prstGeom prst="roundRect">
            <a:avLst>
              <a:gd name="adj" fmla="val 8571"/>
            </a:avLst>
          </a:prstGeom>
          <a:solidFill>
            <a:srgbClr val="1B5E66"/>
          </a:solidFill>
          <a:ln/>
        </p:spPr>
      </p:sp>
      <p:sp>
        <p:nvSpPr>
          <p:cNvPr id="20" name="Text 18"/>
          <p:cNvSpPr txBox="1"/>
          <p:nvPr/>
        </p:nvSpPr>
        <p:spPr>
          <a:xfrm>
            <a:off x="7479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Driver advisor</a:t>
            </a:r>
            <a:endParaRPr lang="en-US" sz="2400" dirty="0"/>
          </a:p>
        </p:txBody>
      </p:sp>
      <p:sp>
        <p:nvSpPr>
          <p:cNvPr id="21" name="Text 19"/>
          <p:cNvSpPr txBox="1"/>
          <p:nvPr/>
        </p:nvSpPr>
        <p:spPr>
          <a:xfrm>
            <a:off x="7406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wheel turns, km/h</a:t>
            </a:r>
            <a:endParaRPr lang="en-US" sz="2400" dirty="0"/>
          </a:p>
        </p:txBody>
      </p:sp>
      <p:sp>
        <p:nvSpPr>
          <p:cNvPr id="22" name="Text 20"/>
          <p:cNvSpPr txBox="1"/>
          <p:nvPr/>
        </p:nvSpPr>
        <p:spPr>
          <a:xfrm>
            <a:off x="7406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 23</a:t>
            </a:r>
            <a:endParaRPr lang="en-US" sz="2400" dirty="0"/>
          </a:p>
        </p:txBody>
      </p:sp>
      <p:sp>
        <p:nvSpPr>
          <p:cNvPr id="23" name="Shape 21"/>
          <p:cNvSpPr/>
          <p:nvPr/>
        </p:nvSpPr>
        <p:spPr>
          <a:xfrm>
            <a:off x="9372600" y="2377440"/>
            <a:ext cx="274320" cy="0"/>
          </a:xfrm>
          <a:prstGeom prst="line">
            <a:avLst/>
          </a:prstGeom>
          <a:noFill/>
          <a:ln w="31750">
            <a:solidFill>
              <a:srgbClr val="14212B"/>
            </a:solidFill>
            <a:prstDash val="solid"/>
            <a:tailEnd type="triangle"/>
          </a:ln>
        </p:spPr>
      </p:sp>
      <p:sp>
        <p:nvSpPr>
          <p:cNvPr id="24" name="Shape 22"/>
          <p:cNvSpPr/>
          <p:nvPr/>
        </p:nvSpPr>
        <p:spPr>
          <a:xfrm>
            <a:off x="9692640" y="1737360"/>
            <a:ext cx="1920240" cy="1280160"/>
          </a:xfrm>
          <a:prstGeom prst="roundRect">
            <a:avLst>
              <a:gd name="adj" fmla="val 8571"/>
            </a:avLst>
          </a:prstGeom>
          <a:solidFill>
            <a:srgbClr val="1B5E66"/>
          </a:solidFill>
          <a:ln/>
        </p:spPr>
      </p:sp>
      <p:sp>
        <p:nvSpPr>
          <p:cNvPr id="25" name="Text 23"/>
          <p:cNvSpPr txBox="1"/>
          <p:nvPr/>
        </p:nvSpPr>
        <p:spPr>
          <a:xfrm>
            <a:off x="9765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Certify &amp; view</a:t>
            </a:r>
            <a:endParaRPr lang="en-US" sz="2400" dirty="0"/>
          </a:p>
        </p:txBody>
      </p:sp>
      <p:sp>
        <p:nvSpPr>
          <p:cNvPr id="26" name="Text 24"/>
          <p:cNvSpPr txBox="1"/>
          <p:nvPr/>
        </p:nvSpPr>
        <p:spPr>
          <a:xfrm>
            <a:off x="9692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110 scenarios</a:t>
            </a:r>
            <a:endParaRPr lang="en-US" sz="2400" dirty="0"/>
          </a:p>
        </p:txBody>
      </p:sp>
      <p:sp>
        <p:nvSpPr>
          <p:cNvPr id="27" name="Text 25"/>
          <p:cNvSpPr txBox="1"/>
          <p:nvPr/>
        </p:nvSpPr>
        <p:spPr>
          <a:xfrm>
            <a:off x="9692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24–25</a:t>
            </a:r>
            <a:endParaRPr lang="en-US" sz="2400" dirty="0"/>
          </a:p>
        </p:txBody>
      </p:sp>
      <p:sp>
        <p:nvSpPr>
          <p:cNvPr id="28" name="Shape 26"/>
          <p:cNvSpPr/>
          <p:nvPr/>
        </p:nvSpPr>
        <p:spPr>
          <a:xfrm>
            <a:off x="548640" y="4846320"/>
            <a:ext cx="11064240" cy="1188720"/>
          </a:xfrm>
          <a:prstGeom prst="roundRect">
            <a:avLst>
              <a:gd name="adj" fmla="val 9231"/>
            </a:avLst>
          </a:prstGeom>
          <a:solidFill>
            <a:srgbClr val="FBF1E3"/>
          </a:solidFill>
          <a:ln/>
        </p:spPr>
      </p:sp>
      <p:sp>
        <p:nvSpPr>
          <p:cNvPr id="29" name="Text 27"/>
          <p:cNvSpPr txBox="1"/>
          <p:nvPr/>
        </p:nvSpPr>
        <p:spPr>
          <a:xfrm>
            <a:off x="822960" y="4846320"/>
            <a:ext cx="10607040" cy="118872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Offline: every free bay is planned, driven in closed loop and certified; the viewer replays certified runs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System architecture (software-in-the-loop)</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a:t>
            </a:r>
            <a:endParaRPr lang="en-US" sz="2400" dirty="0"/>
          </a:p>
        </p:txBody>
      </p:sp>
      <p:sp>
        <p:nvSpPr>
          <p:cNvPr id="4" name="Shape 2"/>
          <p:cNvSpPr/>
          <p:nvPr/>
        </p:nvSpPr>
        <p:spPr>
          <a:xfrm>
            <a:off x="548640" y="1325880"/>
            <a:ext cx="3291840" cy="868680"/>
          </a:xfrm>
          <a:prstGeom prst="roundRect">
            <a:avLst>
              <a:gd name="adj" fmla="val 12632"/>
            </a:avLst>
          </a:prstGeom>
          <a:solidFill>
            <a:srgbClr val="1B5E66"/>
          </a:solidFill>
          <a:ln/>
        </p:spPr>
      </p:sp>
      <p:sp>
        <p:nvSpPr>
          <p:cNvPr id="5" name="Text 3"/>
          <p:cNvSpPr txBox="1"/>
          <p:nvPr/>
        </p:nvSpPr>
        <p:spPr>
          <a:xfrm>
            <a:off x="548640" y="1325880"/>
            <a:ext cx="329184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Python core</a:t>
            </a:r>
            <a:endParaRPr lang="en-US" sz="2600" dirty="0"/>
          </a:p>
        </p:txBody>
      </p:sp>
      <p:sp>
        <p:nvSpPr>
          <p:cNvPr id="6" name="Text 4"/>
          <p:cNvSpPr txBox="1"/>
          <p:nvPr/>
        </p:nvSpPr>
        <p:spPr>
          <a:xfrm>
            <a:off x="548640" y="2286000"/>
            <a:ext cx="329184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NumPy · SciPy</a:t>
            </a:r>
            <a:endParaRPr lang="en-US" sz="2400" dirty="0"/>
          </a:p>
        </p:txBody>
      </p:sp>
      <p:sp>
        <p:nvSpPr>
          <p:cNvPr id="7" name="Shape 5"/>
          <p:cNvSpPr/>
          <p:nvPr/>
        </p:nvSpPr>
        <p:spPr>
          <a:xfrm>
            <a:off x="548640" y="2788920"/>
            <a:ext cx="3291840" cy="2148840"/>
          </a:xfrm>
          <a:prstGeom prst="roundRect">
            <a:avLst>
              <a:gd name="adj" fmla="val 5106"/>
            </a:avLst>
          </a:prstGeom>
          <a:solidFill>
            <a:srgbClr val="E8F3F4"/>
          </a:solidFill>
          <a:ln/>
        </p:spPr>
      </p:sp>
      <p:sp>
        <p:nvSpPr>
          <p:cNvPr id="8" name="Text 6"/>
          <p:cNvSpPr txBox="1"/>
          <p:nvPr/>
        </p:nvSpPr>
        <p:spPr>
          <a:xfrm>
            <a:off x="822960" y="2926080"/>
            <a:ext cx="2834640" cy="1920240"/>
          </a:xfrm>
          <a:prstGeom prst="rect">
            <a:avLst/>
          </a:prstGeom>
          <a:noFill/>
          <a:ln/>
        </p:spPr>
        <p:txBody>
          <a:bodyPr wrap="square" lIns="0" tIns="0" rIns="0" bIns="0" rtlCol="0" anchor="t"/>
          <a:lstStyle/>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Kinematic model</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Hybrid A* planner</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NMPC tracker</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Driver advisor</a:t>
            </a:r>
            <a:endParaRPr lang="en-US" sz="2400" dirty="0"/>
          </a:p>
        </p:txBody>
      </p:sp>
      <p:sp>
        <p:nvSpPr>
          <p:cNvPr id="9" name="Shape 7"/>
          <p:cNvSpPr/>
          <p:nvPr/>
        </p:nvSpPr>
        <p:spPr>
          <a:xfrm>
            <a:off x="3886200" y="1755648"/>
            <a:ext cx="502920" cy="0"/>
          </a:xfrm>
          <a:prstGeom prst="line">
            <a:avLst/>
          </a:prstGeom>
          <a:noFill/>
          <a:ln w="31750">
            <a:solidFill>
              <a:srgbClr val="14212B"/>
            </a:solidFill>
            <a:prstDash val="solid"/>
            <a:tailEnd type="triangle"/>
          </a:ln>
        </p:spPr>
      </p:sp>
      <p:sp>
        <p:nvSpPr>
          <p:cNvPr id="10" name="Shape 8"/>
          <p:cNvSpPr/>
          <p:nvPr/>
        </p:nvSpPr>
        <p:spPr>
          <a:xfrm>
            <a:off x="4434840" y="1325880"/>
            <a:ext cx="3291840" cy="868680"/>
          </a:xfrm>
          <a:prstGeom prst="roundRect">
            <a:avLst>
              <a:gd name="adj" fmla="val 12632"/>
            </a:avLst>
          </a:prstGeom>
          <a:solidFill>
            <a:srgbClr val="0E7C86"/>
          </a:solidFill>
          <a:ln/>
        </p:spPr>
      </p:sp>
      <p:sp>
        <p:nvSpPr>
          <p:cNvPr id="11" name="Text 9"/>
          <p:cNvSpPr txBox="1"/>
          <p:nvPr/>
        </p:nvSpPr>
        <p:spPr>
          <a:xfrm>
            <a:off x="4434840" y="1325880"/>
            <a:ext cx="329184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Certify &amp; export</a:t>
            </a:r>
            <a:endParaRPr lang="en-US" sz="2600" dirty="0"/>
          </a:p>
        </p:txBody>
      </p:sp>
      <p:sp>
        <p:nvSpPr>
          <p:cNvPr id="12" name="Text 10"/>
          <p:cNvSpPr txBox="1"/>
          <p:nvPr/>
        </p:nvSpPr>
        <p:spPr>
          <a:xfrm>
            <a:off x="4434840" y="2286000"/>
            <a:ext cx="329184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110 free bays</a:t>
            </a:r>
            <a:endParaRPr lang="en-US" sz="2400" dirty="0"/>
          </a:p>
        </p:txBody>
      </p:sp>
      <p:sp>
        <p:nvSpPr>
          <p:cNvPr id="13" name="Shape 11"/>
          <p:cNvSpPr/>
          <p:nvPr/>
        </p:nvSpPr>
        <p:spPr>
          <a:xfrm>
            <a:off x="4434840" y="2788920"/>
            <a:ext cx="3291840" cy="2148840"/>
          </a:xfrm>
          <a:prstGeom prst="roundRect">
            <a:avLst>
              <a:gd name="adj" fmla="val 5106"/>
            </a:avLst>
          </a:prstGeom>
          <a:solidFill>
            <a:srgbClr val="E8F3F4"/>
          </a:solidFill>
          <a:ln/>
        </p:spPr>
      </p:sp>
      <p:sp>
        <p:nvSpPr>
          <p:cNvPr id="14" name="Text 12"/>
          <p:cNvSpPr txBox="1"/>
          <p:nvPr/>
        </p:nvSpPr>
        <p:spPr>
          <a:xfrm>
            <a:off x="4709160" y="2926080"/>
            <a:ext cx="2834640" cy="1920240"/>
          </a:xfrm>
          <a:prstGeom prst="rect">
            <a:avLst/>
          </a:prstGeom>
          <a:noFill/>
          <a:ln/>
        </p:spPr>
        <p:txBody>
          <a:bodyPr wrap="square" lIns="0" tIns="0" rIns="0" bIns="0" rtlCol="0" anchor="t"/>
          <a:lstStyle/>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Guided run</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Unaided run</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5 pass checks</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JSON plan library</a:t>
            </a:r>
            <a:endParaRPr lang="en-US" sz="2400" dirty="0"/>
          </a:p>
        </p:txBody>
      </p:sp>
      <p:sp>
        <p:nvSpPr>
          <p:cNvPr id="15" name="Shape 13"/>
          <p:cNvSpPr/>
          <p:nvPr/>
        </p:nvSpPr>
        <p:spPr>
          <a:xfrm>
            <a:off x="7772400" y="1755648"/>
            <a:ext cx="502920" cy="0"/>
          </a:xfrm>
          <a:prstGeom prst="line">
            <a:avLst/>
          </a:prstGeom>
          <a:noFill/>
          <a:ln w="31750">
            <a:solidFill>
              <a:srgbClr val="14212B"/>
            </a:solidFill>
            <a:prstDash val="solid"/>
            <a:tailEnd type="triangle"/>
          </a:ln>
        </p:spPr>
      </p:sp>
      <p:sp>
        <p:nvSpPr>
          <p:cNvPr id="16" name="Shape 14"/>
          <p:cNvSpPr/>
          <p:nvPr/>
        </p:nvSpPr>
        <p:spPr>
          <a:xfrm>
            <a:off x="8321040" y="1325880"/>
            <a:ext cx="3291840" cy="868680"/>
          </a:xfrm>
          <a:prstGeom prst="roundRect">
            <a:avLst>
              <a:gd name="adj" fmla="val 12632"/>
            </a:avLst>
          </a:prstGeom>
          <a:solidFill>
            <a:srgbClr val="1B5E66"/>
          </a:solidFill>
          <a:ln/>
        </p:spPr>
      </p:sp>
      <p:sp>
        <p:nvSpPr>
          <p:cNvPr id="17" name="Text 15"/>
          <p:cNvSpPr txBox="1"/>
          <p:nvPr/>
        </p:nvSpPr>
        <p:spPr>
          <a:xfrm>
            <a:off x="8321040" y="1325880"/>
            <a:ext cx="329184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React viewer</a:t>
            </a:r>
            <a:endParaRPr lang="en-US" sz="2600" dirty="0"/>
          </a:p>
        </p:txBody>
      </p:sp>
      <p:sp>
        <p:nvSpPr>
          <p:cNvPr id="18" name="Text 16"/>
          <p:cNvSpPr txBox="1"/>
          <p:nvPr/>
        </p:nvSpPr>
        <p:spPr>
          <a:xfrm>
            <a:off x="8321040" y="2286000"/>
            <a:ext cx="329184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Three.js · Vite</a:t>
            </a:r>
            <a:endParaRPr lang="en-US" sz="2400" dirty="0"/>
          </a:p>
        </p:txBody>
      </p:sp>
      <p:sp>
        <p:nvSpPr>
          <p:cNvPr id="19" name="Shape 17"/>
          <p:cNvSpPr/>
          <p:nvPr/>
        </p:nvSpPr>
        <p:spPr>
          <a:xfrm>
            <a:off x="8321040" y="2788920"/>
            <a:ext cx="3291840" cy="2148840"/>
          </a:xfrm>
          <a:prstGeom prst="roundRect">
            <a:avLst>
              <a:gd name="adj" fmla="val 5106"/>
            </a:avLst>
          </a:prstGeom>
          <a:solidFill>
            <a:srgbClr val="E8F3F4"/>
          </a:solidFill>
          <a:ln/>
        </p:spPr>
      </p:sp>
      <p:sp>
        <p:nvSpPr>
          <p:cNvPr id="20" name="Text 18"/>
          <p:cNvSpPr txBox="1"/>
          <p:nvPr/>
        </p:nvSpPr>
        <p:spPr>
          <a:xfrm>
            <a:off x="8595360" y="2926080"/>
            <a:ext cx="2834640" cy="1920240"/>
          </a:xfrm>
          <a:prstGeom prst="rect">
            <a:avLst/>
          </a:prstGeom>
          <a:noFill/>
          <a:ln/>
        </p:spPr>
        <p:txBody>
          <a:bodyPr wrap="square" lIns="0" tIns="0" rIns="0" bIns="0" rtlCol="0" anchor="t"/>
          <a:lstStyle/>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3-D yard</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Guidance bar</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Instruments</a:t>
            </a:r>
            <a:endParaRPr lang="en-US" sz="2400" dirty="0"/>
          </a:p>
          <a:p>
            <a:pPr marL="342900" indent="-342900">
              <a:spcAft>
                <a:spcPts val="400"/>
              </a:spcAft>
              <a:buSzPct val="100000"/>
              <a:buChar char="•"/>
            </a:pPr>
            <a:r>
              <a:rPr lang="en-US" sz="2400" dirty="0">
                <a:solidFill>
                  <a:srgbClr val="14212B"/>
                </a:solidFill>
                <a:latin typeface="Calibri" pitchFamily="34" charset="0"/>
                <a:ea typeface="Calibri" pitchFamily="34" charset="-122"/>
                <a:cs typeface="Calibri" pitchFamily="34" charset="-120"/>
              </a:rPr>
              <a:t>Live maths</a:t>
            </a:r>
            <a:endParaRPr lang="en-US" sz="2400" dirty="0"/>
          </a:p>
        </p:txBody>
      </p:sp>
      <p:sp>
        <p:nvSpPr>
          <p:cNvPr id="21" name="Shape 19"/>
          <p:cNvSpPr/>
          <p:nvPr/>
        </p:nvSpPr>
        <p:spPr>
          <a:xfrm>
            <a:off x="548640" y="5120640"/>
            <a:ext cx="11064240" cy="960120"/>
          </a:xfrm>
          <a:prstGeom prst="roundRect">
            <a:avLst>
              <a:gd name="adj" fmla="val 11429"/>
            </a:avLst>
          </a:prstGeom>
          <a:solidFill>
            <a:srgbClr val="FBF1E3"/>
          </a:solidFill>
          <a:ln/>
        </p:spPr>
      </p:sp>
      <p:sp>
        <p:nvSpPr>
          <p:cNvPr id="22" name="Text 20"/>
          <p:cNvSpPr txBox="1"/>
          <p:nvPr/>
        </p:nvSpPr>
        <p:spPr>
          <a:xfrm>
            <a:off x="777240" y="5120640"/>
            <a:ext cx="10607040" cy="96012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Changed since review 1: CasADi + 60 Hz WebSockets → certified runs, replayed</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State-space formulation: state, input, geometry</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pic>
        <p:nvPicPr>
          <p:cNvPr id="4" name="Image 0" descr="X equals x1, y1, theta0, psi transposed; U equals v, delta transposed">    </p:cNvPr>
          <p:cNvPicPr>
            <a:picLocks noChangeAspect="1"/>
          </p:cNvPicPr>
          <p:nvPr/>
        </p:nvPicPr>
        <p:blipFill>
          <a:blip r:embed="rId1"/>
          <a:stretch>
            <a:fillRect/>
          </a:stretch>
        </p:blipFill>
        <p:spPr>
          <a:xfrm>
            <a:off x="548640" y="1261872"/>
            <a:ext cx="6297168" cy="515112"/>
          </a:xfrm>
          <a:prstGeom prst="rect">
            <a:avLst/>
          </a:prstGeom>
        </p:spPr>
      </p:pic>
      <p:pic>
        <p:nvPicPr>
          <p:cNvPr id="5" name="Image 1" descr="psi equals theta0 minus theta1">    </p:cNvPr>
          <p:cNvPicPr>
            <a:picLocks noChangeAspect="1"/>
          </p:cNvPicPr>
          <p:nvPr/>
        </p:nvPicPr>
        <p:blipFill>
          <a:blip r:embed="rId2"/>
          <a:stretch>
            <a:fillRect/>
          </a:stretch>
        </p:blipFill>
        <p:spPr>
          <a:xfrm>
            <a:off x="7406640" y="1298448"/>
            <a:ext cx="1813560" cy="441960"/>
          </a:xfrm>
          <a:prstGeom prst="rect">
            <a:avLst/>
          </a:prstGeom>
        </p:spPr>
      </p:pic>
      <p:sp>
        <p:nvSpPr>
          <p:cNvPr id="6" name="Text 2"/>
          <p:cNvSpPr txBox="1"/>
          <p:nvPr/>
        </p:nvSpPr>
        <p:spPr>
          <a:xfrm>
            <a:off x="9326880" y="1325880"/>
            <a:ext cx="22860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(hitch angle)</a:t>
            </a:r>
            <a:endParaRPr lang="en-US" sz="2400" dirty="0"/>
          </a:p>
        </p:txBody>
      </p:sp>
      <p:pic>
        <p:nvPicPr>
          <p:cNvPr id="7" name="Image 2" descr="Tractor-trailer geometry with rear axle, hitch, trailer axle, L1, L2, theta0, psi and delta">    </p:cNvPr>
          <p:cNvPicPr>
            <a:picLocks noChangeAspect="1"/>
          </p:cNvPicPr>
          <p:nvPr/>
        </p:nvPicPr>
        <p:blipFill>
          <a:blip r:embed="rId3"/>
          <a:stretch>
            <a:fillRect/>
          </a:stretch>
        </p:blipFill>
        <p:spPr>
          <a:xfrm>
            <a:off x="457200" y="2057400"/>
            <a:ext cx="5760720" cy="3291840"/>
          </a:xfrm>
          <a:prstGeom prst="rect">
            <a:avLst/>
          </a:prstGeom>
        </p:spPr>
      </p:pic>
      <p:sp>
        <p:nvSpPr>
          <p:cNvPr id="8" name="Text 3"/>
          <p:cNvSpPr txBox="1"/>
          <p:nvPr/>
        </p:nvSpPr>
        <p:spPr>
          <a:xfrm>
            <a:off x="548640" y="548640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Car-like tractor + one trailer, hitch offset d [2]</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75120" y="2148840"/>
          <a:ext cx="4937760" cy="914400"/>
        </p:xfrm>
        <a:graphic>
          <a:graphicData uri="http://schemas.openxmlformats.org/drawingml/2006/table">
            <a:tbl>
              <a:tblPr/>
              <a:tblGrid>
                <a:gridCol w="3520440"/>
                <a:gridCol w="1417320"/>
              </a:tblGrid>
              <a:tr h="457200">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Parameter</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algn="r" indent="0" marL="0">
                        <a:buNone/>
                      </a:pPr>
                      <a:r>
                        <a:rPr lang="en-US" sz="2400" b="1" dirty="0">
                          <a:solidFill>
                            <a:srgbClr val="FFFFFF"/>
                          </a:solidFill>
                          <a:latin typeface="Calibri" pitchFamily="34" charset="0"/>
                          <a:ea typeface="Calibri" pitchFamily="34" charset="-122"/>
                          <a:cs typeface="Calibri" pitchFamily="34" charset="-120"/>
                        </a:rPr>
                        <a:t>Value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L₁ tractor wheelbase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4.0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L₂ hitch → trailer axle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8.0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d hitch ahead of axle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0.5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δmax steering lock</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35°</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ψcrit hard hitch limit</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60°</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v yard speed</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 2 m/s</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Control inputs &amp; system kinematics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pic>
        <p:nvPicPr>
          <p:cNvPr id="4" name="Image 0" descr="equation">    </p:cNvPr>
          <p:cNvPicPr>
            <a:picLocks noChangeAspect="1"/>
          </p:cNvPicPr>
          <p:nvPr/>
        </p:nvPicPr>
        <p:blipFill>
          <a:blip r:embed="rId1"/>
          <a:stretch>
            <a:fillRect/>
          </a:stretch>
        </p:blipFill>
        <p:spPr>
          <a:xfrm>
            <a:off x="731520" y="1325880"/>
            <a:ext cx="2075688" cy="469392"/>
          </a:xfrm>
          <a:prstGeom prst="rect">
            <a:avLst/>
          </a:prstGeom>
        </p:spPr>
      </p:pic>
      <p:pic>
        <p:nvPicPr>
          <p:cNvPr id="5" name="Image 1" descr="equation">    </p:cNvPr>
          <p:cNvPicPr>
            <a:picLocks noChangeAspect="1"/>
          </p:cNvPicPr>
          <p:nvPr/>
        </p:nvPicPr>
        <p:blipFill>
          <a:blip r:embed="rId2"/>
          <a:stretch>
            <a:fillRect/>
          </a:stretch>
        </p:blipFill>
        <p:spPr>
          <a:xfrm>
            <a:off x="3657600" y="1325880"/>
            <a:ext cx="1996440" cy="469392"/>
          </a:xfrm>
          <a:prstGeom prst="rect">
            <a:avLst/>
          </a:prstGeom>
        </p:spPr>
      </p:pic>
      <p:pic>
        <p:nvPicPr>
          <p:cNvPr id="6" name="Image 2" descr="equation">    </p:cNvPr>
          <p:cNvPicPr>
            <a:picLocks noChangeAspect="1"/>
          </p:cNvPicPr>
          <p:nvPr/>
        </p:nvPicPr>
        <p:blipFill>
          <a:blip r:embed="rId3"/>
          <a:stretch>
            <a:fillRect/>
          </a:stretch>
        </p:blipFill>
        <p:spPr>
          <a:xfrm>
            <a:off x="6583680" y="1216152"/>
            <a:ext cx="2106168" cy="685800"/>
          </a:xfrm>
          <a:prstGeom prst="rect">
            <a:avLst/>
          </a:prstGeom>
        </p:spPr>
      </p:pic>
      <p:pic>
        <p:nvPicPr>
          <p:cNvPr id="7" name="Image 3" descr="psi dot equals v tan delta over L1 minus v sin psi over L2 minus v d tan delta cos psi over L1 L2">    </p:cNvPr>
          <p:cNvPicPr>
            <a:picLocks noChangeAspect="1"/>
          </p:cNvPicPr>
          <p:nvPr/>
        </p:nvPicPr>
        <p:blipFill>
          <a:blip r:embed="rId4"/>
          <a:stretch>
            <a:fillRect/>
          </a:stretch>
        </p:blipFill>
        <p:spPr>
          <a:xfrm>
            <a:off x="731520" y="2148840"/>
            <a:ext cx="5650992" cy="762000"/>
          </a:xfrm>
          <a:prstGeom prst="rect">
            <a:avLst/>
          </a:prstGeom>
        </p:spPr>
      </p:pic>
      <p:sp>
        <p:nvSpPr>
          <p:cNvPr id="8" name="Shape 2"/>
          <p:cNvSpPr/>
          <p:nvPr/>
        </p:nvSpPr>
        <p:spPr>
          <a:xfrm>
            <a:off x="1522659" y="2956560"/>
            <a:ext cx="847649" cy="54864"/>
          </a:xfrm>
          <a:prstGeom prst="rect">
            <a:avLst/>
          </a:prstGeom>
          <a:solidFill>
            <a:srgbClr val="0E7C86"/>
          </a:solidFill>
          <a:ln/>
        </p:spPr>
      </p:sp>
      <p:sp>
        <p:nvSpPr>
          <p:cNvPr id="9" name="Text 3"/>
          <p:cNvSpPr txBox="1"/>
          <p:nvPr/>
        </p:nvSpPr>
        <p:spPr>
          <a:xfrm>
            <a:off x="1156899" y="3038856"/>
            <a:ext cx="1579169"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steering</a:t>
            </a:r>
            <a:endParaRPr lang="en-US" sz="2400" dirty="0"/>
          </a:p>
        </p:txBody>
      </p:sp>
      <p:sp>
        <p:nvSpPr>
          <p:cNvPr id="10" name="Shape 4"/>
          <p:cNvSpPr/>
          <p:nvPr/>
        </p:nvSpPr>
        <p:spPr>
          <a:xfrm>
            <a:off x="3048427" y="2956560"/>
            <a:ext cx="904159" cy="54864"/>
          </a:xfrm>
          <a:prstGeom prst="rect">
            <a:avLst/>
          </a:prstGeom>
          <a:solidFill>
            <a:srgbClr val="B83227"/>
          </a:solidFill>
          <a:ln/>
        </p:spPr>
      </p:sp>
      <p:sp>
        <p:nvSpPr>
          <p:cNvPr id="11" name="Text 5"/>
          <p:cNvSpPr txBox="1"/>
          <p:nvPr/>
        </p:nvSpPr>
        <p:spPr>
          <a:xfrm>
            <a:off x="2682667" y="3038856"/>
            <a:ext cx="1635679" cy="411480"/>
          </a:xfrm>
          <a:prstGeom prst="rect">
            <a:avLst/>
          </a:prstGeom>
          <a:noFill/>
          <a:ln/>
        </p:spPr>
        <p:txBody>
          <a:bodyPr wrap="square" lIns="0" tIns="0" rIns="0" bIns="0" rtlCol="0" anchor="t"/>
          <a:lstStyle/>
          <a:p>
            <a:pPr algn="ctr" indent="0" marL="0">
              <a:buNone/>
            </a:pPr>
            <a:r>
              <a:rPr lang="en-US" sz="2400" b="1" dirty="0">
                <a:solidFill>
                  <a:srgbClr val="B83227"/>
                </a:solidFill>
                <a:latin typeface="Calibri" pitchFamily="34" charset="0"/>
                <a:ea typeface="Calibri" pitchFamily="34" charset="-122"/>
                <a:cs typeface="Calibri" pitchFamily="34" charset="-120"/>
              </a:rPr>
              <a:t>hitch</a:t>
            </a:r>
            <a:endParaRPr lang="en-US" sz="2400" dirty="0"/>
          </a:p>
        </p:txBody>
      </p:sp>
      <p:sp>
        <p:nvSpPr>
          <p:cNvPr id="12" name="Shape 6"/>
          <p:cNvSpPr/>
          <p:nvPr/>
        </p:nvSpPr>
        <p:spPr>
          <a:xfrm>
            <a:off x="4574195" y="2956560"/>
            <a:ext cx="1808317" cy="54864"/>
          </a:xfrm>
          <a:prstGeom prst="rect">
            <a:avLst/>
          </a:prstGeom>
          <a:solidFill>
            <a:srgbClr val="44546A"/>
          </a:solidFill>
          <a:ln/>
        </p:spPr>
      </p:sp>
      <p:sp>
        <p:nvSpPr>
          <p:cNvPr id="13" name="Text 7"/>
          <p:cNvSpPr txBox="1"/>
          <p:nvPr/>
        </p:nvSpPr>
        <p:spPr>
          <a:xfrm>
            <a:off x="4208435" y="3038856"/>
            <a:ext cx="2539837" cy="411480"/>
          </a:xfrm>
          <a:prstGeom prst="rect">
            <a:avLst/>
          </a:prstGeom>
          <a:noFill/>
          <a:ln/>
        </p:spPr>
        <p:txBody>
          <a:bodyPr wrap="square" lIns="0" tIns="0" rIns="0" bIns="0" rtlCol="0" anchor="t"/>
          <a:lstStyle/>
          <a:p>
            <a:pPr algn="ctr" indent="0" marL="0">
              <a:buNone/>
            </a:pPr>
            <a:r>
              <a:rPr lang="en-US" sz="2400" b="1" dirty="0">
                <a:solidFill>
                  <a:srgbClr val="44546A"/>
                </a:solidFill>
                <a:latin typeface="Calibri" pitchFamily="34" charset="0"/>
                <a:ea typeface="Calibri" pitchFamily="34" charset="-122"/>
                <a:cs typeface="Calibri" pitchFamily="34" charset="-120"/>
              </a:rPr>
              <a:t>offset</a:t>
            </a:r>
            <a:endParaRPr lang="en-US" sz="2400" dirty="0"/>
          </a:p>
        </p:txBody>
      </p:sp>
      <p:sp>
        <p:nvSpPr>
          <p:cNvPr id="14" name="Text 8"/>
          <p:cNvSpPr txBox="1"/>
          <p:nvPr/>
        </p:nvSpPr>
        <p:spPr>
          <a:xfrm>
            <a:off x="548640" y="3611880"/>
            <a:ext cx="11064240" cy="2560320"/>
          </a:xfrm>
          <a:prstGeom prst="rect">
            <a:avLst/>
          </a:prstGeom>
          <a:noFill/>
          <a:ln/>
        </p:spPr>
        <p:txBody>
          <a:bodyPr wrap="square" lIns="0" tIns="0" rIns="0" bIns="0" rtlCol="0" anchor="t"/>
          <a:lstStyle/>
          <a:p>
            <a:pPr marL="342900" indent="-342900">
              <a:spcAft>
                <a:spcPts val="1000"/>
              </a:spcAft>
              <a:buSzPct val="100000"/>
              <a:buChar char="•"/>
            </a:pPr>
            <a:r>
              <a:rPr lang="en-US" sz="2400" b="1" dirty="0">
                <a:solidFill>
                  <a:srgbClr val="0E7C86"/>
                </a:solidFill>
                <a:latin typeface="Calibri" pitchFamily="34" charset="0"/>
                <a:ea typeface="Calibri" pitchFamily="34" charset="-122"/>
                <a:cs typeface="Calibri" pitchFamily="34" charset="-120"/>
              </a:rPr>
              <a:t>Steering term: </a:t>
            </a:r>
            <a:pPr indent="0" marL="0">
              <a:buNone/>
            </a:pPr>
            <a:r>
              <a:rPr lang="en-US" sz="2400" dirty="0">
                <a:solidFill>
                  <a:srgbClr val="14212B"/>
                </a:solidFill>
                <a:latin typeface="Calibri" pitchFamily="34" charset="0"/>
                <a:ea typeface="Calibri" pitchFamily="34" charset="-122"/>
                <a:cs typeface="Calibri" pitchFamily="34" charset="-120"/>
              </a:rPr>
              <a:t>the driver’s only lever on ψ</a:t>
            </a:r>
            <a:endParaRPr lang="en-US" sz="2400" dirty="0"/>
          </a:p>
          <a:p>
            <a:pPr marL="342900" indent="-342900">
              <a:spcAft>
                <a:spcPts val="1000"/>
              </a:spcAft>
              <a:buSzPct val="100000"/>
              <a:buChar char="•"/>
            </a:pPr>
            <a:r>
              <a:rPr lang="en-US" sz="2400" b="1" dirty="0">
                <a:solidFill>
                  <a:srgbClr val="B83227"/>
                </a:solidFill>
                <a:latin typeface="Calibri" pitchFamily="34" charset="0"/>
                <a:ea typeface="Calibri" pitchFamily="34" charset="-122"/>
                <a:cs typeface="Calibri" pitchFamily="34" charset="-120"/>
              </a:rPr>
              <a:t>Hitch term −v sinψ / L₂: </a:t>
            </a:r>
            <a:pPr indent="0" marL="0">
              <a:buNone/>
            </a:pPr>
            <a:r>
              <a:rPr lang="en-US" sz="2400" dirty="0">
                <a:solidFill>
                  <a:srgbClr val="14212B"/>
                </a:solidFill>
                <a:latin typeface="Calibri" pitchFamily="34" charset="0"/>
                <a:ea typeface="Calibri" pitchFamily="34" charset="-122"/>
                <a:cs typeface="Calibri" pitchFamily="34" charset="-120"/>
              </a:rPr>
              <a:t>restoring when v &gt; 0, destabilising when v &lt; 0</a:t>
            </a:r>
            <a:endParaRPr lang="en-US" sz="2400" dirty="0"/>
          </a:p>
          <a:p>
            <a:pPr marL="342900" indent="-342900">
              <a:spcAft>
                <a:spcPts val="1000"/>
              </a:spcAft>
              <a:buSzPct val="100000"/>
              <a:buChar char="•"/>
            </a:pPr>
            <a:r>
              <a:rPr lang="en-US" sz="2400" b="1" dirty="0">
                <a:solidFill>
                  <a:srgbClr val="14212B"/>
                </a:solidFill>
                <a:latin typeface="Calibri" pitchFamily="34" charset="0"/>
                <a:ea typeface="Calibri" pitchFamily="34" charset="-122"/>
                <a:cs typeface="Calibri" pitchFamily="34" charset="-120"/>
              </a:rPr>
              <a:t>Every term ∝ v: </a:t>
            </a:r>
            <a:pPr indent="0" marL="0">
              <a:buNone/>
            </a:pPr>
            <a:r>
              <a:rPr lang="en-US" sz="2400" dirty="0">
                <a:solidFill>
                  <a:srgbClr val="14212B"/>
                </a:solidFill>
                <a:latin typeface="Calibri" pitchFamily="34" charset="0"/>
                <a:ea typeface="Calibri" pitchFamily="34" charset="-122"/>
                <a:cs typeface="Calibri" pitchFamily="34" charset="-120"/>
              </a:rPr>
              <a:t>the path depends on distance s, not speed, so speed is chosen separately</a:t>
            </a:r>
            <a:endParaRPr lang="en-US" sz="2400" dirty="0"/>
          </a:p>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Integrated with RK4; one model shared by planner, NMPC and viewer [2]</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Why reversing is unstable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sp>
        <p:nvSpPr>
          <p:cNvPr id="4" name="Text 2"/>
          <p:cNvSpPr txBox="1"/>
          <p:nvPr/>
        </p:nvSpPr>
        <p:spPr>
          <a:xfrm>
            <a:off x="548640" y="128016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Straight line (δ = 0), small ψ:</a:t>
            </a:r>
            <a:endParaRPr lang="en-US" sz="2400" dirty="0"/>
          </a:p>
        </p:txBody>
      </p:sp>
      <p:pic>
        <p:nvPicPr>
          <p:cNvPr id="5" name="Image 0" descr="psi dot approximately minus v over L2 times psi; lambda equals minus v over L2">    </p:cNvPr>
          <p:cNvPicPr>
            <a:picLocks noChangeAspect="1"/>
          </p:cNvPicPr>
          <p:nvPr/>
        </p:nvPicPr>
        <p:blipFill>
          <a:blip r:embed="rId1"/>
          <a:stretch>
            <a:fillRect/>
          </a:stretch>
        </p:blipFill>
        <p:spPr>
          <a:xfrm>
            <a:off x="548640" y="1691640"/>
            <a:ext cx="3736848" cy="637032"/>
          </a:xfrm>
          <a:prstGeom prst="rect">
            <a:avLst/>
          </a:prstGeom>
        </p:spPr>
      </p:pic>
      <p:sp>
        <p:nvSpPr>
          <p:cNvPr id="6" name="Text 3"/>
          <p:cNvSpPr txBox="1"/>
          <p:nvPr/>
        </p:nvSpPr>
        <p:spPr>
          <a:xfrm>
            <a:off x="548640" y="2468880"/>
            <a:ext cx="5943600" cy="1097280"/>
          </a:xfrm>
          <a:prstGeom prst="rect">
            <a:avLst/>
          </a:prstGeom>
          <a:noFill/>
          <a:ln/>
        </p:spPr>
        <p:txBody>
          <a:bodyPr wrap="square" lIns="0" tIns="0" rIns="0" bIns="0" rtlCol="0" anchor="t"/>
          <a:lstStyle/>
          <a:p>
            <a:pPr marL="342900" indent="-342900">
              <a:spcAft>
                <a:spcPts val="600"/>
              </a:spcAft>
              <a:buSzPct val="100000"/>
              <a:buChar char="•"/>
            </a:pPr>
            <a:r>
              <a:rPr lang="en-US" sz="2400" b="1" dirty="0">
                <a:solidFill>
                  <a:srgbClr val="1E7A45"/>
                </a:solidFill>
                <a:latin typeface="Calibri" pitchFamily="34" charset="0"/>
                <a:ea typeface="Calibri" pitchFamily="34" charset="-122"/>
                <a:cs typeface="Calibri" pitchFamily="34" charset="-120"/>
              </a:rPr>
              <a:t>v &gt; 0: </a:t>
            </a:r>
            <a:pPr indent="0" marL="0">
              <a:buNone/>
            </a:pPr>
            <a:r>
              <a:rPr lang="en-US" sz="2400" dirty="0">
                <a:solidFill>
                  <a:srgbClr val="14212B"/>
                </a:solidFill>
                <a:latin typeface="Calibri" pitchFamily="34" charset="0"/>
                <a:ea typeface="Calibri" pitchFamily="34" charset="-122"/>
                <a:cs typeface="Calibri" pitchFamily="34" charset="-120"/>
              </a:rPr>
              <a:t>λ &lt; 0, ψ decays (stable)</a:t>
            </a:r>
            <a:endParaRPr lang="en-US" sz="2400" dirty="0"/>
          </a:p>
          <a:p>
            <a:pPr marL="342900" indent="-342900">
              <a:spcAft>
                <a:spcPts val="600"/>
              </a:spcAft>
              <a:buSzPct val="100000"/>
              <a:buChar char="•"/>
            </a:pPr>
            <a:r>
              <a:rPr lang="en-US" sz="2400" b="1" dirty="0">
                <a:solidFill>
                  <a:srgbClr val="B83227"/>
                </a:solidFill>
                <a:latin typeface="Calibri" pitchFamily="34" charset="0"/>
                <a:ea typeface="Calibri" pitchFamily="34" charset="-122"/>
                <a:cs typeface="Calibri" pitchFamily="34" charset="-120"/>
              </a:rPr>
              <a:t>v &lt; 0: </a:t>
            </a:r>
            <a:pPr indent="0" marL="0">
              <a:buNone/>
            </a:pPr>
            <a:r>
              <a:rPr lang="en-US" sz="2400" dirty="0">
                <a:solidFill>
                  <a:srgbClr val="14212B"/>
                </a:solidFill>
                <a:latin typeface="Calibri" pitchFamily="34" charset="0"/>
                <a:ea typeface="Calibri" pitchFamily="34" charset="-122"/>
                <a:cs typeface="Calibri" pitchFamily="34" charset="-120"/>
              </a:rPr>
              <a:t>λ = |v|/L₂ &gt; 0, ψ grows ×e every 8 m</a:t>
            </a:r>
            <a:endParaRPr lang="en-US" sz="2400" dirty="0"/>
          </a:p>
        </p:txBody>
      </p:sp>
      <p:sp>
        <p:nvSpPr>
          <p:cNvPr id="7" name="Text 4"/>
          <p:cNvSpPr txBox="1"/>
          <p:nvPr/>
        </p:nvSpPr>
        <p:spPr>
          <a:xfrm>
            <a:off x="548640" y="361188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Exact solution in distance s:</a:t>
            </a:r>
            <a:endParaRPr lang="en-US" sz="2400" dirty="0"/>
          </a:p>
        </p:txBody>
      </p:sp>
      <p:pic>
        <p:nvPicPr>
          <p:cNvPr id="8" name="Image 1" descr="d psi d s equals sin psi over L2, so tan of psi over 2 equals tan of psi0 over 2 times e to the s over L2">    </p:cNvPr>
          <p:cNvPicPr>
            <a:picLocks noChangeAspect="1"/>
          </p:cNvPicPr>
          <p:nvPr/>
        </p:nvPicPr>
        <p:blipFill>
          <a:blip r:embed="rId2"/>
          <a:stretch>
            <a:fillRect/>
          </a:stretch>
        </p:blipFill>
        <p:spPr>
          <a:xfrm>
            <a:off x="548640" y="4023360"/>
            <a:ext cx="5138928" cy="661416"/>
          </a:xfrm>
          <a:prstGeom prst="rect">
            <a:avLst/>
          </a:prstGeom>
        </p:spPr>
      </p:pic>
      <p:sp>
        <p:nvSpPr>
          <p:cNvPr id="9" name="Text 5"/>
          <p:cNvSpPr txBox="1"/>
          <p:nvPr/>
        </p:nvSpPr>
        <p:spPr>
          <a:xfrm>
            <a:off x="548640" y="4846320"/>
            <a:ext cx="5943600" cy="822960"/>
          </a:xfrm>
          <a:prstGeom prst="rect">
            <a:avLst/>
          </a:prstGeom>
          <a:noFill/>
          <a:ln/>
        </p:spPr>
        <p:txBody>
          <a:bodyPr wrap="square" lIns="0" tIns="0" rIns="0" bIns="0" rtlCol="0" anchor="t"/>
          <a:lstStyle/>
          <a:p>
            <a:pPr marL="342900" indent="-342900">
              <a:spcAft>
                <a:spcPts val="1000"/>
              </a:spcAft>
              <a:buSzPct val="100000"/>
              <a:buChar char="•"/>
            </a:pPr>
            <a:r>
              <a:rPr lang="en-US" sz="2400" b="1" dirty="0">
                <a:solidFill>
                  <a:srgbClr val="B83227"/>
                </a:solidFill>
                <a:latin typeface="Calibri" pitchFamily="34" charset="0"/>
                <a:ea typeface="Calibri" pitchFamily="34" charset="-122"/>
                <a:cs typeface="Calibri" pitchFamily="34" charset="-120"/>
              </a:rPr>
              <a:t>2° error: </a:t>
            </a:r>
            <a:pPr indent="0" marL="0">
              <a:buNone/>
            </a:pPr>
            <a:r>
              <a:rPr lang="en-US" sz="2400" dirty="0">
                <a:solidFill>
                  <a:srgbClr val="14212B"/>
                </a:solidFill>
                <a:latin typeface="Calibri" pitchFamily="34" charset="0"/>
                <a:ea typeface="Calibri" pitchFamily="34" charset="-122"/>
                <a:cs typeface="Calibri" pitchFamily="34" charset="-120"/>
              </a:rPr>
              <a:t>60° at 28 m, jackknife at 30 m</a:t>
            </a:r>
            <a:endParaRPr lang="en-US" sz="2400" dirty="0"/>
          </a:p>
        </p:txBody>
      </p:sp>
      <p:pic>
        <p:nvPicPr>
          <p:cNvPr id="10" name="Image 2" descr="Hitch angle versus distance: reverse grows past 60 degrees at 28 m, forward decays">    </p:cNvPr>
          <p:cNvPicPr>
            <a:picLocks noChangeAspect="1"/>
          </p:cNvPicPr>
          <p:nvPr/>
        </p:nvPicPr>
        <p:blipFill>
          <a:blip r:embed="rId3"/>
          <a:stretch>
            <a:fillRect/>
          </a:stretch>
        </p:blipFill>
        <p:spPr>
          <a:xfrm>
            <a:off x="6583680" y="1325880"/>
            <a:ext cx="5120640" cy="3749040"/>
          </a:xfrm>
          <a:prstGeom prst="rect">
            <a:avLst/>
          </a:prstGeom>
        </p:spPr>
      </p:pic>
      <p:sp>
        <p:nvSpPr>
          <p:cNvPr id="11" name="Text 6"/>
          <p:cNvSpPr txBox="1"/>
          <p:nvPr/>
        </p:nvSpPr>
        <p:spPr>
          <a:xfrm>
            <a:off x="6583680" y="5212080"/>
            <a:ext cx="512064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Closed form matches the simulator exactly</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How much steering can hold a hitch angle?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sp>
        <p:nvSpPr>
          <p:cNvPr id="4" name="Text 2"/>
          <p:cNvSpPr txBox="1"/>
          <p:nvPr/>
        </p:nvSpPr>
        <p:spPr>
          <a:xfrm>
            <a:off x="548640" y="128016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Steady state (ψ̇ = 0):</a:t>
            </a:r>
            <a:endParaRPr lang="en-US" sz="2400" dirty="0"/>
          </a:p>
        </p:txBody>
      </p:sp>
      <p:pic>
        <p:nvPicPr>
          <p:cNvPr id="5" name="Image 0" descr="tan delta hold equals L1 over L2 times sin psi over 1 minus d over L2 cos psi">    </p:cNvPr>
          <p:cNvPicPr>
            <a:picLocks noChangeAspect="1"/>
          </p:cNvPicPr>
          <p:nvPr/>
        </p:nvPicPr>
        <p:blipFill>
          <a:blip r:embed="rId1"/>
          <a:stretch>
            <a:fillRect/>
          </a:stretch>
        </p:blipFill>
        <p:spPr>
          <a:xfrm>
            <a:off x="548640" y="1691640"/>
            <a:ext cx="5050536" cy="816864"/>
          </a:xfrm>
          <a:prstGeom prst="rect">
            <a:avLst/>
          </a:prstGeom>
        </p:spPr>
      </p:pic>
      <p:sp>
        <p:nvSpPr>
          <p:cNvPr id="6" name="Text 3"/>
          <p:cNvSpPr txBox="1"/>
          <p:nvPr/>
        </p:nvSpPr>
        <p:spPr>
          <a:xfrm>
            <a:off x="548640" y="269748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Maximum of the right-hand side:</a:t>
            </a:r>
            <a:endParaRPr lang="en-US" sz="2400" dirty="0"/>
          </a:p>
        </p:txBody>
      </p:sp>
      <p:pic>
        <p:nvPicPr>
          <p:cNvPr id="7" name="Image 1" descr="cos psi star equals d over L2, so delta critical equals 26.6 degrees">    </p:cNvPr>
          <p:cNvPicPr>
            <a:picLocks noChangeAspect="1"/>
          </p:cNvPicPr>
          <p:nvPr/>
        </p:nvPicPr>
        <p:blipFill>
          <a:blip r:embed="rId2"/>
          <a:stretch>
            <a:fillRect/>
          </a:stretch>
        </p:blipFill>
        <p:spPr>
          <a:xfrm>
            <a:off x="548640" y="3108960"/>
            <a:ext cx="4422648" cy="618744"/>
          </a:xfrm>
          <a:prstGeom prst="rect">
            <a:avLst/>
          </a:prstGeom>
        </p:spPr>
      </p:pic>
      <p:sp>
        <p:nvSpPr>
          <p:cNvPr id="8" name="Text 4"/>
          <p:cNvSpPr txBox="1"/>
          <p:nvPr/>
        </p:nvSpPr>
        <p:spPr>
          <a:xfrm>
            <a:off x="548640" y="3931920"/>
            <a:ext cx="5943600" cy="2194560"/>
          </a:xfrm>
          <a:prstGeom prst="rect">
            <a:avLst/>
          </a:prstGeom>
          <a:noFill/>
          <a:ln/>
        </p:spPr>
        <p:txBody>
          <a:bodyPr wrap="square" lIns="0" tIns="0" rIns="0" bIns="0" rtlCol="0" anchor="t"/>
          <a:lstStyle/>
          <a:p>
            <a:pPr marL="342900" indent="-342900">
              <a:spcAft>
                <a:spcPts val="1000"/>
              </a:spcAft>
              <a:buSzPct val="100000"/>
              <a:buChar char="•"/>
            </a:pPr>
            <a:r>
              <a:rPr lang="en-US" sz="2400" b="1" dirty="0">
                <a:solidFill>
                  <a:srgbClr val="B83227"/>
                </a:solidFill>
                <a:latin typeface="Calibri" pitchFamily="34" charset="0"/>
                <a:ea typeface="Calibri" pitchFamily="34" charset="-122"/>
                <a:cs typeface="Calibri" pitchFamily="34" charset="-120"/>
              </a:rPr>
              <a:t>Above 26.6°: </a:t>
            </a:r>
            <a:pPr indent="0" marL="0">
              <a:buNone/>
            </a:pPr>
            <a:r>
              <a:rPr lang="en-US" sz="2400" dirty="0">
                <a:solidFill>
                  <a:srgbClr val="14212B"/>
                </a:solidFill>
                <a:latin typeface="Calibri" pitchFamily="34" charset="0"/>
                <a:ea typeface="Calibri" pitchFamily="34" charset="-122"/>
                <a:cs typeface="Calibri" pitchFamily="34" charset="-120"/>
              </a:rPr>
              <a:t>no equilibrium, the rig folds</a:t>
            </a:r>
            <a:endParaRPr lang="en-US" sz="2400" dirty="0"/>
          </a:p>
          <a:p>
            <a:pPr marL="342900" indent="-342900">
              <a:spcAft>
                <a:spcPts val="1000"/>
              </a:spcAft>
              <a:buSzPct val="100000"/>
              <a:buChar char="•"/>
            </a:pPr>
            <a:r>
              <a:rPr lang="en-US" sz="2400" b="1" dirty="0">
                <a:solidFill>
                  <a:srgbClr val="A8661A"/>
                </a:solidFill>
                <a:latin typeface="Calibri" pitchFamily="34" charset="0"/>
                <a:ea typeface="Calibri" pitchFamily="34" charset="-122"/>
                <a:cs typeface="Calibri" pitchFamily="34" charset="-120"/>
              </a:rPr>
              <a:t>At ψ = 60°: </a:t>
            </a:r>
            <a:pPr indent="0" marL="0">
              <a:buNone/>
            </a:pPr>
            <a:r>
              <a:rPr lang="en-US" sz="2400" dirty="0">
                <a:solidFill>
                  <a:srgbClr val="14212B"/>
                </a:solidFill>
                <a:latin typeface="Calibri" pitchFamily="34" charset="0"/>
                <a:ea typeface="Calibri" pitchFamily="34" charset="-122"/>
                <a:cs typeface="Calibri" pitchFamily="34" charset="-120"/>
              </a:rPr>
              <a:t>hold 24°, 11° of lock left to recover</a:t>
            </a:r>
            <a:endParaRPr lang="en-US" sz="2400" dirty="0"/>
          </a:p>
          <a:p>
            <a:pPr marL="342900" indent="-342900">
              <a:spcAft>
                <a:spcPts val="1000"/>
              </a:spcAft>
              <a:buSzPct val="100000"/>
              <a:buChar char="•"/>
            </a:pPr>
            <a:r>
              <a:rPr lang="en-US" sz="2400" b="1" dirty="0">
                <a:solidFill>
                  <a:srgbClr val="0E7C86"/>
                </a:solidFill>
                <a:latin typeface="Calibri" pitchFamily="34" charset="0"/>
                <a:ea typeface="Calibri" pitchFamily="34" charset="-122"/>
                <a:cs typeface="Calibri" pitchFamily="34" charset="-120"/>
              </a:rPr>
              <a:t>So: </a:t>
            </a:r>
            <a:pPr indent="0" marL="0">
              <a:buNone/>
            </a:pPr>
            <a:r>
              <a:rPr lang="en-US" sz="2400" dirty="0">
                <a:solidFill>
                  <a:srgbClr val="14212B"/>
                </a:solidFill>
                <a:latin typeface="Calibri" pitchFamily="34" charset="0"/>
                <a:ea typeface="Calibri" pitchFamily="34" charset="-122"/>
                <a:cs typeface="Calibri" pitchFamily="34" charset="-120"/>
              </a:rPr>
              <a:t>NMPC hard limit 60°; planner stays ≤ 52°</a:t>
            </a:r>
            <a:endParaRPr lang="en-US" sz="2400" dirty="0"/>
          </a:p>
        </p:txBody>
      </p:sp>
      <p:pic>
        <p:nvPicPr>
          <p:cNvPr id="9" name="Image 2" descr="Steering needed to hold a hitch angle, peaking at 26.6 degrees; at 60 degrees it is 24 degrees">    </p:cNvPr>
          <p:cNvPicPr>
            <a:picLocks noChangeAspect="1"/>
          </p:cNvPicPr>
          <p:nvPr/>
        </p:nvPicPr>
        <p:blipFill>
          <a:blip r:embed="rId3"/>
          <a:stretch>
            <a:fillRect/>
          </a:stretch>
        </p:blipFill>
        <p:spPr>
          <a:xfrm>
            <a:off x="6583680" y="1325880"/>
            <a:ext cx="5120640" cy="3749040"/>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Hitch-angle regulator (feedback linearisation)</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sp>
        <p:nvSpPr>
          <p:cNvPr id="4" name="Text 2"/>
          <p:cNvSpPr txBox="1"/>
          <p:nvPr/>
        </p:nvSpPr>
        <p:spPr>
          <a:xfrm>
            <a:off x="548640" y="128016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Choose δ by inverting the ψ̇ equation:</a:t>
            </a:r>
            <a:endParaRPr lang="en-US" sz="2400" dirty="0"/>
          </a:p>
        </p:txBody>
      </p:sp>
      <p:pic>
        <p:nvPicPr>
          <p:cNvPr id="5" name="Image 0" descr="tan delta equals L1 times sin psi over L2 minus sign v k psi minus psi desired, over 1 minus d over L2 cos psi">    </p:cNvPr>
          <p:cNvPicPr>
            <a:picLocks noChangeAspect="1"/>
          </p:cNvPicPr>
          <p:nvPr/>
        </p:nvPicPr>
        <p:blipFill>
          <a:blip r:embed="rId1"/>
          <a:stretch>
            <a:fillRect/>
          </a:stretch>
        </p:blipFill>
        <p:spPr>
          <a:xfrm>
            <a:off x="548640" y="1691640"/>
            <a:ext cx="5148072" cy="847344"/>
          </a:xfrm>
          <a:prstGeom prst="rect">
            <a:avLst/>
          </a:prstGeom>
        </p:spPr>
      </p:pic>
      <p:pic>
        <p:nvPicPr>
          <p:cNvPr id="6" name="Image 1" descr="so psi dot equals minus absolute v k times psi minus psi desired">    </p:cNvPr>
          <p:cNvPicPr>
            <a:picLocks noChangeAspect="1"/>
          </p:cNvPicPr>
          <p:nvPr/>
        </p:nvPicPr>
        <p:blipFill>
          <a:blip r:embed="rId2"/>
          <a:stretch>
            <a:fillRect/>
          </a:stretch>
        </p:blipFill>
        <p:spPr>
          <a:xfrm>
            <a:off x="548640" y="2697480"/>
            <a:ext cx="3959352" cy="530352"/>
          </a:xfrm>
          <a:prstGeom prst="rect">
            <a:avLst/>
          </a:prstGeom>
        </p:spPr>
      </p:pic>
      <p:pic>
        <p:nvPicPr>
          <p:cNvPr id="7" name="Image 2" descr="psi of s minus psi desired proportional to e to the minus k s, k = 0.5 per metre">    </p:cNvPr>
          <p:cNvPicPr>
            <a:picLocks noChangeAspect="1"/>
          </p:cNvPicPr>
          <p:nvPr/>
        </p:nvPicPr>
        <p:blipFill>
          <a:blip r:embed="rId3"/>
          <a:stretch>
            <a:fillRect/>
          </a:stretch>
        </p:blipFill>
        <p:spPr>
          <a:xfrm>
            <a:off x="548640" y="3337560"/>
            <a:ext cx="5608320" cy="512064"/>
          </a:xfrm>
          <a:prstGeom prst="rect">
            <a:avLst/>
          </a:prstGeom>
        </p:spPr>
      </p:pic>
      <p:sp>
        <p:nvSpPr>
          <p:cNvPr id="8" name="Text 3"/>
          <p:cNvSpPr txBox="1"/>
          <p:nvPr/>
        </p:nvSpPr>
        <p:spPr>
          <a:xfrm>
            <a:off x="548640" y="4069080"/>
            <a:ext cx="5943600" cy="2011680"/>
          </a:xfrm>
          <a:prstGeom prst="rect">
            <a:avLst/>
          </a:prstGeom>
          <a:noFill/>
          <a:ln/>
        </p:spPr>
        <p:txBody>
          <a:bodyPr wrap="square" lIns="0" tIns="0" rIns="0" bIns="0" rtlCol="0" anchor="t"/>
          <a:lstStyle/>
          <a:p>
            <a:pPr marL="342900" indent="-342900">
              <a:spcAft>
                <a:spcPts val="800"/>
              </a:spcAft>
              <a:buSzPct val="100000"/>
              <a:buChar char="•"/>
            </a:pPr>
            <a:r>
              <a:rPr lang="en-US" sz="2400" b="1" dirty="0">
                <a:solidFill>
                  <a:srgbClr val="0E7C86"/>
                </a:solidFill>
                <a:latin typeface="Calibri" pitchFamily="34" charset="0"/>
                <a:ea typeface="Calibri" pitchFamily="34" charset="-122"/>
                <a:cs typeface="Calibri" pitchFamily="34" charset="-120"/>
              </a:rPr>
              <a:t>Stable in both gears: </a:t>
            </a:r>
            <a:pPr indent="0" marL="0">
              <a:buNone/>
            </a:pPr>
            <a:r>
              <a:rPr lang="en-US" sz="2400" dirty="0">
                <a:solidFill>
                  <a:srgbClr val="14212B"/>
                </a:solidFill>
                <a:latin typeface="Calibri" pitchFamily="34" charset="0"/>
                <a:ea typeface="Calibri" pitchFamily="34" charset="-122"/>
                <a:cs typeface="Calibri" pitchFamily="34" charset="-120"/>
              </a:rPr>
              <a:t>error ×1/e every 2 m</a:t>
            </a:r>
            <a:endParaRPr lang="en-US" sz="2400" dirty="0"/>
          </a:p>
          <a:p>
            <a:pPr marL="342900" indent="-342900">
              <a:spcAft>
                <a:spcPts val="800"/>
              </a:spcAft>
              <a:buSzPct val="100000"/>
              <a:buChar char="•"/>
            </a:pPr>
            <a:r>
              <a:rPr lang="en-US" sz="2400" dirty="0">
                <a:solidFill>
                  <a:srgbClr val="14212B"/>
                </a:solidFill>
                <a:latin typeface="Calibri" pitchFamily="34" charset="0"/>
                <a:ea typeface="Calibri" pitchFamily="34" charset="-122"/>
                <a:cs typeface="Calibri" pitchFamily="34" charset="-120"/>
              </a:rPr>
              <a:t>Builds the planner’s motion primitives</a:t>
            </a:r>
            <a:endParaRPr lang="en-US" sz="2400" dirty="0"/>
          </a:p>
          <a:p>
            <a:pPr marL="342900" indent="-342900">
              <a:spcAft>
                <a:spcPts val="800"/>
              </a:spcAft>
              <a:buSzPct val="100000"/>
              <a:buChar char="•"/>
            </a:pPr>
            <a:r>
              <a:rPr lang="en-US" sz="2400" dirty="0">
                <a:solidFill>
                  <a:srgbClr val="14212B"/>
                </a:solidFill>
                <a:latin typeface="Calibri" pitchFamily="34" charset="0"/>
                <a:ea typeface="Calibri" pitchFamily="34" charset="-122"/>
                <a:cs typeface="Calibri" pitchFamily="34" charset="-120"/>
              </a:rPr>
              <a:t>NMPC’s last-resort fallback</a:t>
            </a:r>
            <a:endParaRPr lang="en-US" sz="2400" dirty="0"/>
          </a:p>
        </p:txBody>
      </p:sp>
      <p:pic>
        <p:nvPicPr>
          <p:cNvPr id="9" name="Image 3" descr="Regulated hitch angle converges to zero within 10 m while the open-loop angle grows">    </p:cNvPr>
          <p:cNvPicPr>
            <a:picLocks noChangeAspect="1"/>
          </p:cNvPicPr>
          <p:nvPr/>
        </p:nvPicPr>
        <p:blipFill>
          <a:blip r:embed="rId4"/>
          <a:stretch>
            <a:fillRect/>
          </a:stretch>
        </p:blipFill>
        <p:spPr>
          <a:xfrm>
            <a:off x="6583680" y="1325880"/>
            <a:ext cx="5120640" cy="3749040"/>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Hybrid A* planner: search and cost</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planner</a:t>
            </a:r>
            <a:endParaRPr lang="en-US" sz="2400" dirty="0"/>
          </a:p>
        </p:txBody>
      </p:sp>
      <p:sp>
        <p:nvSpPr>
          <p:cNvPr id="4" name="Text 2"/>
          <p:cNvSpPr txBox="1"/>
          <p:nvPr/>
        </p:nvSpPr>
        <p:spPr>
          <a:xfrm>
            <a:off x="548640" y="1280160"/>
            <a:ext cx="11064240" cy="1508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Search state (x, y, θ₀, ψ) on a 0.5 m × 5° × 12° lattice [4]</a:t>
            </a:r>
            <a:endParaRPr lang="en-US" sz="2400" dirty="0"/>
          </a:p>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10 motion primitives per node: 2 gears × ψdes ∈ {0, ±25°, ±45°}, 2 m each</a:t>
            </a:r>
            <a:endParaRPr lang="en-US" sz="2400" dirty="0"/>
          </a:p>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Pruned if |ψ| &gt; 52° or clearance &lt; 0.35 m (signed-distance field)</a:t>
            </a:r>
            <a:endParaRPr lang="en-US" sz="2400" dirty="0"/>
          </a:p>
        </p:txBody>
      </p:sp>
      <p:pic>
        <p:nvPicPr>
          <p:cNvPr id="5" name="Image 0" descr="g equals sum of path length times gear cost plus steering, steering change, hitch and gear-switch penalties">    </p:cNvPr>
          <p:cNvPicPr>
            <a:picLocks noChangeAspect="1"/>
          </p:cNvPicPr>
          <p:nvPr/>
        </p:nvPicPr>
        <p:blipFill>
          <a:blip r:embed="rId1"/>
          <a:stretch>
            <a:fillRect/>
          </a:stretch>
        </p:blipFill>
        <p:spPr>
          <a:xfrm>
            <a:off x="548640" y="2788920"/>
            <a:ext cx="9659112" cy="707136"/>
          </a:xfrm>
          <a:prstGeom prst="rect">
            <a:avLst/>
          </a:prstGeom>
        </p:spPr>
      </p:pic>
      <p:sp>
        <p:nvSpPr>
          <p:cNvPr id="6" name="Text 3"/>
          <p:cNvSpPr txBox="1"/>
          <p:nvPr/>
        </p:nvSpPr>
        <p:spPr>
          <a:xfrm>
            <a:off x="548640" y="3657600"/>
            <a:ext cx="5852160" cy="2468880"/>
          </a:xfrm>
          <a:prstGeom prst="rect">
            <a:avLst/>
          </a:prstGeom>
          <a:noFill/>
          <a:ln/>
        </p:spPr>
        <p:txBody>
          <a:bodyPr wrap="square" lIns="0" tIns="0" rIns="0" bIns="0" rtlCol="0" anchor="t"/>
          <a:lstStyle/>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c_gear: </a:t>
            </a:r>
            <a:pPr indent="0" marL="0">
              <a:buNone/>
            </a:pPr>
            <a:r>
              <a:rPr lang="en-US" sz="2400" dirty="0">
                <a:solidFill>
                  <a:srgbClr val="14212B"/>
                </a:solidFill>
                <a:latin typeface="Calibri" pitchFamily="34" charset="0"/>
                <a:ea typeface="Calibri" pitchFamily="34" charset="-122"/>
                <a:cs typeface="Calibri" pitchFamily="34" charset="-120"/>
              </a:rPr>
              <a:t>1.0 forward, 1.4 reverse</a:t>
            </a:r>
            <a:endParaRPr lang="en-US" sz="2400" dirty="0"/>
          </a:p>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ψdes, Δψdes: </a:t>
            </a:r>
            <a:pPr indent="0" marL="0">
              <a:buNone/>
            </a:pPr>
            <a:r>
              <a:rPr lang="en-US" sz="2400" dirty="0">
                <a:solidFill>
                  <a:srgbClr val="14212B"/>
                </a:solidFill>
                <a:latin typeface="Calibri" pitchFamily="34" charset="0"/>
                <a:ea typeface="Calibri" pitchFamily="34" charset="-122"/>
                <a:cs typeface="Calibri" pitchFamily="34" charset="-120"/>
              </a:rPr>
              <a:t>gentle, steady steering</a:t>
            </a:r>
            <a:endParaRPr lang="en-US" sz="2400" dirty="0"/>
          </a:p>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|ψ| / ψplan: </a:t>
            </a:r>
            <a:pPr indent="0" marL="0">
              <a:buNone/>
            </a:pPr>
            <a:r>
              <a:rPr lang="en-US" sz="2400" dirty="0">
                <a:solidFill>
                  <a:srgbClr val="14212B"/>
                </a:solidFill>
                <a:latin typeface="Calibri" pitchFamily="34" charset="0"/>
                <a:ea typeface="Calibri" pitchFamily="34" charset="-122"/>
                <a:cs typeface="Calibri" pitchFamily="34" charset="-120"/>
              </a:rPr>
              <a:t>keep the hitch straight</a:t>
            </a:r>
            <a:endParaRPr lang="en-US" sz="2400" dirty="0"/>
          </a:p>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switch: </a:t>
            </a:r>
            <a:pPr indent="0" marL="0">
              <a:buNone/>
            </a:pPr>
            <a:r>
              <a:rPr lang="en-US" sz="2400" dirty="0">
                <a:solidFill>
                  <a:srgbClr val="14212B"/>
                </a:solidFill>
                <a:latin typeface="Calibri" pitchFamily="34" charset="0"/>
                <a:ea typeface="Calibri" pitchFamily="34" charset="-122"/>
                <a:cs typeface="Calibri" pitchFamily="34" charset="-120"/>
              </a:rPr>
              <a:t>+6 per gear change</a:t>
            </a:r>
            <a:endParaRPr lang="en-US" sz="2400" dirty="0"/>
          </a:p>
        </p:txBody>
      </p:sp>
      <p:pic>
        <p:nvPicPr>
          <p:cNvPr id="7" name="Image 1" descr="Ten motion primitives from one pose: five forward, five reverse">    </p:cNvPr>
          <p:cNvPicPr>
            <a:picLocks noChangeAspect="1"/>
          </p:cNvPicPr>
          <p:nvPr/>
        </p:nvPicPr>
        <p:blipFill>
          <a:blip r:embed="rId2"/>
          <a:stretch>
            <a:fillRect/>
          </a:stretch>
        </p:blipFill>
        <p:spPr>
          <a:xfrm>
            <a:off x="6675120" y="3703320"/>
            <a:ext cx="4937760" cy="1920240"/>
          </a:xfrm>
          <a:prstGeom prst="rect">
            <a:avLst/>
          </a:prstGeom>
        </p:spPr>
      </p:pic>
      <p:sp>
        <p:nvSpPr>
          <p:cNvPr id="8" name="Text 4"/>
          <p:cNvSpPr txBox="1"/>
          <p:nvPr/>
        </p:nvSpPr>
        <p:spPr>
          <a:xfrm>
            <a:off x="6675120" y="5669280"/>
            <a:ext cx="493776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Primitives from one pose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Hybrid A* planner: heuristic and final approach</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planner</a:t>
            </a:r>
            <a:endParaRPr lang="en-US" sz="2400" dirty="0"/>
          </a:p>
        </p:txBody>
      </p:sp>
      <p:sp>
        <p:nvSpPr>
          <p:cNvPr id="4" name="Text 2"/>
          <p:cNvSpPr txBox="1"/>
          <p:nvPr/>
        </p:nvSpPr>
        <p:spPr>
          <a:xfrm>
            <a:off x="548640" y="1280160"/>
            <a:ext cx="67665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Flat output: trailer-axle curvature fixes ψ</a:t>
            </a:r>
            <a:endParaRPr lang="en-US" sz="2400" dirty="0"/>
          </a:p>
        </p:txBody>
      </p:sp>
      <p:pic>
        <p:nvPicPr>
          <p:cNvPr id="5" name="Image 0" descr="kappa1 equals tan psi over L2, equivalently psi equals arctan of L2 kappa1">    </p:cNvPr>
          <p:cNvPicPr>
            <a:picLocks noChangeAspect="1"/>
          </p:cNvPicPr>
          <p:nvPr/>
        </p:nvPicPr>
        <p:blipFill>
          <a:blip r:embed="rId1"/>
          <a:stretch>
            <a:fillRect/>
          </a:stretch>
        </p:blipFill>
        <p:spPr>
          <a:xfrm>
            <a:off x="548640" y="1691640"/>
            <a:ext cx="5574792" cy="670560"/>
          </a:xfrm>
          <a:prstGeom prst="rect">
            <a:avLst/>
          </a:prstGeom>
        </p:spPr>
      </p:pic>
      <p:sp>
        <p:nvSpPr>
          <p:cNvPr id="6" name="Text 3"/>
          <p:cNvSpPr txBox="1"/>
          <p:nvPr/>
        </p:nvSpPr>
        <p:spPr>
          <a:xfrm>
            <a:off x="548640" y="2514600"/>
            <a:ext cx="67665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Heuristic (cost-to-go estimate):</a:t>
            </a:r>
            <a:endParaRPr lang="en-US" sz="2400" dirty="0"/>
          </a:p>
        </p:txBody>
      </p:sp>
      <p:pic>
        <p:nvPicPr>
          <p:cNvPr id="7" name="Image 1" descr="h equals epsilon times max of trailer Dubins distance and grid distance plus 3 absolute psi, epsilon 3">    </p:cNvPr>
          <p:cNvPicPr>
            <a:picLocks noChangeAspect="1"/>
          </p:cNvPicPr>
          <p:nvPr/>
        </p:nvPicPr>
        <p:blipFill>
          <a:blip r:embed="rId2"/>
          <a:stretch>
            <a:fillRect/>
          </a:stretch>
        </p:blipFill>
        <p:spPr>
          <a:xfrm>
            <a:off x="548640" y="2926080"/>
            <a:ext cx="6534912" cy="518160"/>
          </a:xfrm>
          <a:prstGeom prst="rect">
            <a:avLst/>
          </a:prstGeom>
        </p:spPr>
      </p:pic>
      <p:sp>
        <p:nvSpPr>
          <p:cNvPr id="8" name="Text 4"/>
          <p:cNvSpPr txBox="1"/>
          <p:nvPr/>
        </p:nvSpPr>
        <p:spPr>
          <a:xfrm>
            <a:off x="548640" y="3611880"/>
            <a:ext cx="6766560" cy="2560320"/>
          </a:xfrm>
          <a:prstGeom prst="rect">
            <a:avLst/>
          </a:prstGeom>
          <a:noFill/>
          <a:ln/>
        </p:spPr>
        <p:txBody>
          <a:bodyPr wrap="square" lIns="0" tIns="0" rIns="0" bIns="0" rtlCol="0" anchor="t"/>
          <a:lstStyle/>
          <a:p>
            <a:pPr marL="342900" indent="-342900">
              <a:spcAft>
                <a:spcPts val="800"/>
              </a:spcAft>
              <a:buSzPct val="100000"/>
              <a:buChar char="•"/>
            </a:pPr>
            <a:r>
              <a:rPr lang="en-US" sz="2400" b="1" dirty="0">
                <a:solidFill>
                  <a:srgbClr val="14212B"/>
                </a:solidFill>
                <a:latin typeface="Calibri" pitchFamily="34" charset="0"/>
                <a:ea typeface="Calibri" pitchFamily="34" charset="-122"/>
                <a:cs typeface="Calibri" pitchFamily="34" charset="-120"/>
              </a:rPr>
              <a:t>Trailer axle ≈ a car </a:t>
            </a:r>
            <a:pPr indent="0" marL="0">
              <a:buNone/>
            </a:pPr>
            <a:r>
              <a:rPr lang="en-US" sz="2400" dirty="0">
                <a:solidFill>
                  <a:srgbClr val="14212B"/>
                </a:solidFill>
                <a:latin typeface="Calibri" pitchFamily="34" charset="0"/>
                <a:ea typeface="Calibri" pitchFamily="34" charset="-122"/>
                <a:cs typeface="Calibri" pitchFamily="34" charset="-120"/>
              </a:rPr>
              <a:t>whose “steering” is ψ ⇒ Dubins path [5], ρ = 10 m</a:t>
            </a:r>
            <a:endParaRPr lang="en-US" sz="2400" dirty="0"/>
          </a:p>
          <a:p>
            <a:pPr marL="342900" indent="-342900">
              <a:spcAft>
                <a:spcPts val="800"/>
              </a:spcAft>
              <a:buSzPct val="100000"/>
              <a:buChar char="•"/>
            </a:pPr>
            <a:r>
              <a:rPr lang="en-US" sz="2400" b="1" dirty="0">
                <a:solidFill>
                  <a:srgbClr val="14212B"/>
                </a:solidFill>
                <a:latin typeface="Calibri" pitchFamily="34" charset="0"/>
                <a:ea typeface="Calibri" pitchFamily="34" charset="-122"/>
                <a:cs typeface="Calibri" pitchFamily="34" charset="-120"/>
              </a:rPr>
              <a:t>ε = 3: </a:t>
            </a:r>
            <a:pPr indent="0" marL="0">
              <a:buNone/>
            </a:pPr>
            <a:r>
              <a:rPr lang="en-US" sz="2400" dirty="0">
                <a:solidFill>
                  <a:srgbClr val="14212B"/>
                </a:solidFill>
                <a:latin typeface="Calibri" pitchFamily="34" charset="0"/>
                <a:ea typeface="Calibri" pitchFamily="34" charset="-122"/>
                <a:cs typeface="Calibri" pitchFamily="34" charset="-120"/>
              </a:rPr>
              <a:t>weighted A*, plans in 0.1–6 s</a:t>
            </a:r>
            <a:endParaRPr lang="en-US" sz="2400" dirty="0"/>
          </a:p>
          <a:p>
            <a:pPr marL="342900" indent="-342900">
              <a:spcAft>
                <a:spcPts val="800"/>
              </a:spcAft>
              <a:buSzPct val="100000"/>
              <a:buChar char="•"/>
            </a:pPr>
            <a:r>
              <a:rPr lang="en-US" sz="2400" b="1" dirty="0">
                <a:solidFill>
                  <a:srgbClr val="14212B"/>
                </a:solidFill>
                <a:latin typeface="Calibri" pitchFamily="34" charset="0"/>
                <a:ea typeface="Calibri" pitchFamily="34" charset="-122"/>
                <a:cs typeface="Calibri" pitchFamily="34" charset="-120"/>
              </a:rPr>
              <a:t>Analytic shot: </a:t>
            </a:r>
            <a:pPr indent="0" marL="0">
              <a:buNone/>
            </a:pPr>
            <a:r>
              <a:rPr lang="en-US" sz="2400" dirty="0">
                <a:solidFill>
                  <a:srgbClr val="14212B"/>
                </a:solidFill>
                <a:latin typeface="Calibri" pitchFamily="34" charset="0"/>
                <a:ea typeface="Calibri" pitchFamily="34" charset="-122"/>
                <a:cs typeface="Calibri" pitchFamily="34" charset="-120"/>
              </a:rPr>
              <a:t>Dubins path simulated on the real model; kept only if collision-free and it ends in the bay</a:t>
            </a:r>
            <a:endParaRPr lang="en-US" sz="2400" dirty="0"/>
          </a:p>
        </p:txBody>
      </p:sp>
      <p:pic>
        <p:nvPicPr>
          <p:cNvPr id="9" name="Image 2" descr="Shortest Dubins path for the trailer axle: turn, straight, turn">    </p:cNvPr>
          <p:cNvPicPr>
            <a:picLocks noChangeAspect="1"/>
          </p:cNvPicPr>
          <p:nvPr/>
        </p:nvPicPr>
        <p:blipFill>
          <a:blip r:embed="rId3"/>
          <a:stretch>
            <a:fillRect/>
          </a:stretch>
        </p:blipFill>
        <p:spPr>
          <a:xfrm>
            <a:off x="7498080" y="1371600"/>
            <a:ext cx="4206240" cy="3657600"/>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NMPC: the prediction horizon and objective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NMPC</a:t>
            </a:r>
            <a:endParaRPr lang="en-US" sz="2400" dirty="0"/>
          </a:p>
        </p:txBody>
      </p:sp>
      <p:sp>
        <p:nvSpPr>
          <p:cNvPr id="4" name="Text 2"/>
          <p:cNvSpPr txBox="1"/>
          <p:nvPr/>
        </p:nvSpPr>
        <p:spPr>
          <a:xfrm>
            <a:off x="548640" y="123444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Our formulation:</a:t>
            </a:r>
            <a:endParaRPr lang="en-US" sz="2400" dirty="0"/>
          </a:p>
        </p:txBody>
      </p:sp>
      <p:pic>
        <p:nvPicPr>
          <p:cNvPr id="5" name="Image 0" descr="J equals sum of X minus X ref squared weighted by Q plus U squared weighted by R plus delta U squared weighted by S">    </p:cNvPr>
          <p:cNvPicPr>
            <a:picLocks noChangeAspect="1"/>
          </p:cNvPicPr>
          <p:nvPr/>
        </p:nvPicPr>
        <p:blipFill>
          <a:blip r:embed="rId1"/>
          <a:stretch>
            <a:fillRect/>
          </a:stretch>
        </p:blipFill>
        <p:spPr>
          <a:xfrm>
            <a:off x="548640" y="1645920"/>
            <a:ext cx="6867144" cy="588264"/>
          </a:xfrm>
          <a:prstGeom prst="rect">
            <a:avLst/>
          </a:prstGeom>
        </p:spPr>
      </p:pic>
      <p:sp>
        <p:nvSpPr>
          <p:cNvPr id="6" name="Text 3"/>
          <p:cNvSpPr txBox="1"/>
          <p:nvPr/>
        </p:nvSpPr>
        <p:spPr>
          <a:xfrm>
            <a:off x="548640" y="237744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Implemented: horizon 24 × 0.4 s = 9.6 s, 8 steering blocks</a:t>
            </a:r>
            <a:endParaRPr lang="en-US" sz="2400" dirty="0"/>
          </a:p>
        </p:txBody>
      </p:sp>
      <p:pic>
        <p:nvPicPr>
          <p:cNvPr id="7" name="Image 1" descr="minimise over u1 to u8 of J, the sum over 24 steps of stage cost plus terminal cost plus R sum u squared plus S sum of u differences squared">    </p:cNvPr>
          <p:cNvPicPr>
            <a:picLocks noChangeAspect="1"/>
          </p:cNvPicPr>
          <p:nvPr/>
        </p:nvPicPr>
        <p:blipFill>
          <a:blip r:embed="rId2"/>
          <a:stretch>
            <a:fillRect/>
          </a:stretch>
        </p:blipFill>
        <p:spPr>
          <a:xfrm>
            <a:off x="548640" y="2788920"/>
            <a:ext cx="10098024" cy="1097280"/>
          </a:xfrm>
          <a:prstGeom prst="rect">
            <a:avLst/>
          </a:prstGeom>
        </p:spPr>
      </p:pic>
      <p:pic>
        <p:nvPicPr>
          <p:cNvPr id="8" name="Image 2" descr="stage cost weights trailer position 0.6, trailer heading 1.5, hitch 15, tractor position 0.15, tractor heading 0.3">    </p:cNvPr>
          <p:cNvPicPr>
            <a:picLocks noChangeAspect="1"/>
          </p:cNvPicPr>
          <p:nvPr/>
        </p:nvPicPr>
        <p:blipFill>
          <a:blip r:embed="rId3"/>
          <a:stretch>
            <a:fillRect/>
          </a:stretch>
        </p:blipFill>
        <p:spPr>
          <a:xfrm>
            <a:off x="548640" y="3977640"/>
            <a:ext cx="9601200" cy="576072"/>
          </a:xfrm>
          <a:prstGeom prst="rect">
            <a:avLst/>
          </a:prstGeom>
        </p:spPr>
      </p:pic>
      <p:pic>
        <p:nvPicPr>
          <p:cNvPr id="9" name="Image 3" descr="terminal cost weights and R 0.02, S 3">    </p:cNvPr>
          <p:cNvPicPr>
            <a:picLocks noChangeAspect="1"/>
          </p:cNvPicPr>
          <p:nvPr/>
        </p:nvPicPr>
        <p:blipFill>
          <a:blip r:embed="rId4"/>
          <a:stretch>
            <a:fillRect/>
          </a:stretch>
        </p:blipFill>
        <p:spPr>
          <a:xfrm>
            <a:off x="548640" y="4663440"/>
            <a:ext cx="8927592" cy="533400"/>
          </a:xfrm>
          <a:prstGeom prst="rect">
            <a:avLst/>
          </a:prstGeom>
        </p:spPr>
      </p:pic>
      <p:sp>
        <p:nvSpPr>
          <p:cNvPr id="10" name="Text 4"/>
          <p:cNvSpPr txBox="1"/>
          <p:nvPr/>
        </p:nvSpPr>
        <p:spPr>
          <a:xfrm>
            <a:off x="548640" y="5349240"/>
            <a:ext cx="110642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p₁ = trailer axle: the main target, because in reverse the tractor axle is non-minimum-phase [2]</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Preventing the jackknife: NMPC hard constraints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NMPC</a:t>
            </a:r>
            <a:endParaRPr lang="en-US" sz="2400" dirty="0"/>
          </a:p>
        </p:txBody>
      </p:sp>
      <p:sp>
        <p:nvSpPr>
          <p:cNvPr id="4" name="Text 2"/>
          <p:cNvSpPr txBox="1"/>
          <p:nvPr/>
        </p:nvSpPr>
        <p:spPr>
          <a:xfrm>
            <a:off x="548640" y="123444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Single shooting, RK4 prediction:</a:t>
            </a:r>
            <a:endParaRPr lang="en-US" sz="2400" dirty="0"/>
          </a:p>
        </p:txBody>
      </p:sp>
      <p:pic>
        <p:nvPicPr>
          <p:cNvPr id="5" name="Image 0" descr="X k plus 1 equals RK4 of X k, v k and saturated planned steering plus correction u">    </p:cNvPr>
          <p:cNvPicPr>
            <a:picLocks noChangeAspect="1"/>
          </p:cNvPicPr>
          <p:nvPr/>
        </p:nvPicPr>
        <p:blipFill>
          <a:blip r:embed="rId1"/>
          <a:stretch>
            <a:fillRect/>
          </a:stretch>
        </p:blipFill>
        <p:spPr>
          <a:xfrm>
            <a:off x="548640" y="1645920"/>
            <a:ext cx="8089392" cy="573024"/>
          </a:xfrm>
          <a:prstGeom prst="rect">
            <a:avLst/>
          </a:prstGeom>
        </p:spPr>
      </p:pic>
      <p:sp>
        <p:nvSpPr>
          <p:cNvPr id="6" name="Text 3"/>
          <p:cNvSpPr txBox="1"/>
          <p:nvPr/>
        </p:nvSpPr>
        <p:spPr>
          <a:xfrm>
            <a:off x="548640" y="233172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Hard constraints at every step k:</a:t>
            </a:r>
            <a:endParaRPr lang="en-US" sz="2400" dirty="0"/>
          </a:p>
        </p:txBody>
      </p:sp>
      <p:pic>
        <p:nvPicPr>
          <p:cNvPr id="7" name="Image 1" descr="absolute psi at most 60 degrees, correction at most 35 degrees, clearance at least 0.25 m">    </p:cNvPr>
          <p:cNvPicPr>
            <a:picLocks noChangeAspect="1"/>
          </p:cNvPicPr>
          <p:nvPr/>
        </p:nvPicPr>
        <p:blipFill>
          <a:blip r:embed="rId2"/>
          <a:stretch>
            <a:fillRect/>
          </a:stretch>
        </p:blipFill>
        <p:spPr>
          <a:xfrm>
            <a:off x="548640" y="2743200"/>
            <a:ext cx="6315456" cy="490728"/>
          </a:xfrm>
          <a:prstGeom prst="rect">
            <a:avLst/>
          </a:prstGeom>
        </p:spPr>
      </p:pic>
      <p:sp>
        <p:nvSpPr>
          <p:cNvPr id="8" name="Text 4"/>
          <p:cNvSpPr txBox="1"/>
          <p:nvPr/>
        </p:nvSpPr>
        <p:spPr>
          <a:xfrm>
            <a:off x="548640" y="3474720"/>
            <a:ext cx="5669280" cy="411480"/>
          </a:xfrm>
          <a:prstGeom prst="rect">
            <a:avLst/>
          </a:prstGeom>
          <a:noFill/>
          <a:ln/>
        </p:spPr>
        <p:txBody>
          <a:bodyPr wrap="square" lIns="0" tIns="0" rIns="0" bIns="0" rtlCol="0" anchor="t"/>
          <a:lstStyle/>
          <a:p>
            <a:pPr algn="l" indent="0" marL="0">
              <a:buNone/>
            </a:pPr>
            <a:r>
              <a:rPr lang="en-US" sz="2400" b="1" dirty="0">
                <a:solidFill>
                  <a:srgbClr val="0E7C86"/>
                </a:solidFill>
                <a:latin typeface="Calibri" pitchFamily="34" charset="0"/>
                <a:ea typeface="Calibri" pitchFamily="34" charset="-122"/>
                <a:cs typeface="Calibri" pitchFamily="34" charset="-120"/>
              </a:rPr>
              <a:t>horizon 9.6 s = 8 × 1.2 s</a:t>
            </a:r>
            <a:endParaRPr lang="en-US" sz="2400" dirty="0"/>
          </a:p>
        </p:txBody>
      </p:sp>
      <p:sp>
        <p:nvSpPr>
          <p:cNvPr id="9" name="Shape 5"/>
          <p:cNvSpPr/>
          <p:nvPr/>
        </p:nvSpPr>
        <p:spPr>
          <a:xfrm>
            <a:off x="548640" y="3977640"/>
            <a:ext cx="640080" cy="548640"/>
          </a:xfrm>
          <a:prstGeom prst="rect">
            <a:avLst/>
          </a:prstGeom>
          <a:solidFill>
            <a:srgbClr val="0E7C86"/>
          </a:solidFill>
          <a:ln w="12700">
            <a:solidFill>
              <a:srgbClr val="0E7C86"/>
            </a:solidFill>
            <a:prstDash val="solid"/>
          </a:ln>
        </p:spPr>
      </p:sp>
      <p:sp>
        <p:nvSpPr>
          <p:cNvPr id="10" name="Text 6"/>
          <p:cNvSpPr txBox="1"/>
          <p:nvPr/>
        </p:nvSpPr>
        <p:spPr>
          <a:xfrm>
            <a:off x="548640" y="3977640"/>
            <a:ext cx="64008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u₁</a:t>
            </a:r>
            <a:endParaRPr lang="en-US" sz="2400" dirty="0"/>
          </a:p>
        </p:txBody>
      </p:sp>
      <p:sp>
        <p:nvSpPr>
          <p:cNvPr id="11" name="Shape 7"/>
          <p:cNvSpPr/>
          <p:nvPr/>
        </p:nvSpPr>
        <p:spPr>
          <a:xfrm>
            <a:off x="1243584" y="3977640"/>
            <a:ext cx="640080" cy="548640"/>
          </a:xfrm>
          <a:prstGeom prst="rect">
            <a:avLst/>
          </a:prstGeom>
          <a:solidFill>
            <a:srgbClr val="E8F3F4"/>
          </a:solidFill>
          <a:ln w="12700">
            <a:solidFill>
              <a:srgbClr val="0E7C86"/>
            </a:solidFill>
            <a:prstDash val="solid"/>
          </a:ln>
        </p:spPr>
      </p:sp>
      <p:sp>
        <p:nvSpPr>
          <p:cNvPr id="12" name="Text 8"/>
          <p:cNvSpPr txBox="1"/>
          <p:nvPr/>
        </p:nvSpPr>
        <p:spPr>
          <a:xfrm>
            <a:off x="1243584"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u₂</a:t>
            </a:r>
            <a:endParaRPr lang="en-US" sz="2400" dirty="0"/>
          </a:p>
        </p:txBody>
      </p:sp>
      <p:sp>
        <p:nvSpPr>
          <p:cNvPr id="13" name="Shape 9"/>
          <p:cNvSpPr/>
          <p:nvPr/>
        </p:nvSpPr>
        <p:spPr>
          <a:xfrm>
            <a:off x="1938528" y="3977640"/>
            <a:ext cx="640080" cy="548640"/>
          </a:xfrm>
          <a:prstGeom prst="rect">
            <a:avLst/>
          </a:prstGeom>
          <a:solidFill>
            <a:srgbClr val="E8F3F4"/>
          </a:solidFill>
          <a:ln w="12700">
            <a:solidFill>
              <a:srgbClr val="0E7C86"/>
            </a:solidFill>
            <a:prstDash val="solid"/>
          </a:ln>
        </p:spPr>
      </p:sp>
      <p:sp>
        <p:nvSpPr>
          <p:cNvPr id="14" name="Text 10"/>
          <p:cNvSpPr txBox="1"/>
          <p:nvPr/>
        </p:nvSpPr>
        <p:spPr>
          <a:xfrm>
            <a:off x="1938528"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u₃</a:t>
            </a:r>
            <a:endParaRPr lang="en-US" sz="2400" dirty="0"/>
          </a:p>
        </p:txBody>
      </p:sp>
      <p:sp>
        <p:nvSpPr>
          <p:cNvPr id="15" name="Shape 11"/>
          <p:cNvSpPr/>
          <p:nvPr/>
        </p:nvSpPr>
        <p:spPr>
          <a:xfrm>
            <a:off x="2633472" y="3977640"/>
            <a:ext cx="640080" cy="548640"/>
          </a:xfrm>
          <a:prstGeom prst="rect">
            <a:avLst/>
          </a:prstGeom>
          <a:solidFill>
            <a:srgbClr val="E8F3F4"/>
          </a:solidFill>
          <a:ln w="12700">
            <a:solidFill>
              <a:srgbClr val="0E7C86"/>
            </a:solidFill>
            <a:prstDash val="solid"/>
          </a:ln>
        </p:spPr>
      </p:sp>
      <p:sp>
        <p:nvSpPr>
          <p:cNvPr id="16" name="Text 12"/>
          <p:cNvSpPr txBox="1"/>
          <p:nvPr/>
        </p:nvSpPr>
        <p:spPr>
          <a:xfrm>
            <a:off x="2633472"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u₄</a:t>
            </a:r>
            <a:endParaRPr lang="en-US" sz="2400" dirty="0"/>
          </a:p>
        </p:txBody>
      </p:sp>
      <p:sp>
        <p:nvSpPr>
          <p:cNvPr id="17" name="Shape 13"/>
          <p:cNvSpPr/>
          <p:nvPr/>
        </p:nvSpPr>
        <p:spPr>
          <a:xfrm>
            <a:off x="3328416" y="3977640"/>
            <a:ext cx="640080" cy="548640"/>
          </a:xfrm>
          <a:prstGeom prst="rect">
            <a:avLst/>
          </a:prstGeom>
          <a:solidFill>
            <a:srgbClr val="E8F3F4"/>
          </a:solidFill>
          <a:ln w="12700">
            <a:solidFill>
              <a:srgbClr val="0E7C86"/>
            </a:solidFill>
            <a:prstDash val="solid"/>
          </a:ln>
        </p:spPr>
      </p:sp>
      <p:sp>
        <p:nvSpPr>
          <p:cNvPr id="18" name="Text 14"/>
          <p:cNvSpPr txBox="1"/>
          <p:nvPr/>
        </p:nvSpPr>
        <p:spPr>
          <a:xfrm>
            <a:off x="3328416"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u₅</a:t>
            </a:r>
            <a:endParaRPr lang="en-US" sz="2400" dirty="0"/>
          </a:p>
        </p:txBody>
      </p:sp>
      <p:sp>
        <p:nvSpPr>
          <p:cNvPr id="19" name="Shape 15"/>
          <p:cNvSpPr/>
          <p:nvPr/>
        </p:nvSpPr>
        <p:spPr>
          <a:xfrm>
            <a:off x="4023360" y="3977640"/>
            <a:ext cx="640080" cy="548640"/>
          </a:xfrm>
          <a:prstGeom prst="rect">
            <a:avLst/>
          </a:prstGeom>
          <a:solidFill>
            <a:srgbClr val="E8F3F4"/>
          </a:solidFill>
          <a:ln w="12700">
            <a:solidFill>
              <a:srgbClr val="0E7C86"/>
            </a:solidFill>
            <a:prstDash val="solid"/>
          </a:ln>
        </p:spPr>
      </p:sp>
      <p:sp>
        <p:nvSpPr>
          <p:cNvPr id="20" name="Text 16"/>
          <p:cNvSpPr txBox="1"/>
          <p:nvPr/>
        </p:nvSpPr>
        <p:spPr>
          <a:xfrm>
            <a:off x="4023360"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u₆</a:t>
            </a:r>
            <a:endParaRPr lang="en-US" sz="2400" dirty="0"/>
          </a:p>
        </p:txBody>
      </p:sp>
      <p:sp>
        <p:nvSpPr>
          <p:cNvPr id="21" name="Shape 17"/>
          <p:cNvSpPr/>
          <p:nvPr/>
        </p:nvSpPr>
        <p:spPr>
          <a:xfrm>
            <a:off x="4718304" y="3977640"/>
            <a:ext cx="640080" cy="548640"/>
          </a:xfrm>
          <a:prstGeom prst="rect">
            <a:avLst/>
          </a:prstGeom>
          <a:solidFill>
            <a:srgbClr val="E8F3F4"/>
          </a:solidFill>
          <a:ln w="12700">
            <a:solidFill>
              <a:srgbClr val="0E7C86"/>
            </a:solidFill>
            <a:prstDash val="solid"/>
          </a:ln>
        </p:spPr>
      </p:sp>
      <p:sp>
        <p:nvSpPr>
          <p:cNvPr id="22" name="Text 18"/>
          <p:cNvSpPr txBox="1"/>
          <p:nvPr/>
        </p:nvSpPr>
        <p:spPr>
          <a:xfrm>
            <a:off x="4718304"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u₇</a:t>
            </a:r>
            <a:endParaRPr lang="en-US" sz="2400" dirty="0"/>
          </a:p>
        </p:txBody>
      </p:sp>
      <p:sp>
        <p:nvSpPr>
          <p:cNvPr id="23" name="Shape 19"/>
          <p:cNvSpPr/>
          <p:nvPr/>
        </p:nvSpPr>
        <p:spPr>
          <a:xfrm>
            <a:off x="5413248" y="3977640"/>
            <a:ext cx="640080" cy="548640"/>
          </a:xfrm>
          <a:prstGeom prst="rect">
            <a:avLst/>
          </a:prstGeom>
          <a:solidFill>
            <a:srgbClr val="E8F3F4"/>
          </a:solidFill>
          <a:ln w="12700">
            <a:solidFill>
              <a:srgbClr val="0E7C86"/>
            </a:solidFill>
            <a:prstDash val="solid"/>
          </a:ln>
        </p:spPr>
      </p:sp>
      <p:sp>
        <p:nvSpPr>
          <p:cNvPr id="24" name="Text 20"/>
          <p:cNvSpPr txBox="1"/>
          <p:nvPr/>
        </p:nvSpPr>
        <p:spPr>
          <a:xfrm>
            <a:off x="5413248"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u₈</a:t>
            </a:r>
            <a:endParaRPr lang="en-US" sz="2400" dirty="0"/>
          </a:p>
        </p:txBody>
      </p:sp>
      <p:sp>
        <p:nvSpPr>
          <p:cNvPr id="25" name="Shape 21"/>
          <p:cNvSpPr/>
          <p:nvPr/>
        </p:nvSpPr>
        <p:spPr>
          <a:xfrm>
            <a:off x="868680" y="4617720"/>
            <a:ext cx="0" cy="365760"/>
          </a:xfrm>
          <a:prstGeom prst="line">
            <a:avLst/>
          </a:prstGeom>
          <a:noFill/>
          <a:ln w="31750">
            <a:solidFill>
              <a:srgbClr val="0E7C86"/>
            </a:solidFill>
            <a:prstDash val="solid"/>
            <a:tailEnd type="triangle"/>
          </a:ln>
        </p:spPr>
      </p:sp>
      <p:sp>
        <p:nvSpPr>
          <p:cNvPr id="26" name="Text 22"/>
          <p:cNvSpPr txBox="1"/>
          <p:nvPr/>
        </p:nvSpPr>
        <p:spPr>
          <a:xfrm>
            <a:off x="548640" y="5029200"/>
            <a:ext cx="5669280" cy="4114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apply u₁ for 0.25 s, then re-solve</a:t>
            </a:r>
            <a:endParaRPr lang="en-US" sz="2400" dirty="0"/>
          </a:p>
        </p:txBody>
      </p:sp>
      <p:sp>
        <p:nvSpPr>
          <p:cNvPr id="27" name="Text 23"/>
          <p:cNvSpPr txBox="1"/>
          <p:nvPr/>
        </p:nvSpPr>
        <p:spPr>
          <a:xfrm>
            <a:off x="6583680" y="3520440"/>
            <a:ext cx="5074920" cy="237744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4212B"/>
                </a:solidFill>
                <a:latin typeface="Calibri" pitchFamily="34" charset="0"/>
                <a:ea typeface="Calibri" pitchFamily="34" charset="-122"/>
                <a:cs typeface="Calibri" pitchFamily="34" charset="-120"/>
              </a:rPr>
              <a:t>8 unknowns: </a:t>
            </a:r>
            <a:pPr indent="0" marL="0">
              <a:buNone/>
            </a:pPr>
            <a:r>
              <a:rPr lang="en-US" sz="2400" dirty="0">
                <a:solidFill>
                  <a:srgbClr val="14212B"/>
                </a:solidFill>
                <a:latin typeface="Calibri" pitchFamily="34" charset="0"/>
                <a:ea typeface="Calibri" pitchFamily="34" charset="-122"/>
                <a:cs typeface="Calibri" pitchFamily="34" charset="-120"/>
              </a:rPr>
              <a:t>steering corrections</a:t>
            </a:r>
            <a:endParaRPr lang="en-US" sz="2400" dirty="0"/>
          </a:p>
          <a:p>
            <a:pPr marL="342900" indent="-342900">
              <a:spcAft>
                <a:spcPts val="1200"/>
              </a:spcAft>
              <a:buSzPct val="100000"/>
              <a:buChar char="•"/>
            </a:pPr>
            <a:r>
              <a:rPr lang="en-US" sz="2400" b="1" dirty="0">
                <a:solidFill>
                  <a:srgbClr val="14212B"/>
                </a:solidFill>
                <a:latin typeface="Calibri" pitchFamily="34" charset="0"/>
                <a:ea typeface="Calibri" pitchFamily="34" charset="-122"/>
                <a:cs typeface="Calibri" pitchFamily="34" charset="-120"/>
              </a:rPr>
              <a:t>SLSQP [6] </a:t>
            </a:r>
            <a:pPr indent="0" marL="0">
              <a:buNone/>
            </a:pPr>
            <a:r>
              <a:rPr lang="en-US" sz="2400" dirty="0">
                <a:solidFill>
                  <a:srgbClr val="14212B"/>
                </a:solidFill>
                <a:latin typeface="Calibri" pitchFamily="34" charset="0"/>
                <a:ea typeface="Calibri" pitchFamily="34" charset="-122"/>
                <a:cs typeface="Calibri" pitchFamily="34" charset="-120"/>
              </a:rPr>
              <a:t>(SciPy [8]), warm start</a:t>
            </a:r>
            <a:endParaRPr lang="en-US" sz="2400" dirty="0"/>
          </a:p>
          <a:p>
            <a:pPr marL="342900" indent="-342900">
              <a:spcAft>
                <a:spcPts val="1200"/>
              </a:spcAft>
              <a:buSzPct val="100000"/>
              <a:buChar char="•"/>
            </a:pPr>
            <a:r>
              <a:rPr lang="en-US" sz="2400" b="1" dirty="0">
                <a:solidFill>
                  <a:srgbClr val="14212B"/>
                </a:solidFill>
                <a:latin typeface="Calibri" pitchFamily="34" charset="0"/>
                <a:ea typeface="Calibri" pitchFamily="34" charset="-122"/>
                <a:cs typeface="Calibri" pitchFamily="34" charset="-120"/>
              </a:rPr>
              <a:t>Fallback: </a:t>
            </a:r>
            <a:pPr indent="0" marL="0">
              <a:buNone/>
            </a:pPr>
            <a:r>
              <a:rPr lang="en-US" sz="2400" dirty="0">
                <a:solidFill>
                  <a:srgbClr val="14212B"/>
                </a:solidFill>
                <a:latin typeface="Calibri" pitchFamily="34" charset="0"/>
                <a:ea typeface="Calibri" pitchFamily="34" charset="-122"/>
                <a:cs typeface="Calibri" pitchFamily="34" charset="-120"/>
              </a:rPr>
              <a:t>ψ-only, then regulator</a:t>
            </a:r>
            <a:endParaRPr lang="en-US" sz="2400" dirty="0"/>
          </a:p>
          <a:p>
            <a:pPr marL="342900" indent="-342900">
              <a:spcAft>
                <a:spcPts val="1200"/>
              </a:spcAft>
              <a:buSzPct val="100000"/>
              <a:buChar char="•"/>
            </a:pPr>
            <a:r>
              <a:rPr lang="en-US" sz="2400" b="1" dirty="0">
                <a:solidFill>
                  <a:srgbClr val="0E7C86"/>
                </a:solidFill>
                <a:latin typeface="Calibri" pitchFamily="34" charset="0"/>
                <a:ea typeface="Calibri" pitchFamily="34" charset="-122"/>
                <a:cs typeface="Calibri" pitchFamily="34" charset="-120"/>
              </a:rPr>
              <a:t>94–154 ms </a:t>
            </a:r>
            <a:pPr indent="0" marL="0">
              <a:buNone/>
            </a:pPr>
            <a:r>
              <a:rPr lang="en-US" sz="2400" dirty="0">
                <a:solidFill>
                  <a:srgbClr val="14212B"/>
                </a:solidFill>
                <a:latin typeface="Calibri" pitchFamily="34" charset="0"/>
                <a:ea typeface="Calibri" pitchFamily="34" charset="-122"/>
                <a:cs typeface="Calibri" pitchFamily="34" charset="-120"/>
              </a:rPr>
              <a:t>per solve (≤ 250 ms)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From optimal control to driver instructions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advisor</a:t>
            </a:r>
            <a:endParaRPr lang="en-US" sz="2400" dirty="0"/>
          </a:p>
        </p:txBody>
      </p:sp>
      <p:pic>
        <p:nvPicPr>
          <p:cNvPr id="4" name="Image 0" descr="Guidance bar: step 5 of 9, counter-steer right, steering 1.23 turns right against advised 1 turn right, speed 1.9 km/h against 2 km/h, 4 m more">    </p:cNvPr>
          <p:cNvPicPr>
            <a:picLocks noChangeAspect="1"/>
          </p:cNvPicPr>
          <p:nvPr/>
        </p:nvPicPr>
        <p:blipFill>
          <a:blip r:embed="rId1"/>
          <a:stretch>
            <a:fillRect/>
          </a:stretch>
        </p:blipFill>
        <p:spPr>
          <a:xfrm>
            <a:off x="548640" y="1246705"/>
            <a:ext cx="11064240" cy="1072750"/>
          </a:xfrm>
          <a:prstGeom prst="rect">
            <a:avLst/>
          </a:prstGeom>
        </p:spPr>
      </p:pic>
      <p:sp>
        <p:nvSpPr>
          <p:cNvPr id="5" name="Text 2"/>
          <p:cNvSpPr txBox="1"/>
          <p:nvPr/>
        </p:nvSpPr>
        <p:spPr>
          <a:xfrm>
            <a:off x="548640" y="2514600"/>
            <a:ext cx="658368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Steering-wheel turns (20:1 ratio):</a:t>
            </a:r>
            <a:endParaRPr lang="en-US" sz="2400" dirty="0"/>
          </a:p>
        </p:txBody>
      </p:sp>
      <p:pic>
        <p:nvPicPr>
          <p:cNvPr id="6" name="Image 1" descr="n turns equals delta times 20 over 360 degrees; 35 degrees of lock is 1.94 turns">    </p:cNvPr>
          <p:cNvPicPr>
            <a:picLocks noChangeAspect="1"/>
          </p:cNvPicPr>
          <p:nvPr/>
        </p:nvPicPr>
        <p:blipFill>
          <a:blip r:embed="rId2"/>
          <a:stretch>
            <a:fillRect/>
          </a:stretch>
        </p:blipFill>
        <p:spPr>
          <a:xfrm>
            <a:off x="548640" y="2926080"/>
            <a:ext cx="6595872" cy="591312"/>
          </a:xfrm>
          <a:prstGeom prst="rect">
            <a:avLst/>
          </a:prstGeom>
        </p:spPr>
      </p:pic>
      <p:sp>
        <p:nvSpPr>
          <p:cNvPr id="7" name="Shape 3"/>
          <p:cNvSpPr/>
          <p:nvPr/>
        </p:nvSpPr>
        <p:spPr>
          <a:xfrm>
            <a:off x="7498080" y="2514600"/>
            <a:ext cx="4114800" cy="1097280"/>
          </a:xfrm>
          <a:prstGeom prst="roundRect">
            <a:avLst>
              <a:gd name="adj" fmla="val 10000"/>
            </a:avLst>
          </a:prstGeom>
          <a:solidFill>
            <a:srgbClr val="FBF1E3"/>
          </a:solidFill>
          <a:ln/>
        </p:spPr>
      </p:sp>
      <p:sp>
        <p:nvSpPr>
          <p:cNvPr id="8" name="Text 4"/>
          <p:cNvSpPr txBox="1"/>
          <p:nvPr/>
        </p:nvSpPr>
        <p:spPr>
          <a:xfrm>
            <a:off x="7680960" y="2514600"/>
            <a:ext cx="3840480" cy="109728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Reverse · 2 km/h</a:t>
            </a:r>
            <a:endParaRPr lang="en-US" sz="2400" dirty="0"/>
          </a:p>
          <a:p>
            <a:pPr algn="ctr" indent="0" marL="0">
              <a:buNone/>
            </a:pPr>
            <a:r>
              <a:rPr lang="en-US" sz="2400" b="1" dirty="0">
                <a:solidFill>
                  <a:srgbClr val="14212B"/>
                </a:solidFill>
                <a:latin typeface="Calibri" pitchFamily="34" charset="0"/>
                <a:ea typeface="Calibri" pitchFamily="34" charset="-122"/>
                <a:cs typeface="Calibri" pitchFamily="34" charset="-120"/>
              </a:rPr>
              <a:t>1 turn right · 9 m</a:t>
            </a:r>
            <a:endParaRPr lang="en-US" sz="2400" dirty="0"/>
          </a:p>
        </p:txBody>
      </p:sp>
      <p:sp>
        <p:nvSpPr>
          <p:cNvPr id="9" name="Text 5"/>
          <p:cNvSpPr txBox="1"/>
          <p:nvPr/>
        </p:nvSpPr>
        <p:spPr>
          <a:xfrm>
            <a:off x="548640" y="370332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Speed schedule along the path:</a:t>
            </a:r>
            <a:endParaRPr lang="en-US" sz="2400" dirty="0"/>
          </a:p>
        </p:txBody>
      </p:sp>
      <p:pic>
        <p:nvPicPr>
          <p:cNvPr id="10" name="Image 2" descr="v of s is at most the minimum of a steering-based cap, acceleration limit and braking limit">    </p:cNvPr>
          <p:cNvPicPr>
            <a:picLocks noChangeAspect="1"/>
          </p:cNvPicPr>
          <p:nvPr/>
        </p:nvPicPr>
        <p:blipFill>
          <a:blip r:embed="rId3"/>
          <a:stretch>
            <a:fillRect/>
          </a:stretch>
        </p:blipFill>
        <p:spPr>
          <a:xfrm>
            <a:off x="548640" y="4114800"/>
            <a:ext cx="8939784" cy="676656"/>
          </a:xfrm>
          <a:prstGeom prst="rect">
            <a:avLst/>
          </a:prstGeom>
        </p:spPr>
      </p:pic>
      <p:sp>
        <p:nvSpPr>
          <p:cNvPr id="11" name="Text 6"/>
          <p:cNvSpPr txBox="1"/>
          <p:nvPr/>
        </p:nvSpPr>
        <p:spPr>
          <a:xfrm>
            <a:off x="548640" y="4983480"/>
            <a:ext cx="11064240" cy="11887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Quantised to ¼ turn; phases &lt; 4 m merged ⇒ 6–16 instructions</a:t>
            </a:r>
            <a:endParaRPr lang="en-US" sz="2400" dirty="0"/>
          </a:p>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Each: gear · km/h · wheel turns · hold distance · hitch margin</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Test scenarios: 4 layouts × 6 random fills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Cross layout">    </p:cNvPr>
          <p:cNvPicPr>
            <a:picLocks noChangeAspect="1"/>
          </p:cNvPicPr>
          <p:nvPr/>
        </p:nvPicPr>
        <p:blipFill>
          <a:blip r:embed="rId1"/>
          <a:stretch>
            <a:fillRect/>
          </a:stretch>
        </p:blipFill>
        <p:spPr>
          <a:xfrm>
            <a:off x="548640" y="1280160"/>
            <a:ext cx="1965068" cy="2148840"/>
          </a:xfrm>
          <a:prstGeom prst="rect">
            <a:avLst/>
          </a:prstGeom>
        </p:spPr>
      </p:pic>
      <p:sp>
        <p:nvSpPr>
          <p:cNvPr id="5" name="Text 2"/>
          <p:cNvSpPr txBox="1"/>
          <p:nvPr/>
        </p:nvSpPr>
        <p:spPr>
          <a:xfrm>
            <a:off x="2788028" y="1874520"/>
            <a:ext cx="2743200" cy="91440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Cross 90°</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24 free bays</a:t>
            </a:r>
            <a:endParaRPr lang="en-US" sz="2400" dirty="0"/>
          </a:p>
        </p:txBody>
      </p:sp>
      <p:pic>
        <p:nvPicPr>
          <p:cNvPr id="6" name="Image 1" descr="Angled layout">    </p:cNvPr>
          <p:cNvPicPr>
            <a:picLocks noChangeAspect="1"/>
          </p:cNvPicPr>
          <p:nvPr/>
        </p:nvPicPr>
        <p:blipFill>
          <a:blip r:embed="rId2"/>
          <a:stretch>
            <a:fillRect/>
          </a:stretch>
        </p:blipFill>
        <p:spPr>
          <a:xfrm>
            <a:off x="6263640" y="1280160"/>
            <a:ext cx="1948948" cy="2148840"/>
          </a:xfrm>
          <a:prstGeom prst="rect">
            <a:avLst/>
          </a:prstGeom>
        </p:spPr>
      </p:pic>
      <p:sp>
        <p:nvSpPr>
          <p:cNvPr id="7" name="Text 3"/>
          <p:cNvSpPr txBox="1"/>
          <p:nvPr/>
        </p:nvSpPr>
        <p:spPr>
          <a:xfrm>
            <a:off x="8486908" y="1874520"/>
            <a:ext cx="2743200" cy="91440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Angled 60°</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24 free bays</a:t>
            </a:r>
            <a:endParaRPr lang="en-US" sz="2400" dirty="0"/>
          </a:p>
        </p:txBody>
      </p:sp>
      <p:pic>
        <p:nvPicPr>
          <p:cNvPr id="8" name="Image 2" descr="Parallel layout">    </p:cNvPr>
          <p:cNvPicPr>
            <a:picLocks noChangeAspect="1"/>
          </p:cNvPicPr>
          <p:nvPr/>
        </p:nvPicPr>
        <p:blipFill>
          <a:blip r:embed="rId3"/>
          <a:stretch>
            <a:fillRect/>
          </a:stretch>
        </p:blipFill>
        <p:spPr>
          <a:xfrm>
            <a:off x="548640" y="3703320"/>
            <a:ext cx="5394960" cy="1407263"/>
          </a:xfrm>
          <a:prstGeom prst="rect">
            <a:avLst/>
          </a:prstGeom>
        </p:spPr>
      </p:pic>
      <p:sp>
        <p:nvSpPr>
          <p:cNvPr id="9" name="Text 4"/>
          <p:cNvSpPr txBox="1"/>
          <p:nvPr/>
        </p:nvSpPr>
        <p:spPr>
          <a:xfrm>
            <a:off x="548640" y="5257800"/>
            <a:ext cx="5394960" cy="4114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Parallel · 24 free bays</a:t>
            </a:r>
            <a:endParaRPr lang="en-US" sz="2400" dirty="0"/>
          </a:p>
        </p:txBody>
      </p:sp>
      <p:pic>
        <p:nvPicPr>
          <p:cNvPr id="10" name="Image 3" descr="Tandem layout">    </p:cNvPr>
          <p:cNvPicPr>
            <a:picLocks noChangeAspect="1"/>
          </p:cNvPicPr>
          <p:nvPr/>
        </p:nvPicPr>
        <p:blipFill>
          <a:blip r:embed="rId4"/>
          <a:stretch>
            <a:fillRect/>
          </a:stretch>
        </p:blipFill>
        <p:spPr>
          <a:xfrm>
            <a:off x="6263640" y="3703320"/>
            <a:ext cx="5394960" cy="1162657"/>
          </a:xfrm>
          <a:prstGeom prst="rect">
            <a:avLst/>
          </a:prstGeom>
        </p:spPr>
      </p:pic>
      <p:sp>
        <p:nvSpPr>
          <p:cNvPr id="11" name="Text 5"/>
          <p:cNvSpPr txBox="1"/>
          <p:nvPr/>
        </p:nvSpPr>
        <p:spPr>
          <a:xfrm>
            <a:off x="6263640" y="5257800"/>
            <a:ext cx="5394960" cy="4114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Tandem (forward in) · 38 free bays</a:t>
            </a:r>
            <a:endParaRPr lang="en-US" sz="2400" dirty="0"/>
          </a:p>
        </p:txBody>
      </p:sp>
      <p:sp>
        <p:nvSpPr>
          <p:cNvPr id="12" name="Text 6"/>
          <p:cNvSpPr txBox="1"/>
          <p:nvPr/>
        </p:nvSpPr>
        <p:spPr>
          <a:xfrm>
            <a:off x="548640" y="5760720"/>
            <a:ext cx="1106424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110 free bays: every one planned, driven and checked</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Evaluation protocol</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sp>
        <p:nvSpPr>
          <p:cNvPr id="4" name="Shape 2"/>
          <p:cNvSpPr/>
          <p:nvPr/>
        </p:nvSpPr>
        <p:spPr>
          <a:xfrm>
            <a:off x="548640" y="1325880"/>
            <a:ext cx="2514600" cy="960120"/>
          </a:xfrm>
          <a:prstGeom prst="roundRect">
            <a:avLst>
              <a:gd name="adj" fmla="val 11429"/>
            </a:avLst>
          </a:prstGeom>
          <a:solidFill>
            <a:srgbClr val="E8F3F4"/>
          </a:solidFill>
          <a:ln/>
        </p:spPr>
      </p:sp>
      <p:sp>
        <p:nvSpPr>
          <p:cNvPr id="5" name="Text 3"/>
          <p:cNvSpPr txBox="1"/>
          <p:nvPr/>
        </p:nvSpPr>
        <p:spPr>
          <a:xfrm>
            <a:off x="640080" y="1325880"/>
            <a:ext cx="2331720" cy="96012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Plan (Hybrid A*)</a:t>
            </a:r>
            <a:endParaRPr lang="en-US" sz="2400" dirty="0"/>
          </a:p>
        </p:txBody>
      </p:sp>
      <p:sp>
        <p:nvSpPr>
          <p:cNvPr id="6" name="Shape 4"/>
          <p:cNvSpPr/>
          <p:nvPr/>
        </p:nvSpPr>
        <p:spPr>
          <a:xfrm>
            <a:off x="3108960" y="1801368"/>
            <a:ext cx="246888" cy="0"/>
          </a:xfrm>
          <a:prstGeom prst="line">
            <a:avLst/>
          </a:prstGeom>
          <a:noFill/>
          <a:ln w="31750">
            <a:solidFill>
              <a:srgbClr val="14212B"/>
            </a:solidFill>
            <a:prstDash val="solid"/>
            <a:tailEnd type="triangle"/>
          </a:ln>
        </p:spPr>
      </p:sp>
      <p:sp>
        <p:nvSpPr>
          <p:cNvPr id="7" name="Shape 5"/>
          <p:cNvSpPr/>
          <p:nvPr/>
        </p:nvSpPr>
        <p:spPr>
          <a:xfrm>
            <a:off x="3401568" y="1325880"/>
            <a:ext cx="2514600" cy="960120"/>
          </a:xfrm>
          <a:prstGeom prst="roundRect">
            <a:avLst>
              <a:gd name="adj" fmla="val 11429"/>
            </a:avLst>
          </a:prstGeom>
          <a:solidFill>
            <a:srgbClr val="E8F3F4"/>
          </a:solidFill>
          <a:ln/>
        </p:spPr>
      </p:sp>
      <p:sp>
        <p:nvSpPr>
          <p:cNvPr id="8" name="Text 6"/>
          <p:cNvSpPr txBox="1"/>
          <p:nvPr/>
        </p:nvSpPr>
        <p:spPr>
          <a:xfrm>
            <a:off x="3493008" y="1325880"/>
            <a:ext cx="2331720" cy="96012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Guided run (NMPC)</a:t>
            </a:r>
            <a:endParaRPr lang="en-US" sz="2400" dirty="0"/>
          </a:p>
        </p:txBody>
      </p:sp>
      <p:sp>
        <p:nvSpPr>
          <p:cNvPr id="9" name="Shape 7"/>
          <p:cNvSpPr/>
          <p:nvPr/>
        </p:nvSpPr>
        <p:spPr>
          <a:xfrm>
            <a:off x="5961888" y="1801368"/>
            <a:ext cx="246888" cy="0"/>
          </a:xfrm>
          <a:prstGeom prst="line">
            <a:avLst/>
          </a:prstGeom>
          <a:noFill/>
          <a:ln w="31750">
            <a:solidFill>
              <a:srgbClr val="14212B"/>
            </a:solidFill>
            <a:prstDash val="solid"/>
            <a:tailEnd type="triangle"/>
          </a:ln>
        </p:spPr>
      </p:sp>
      <p:sp>
        <p:nvSpPr>
          <p:cNvPr id="10" name="Shape 8"/>
          <p:cNvSpPr/>
          <p:nvPr/>
        </p:nvSpPr>
        <p:spPr>
          <a:xfrm>
            <a:off x="6254496" y="1325880"/>
            <a:ext cx="2514600" cy="960120"/>
          </a:xfrm>
          <a:prstGeom prst="roundRect">
            <a:avLst>
              <a:gd name="adj" fmla="val 11429"/>
            </a:avLst>
          </a:prstGeom>
          <a:solidFill>
            <a:srgbClr val="E8F3F4"/>
          </a:solidFill>
          <a:ln/>
        </p:spPr>
      </p:sp>
      <p:sp>
        <p:nvSpPr>
          <p:cNvPr id="11" name="Text 9"/>
          <p:cNvSpPr txBox="1"/>
          <p:nvPr/>
        </p:nvSpPr>
        <p:spPr>
          <a:xfrm>
            <a:off x="6345936" y="1325880"/>
            <a:ext cx="2331720" cy="96012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Unaided run (same path)</a:t>
            </a:r>
            <a:endParaRPr lang="en-US" sz="2400" dirty="0"/>
          </a:p>
        </p:txBody>
      </p:sp>
      <p:sp>
        <p:nvSpPr>
          <p:cNvPr id="12" name="Shape 10"/>
          <p:cNvSpPr/>
          <p:nvPr/>
        </p:nvSpPr>
        <p:spPr>
          <a:xfrm>
            <a:off x="8814816" y="1801368"/>
            <a:ext cx="246888" cy="0"/>
          </a:xfrm>
          <a:prstGeom prst="line">
            <a:avLst/>
          </a:prstGeom>
          <a:noFill/>
          <a:ln w="31750">
            <a:solidFill>
              <a:srgbClr val="14212B"/>
            </a:solidFill>
            <a:prstDash val="solid"/>
            <a:tailEnd type="triangle"/>
          </a:ln>
        </p:spPr>
      </p:sp>
      <p:sp>
        <p:nvSpPr>
          <p:cNvPr id="13" name="Shape 11"/>
          <p:cNvSpPr/>
          <p:nvPr/>
        </p:nvSpPr>
        <p:spPr>
          <a:xfrm>
            <a:off x="9107424" y="1325880"/>
            <a:ext cx="2514600" cy="960120"/>
          </a:xfrm>
          <a:prstGeom prst="roundRect">
            <a:avLst>
              <a:gd name="adj" fmla="val 11429"/>
            </a:avLst>
          </a:prstGeom>
          <a:solidFill>
            <a:srgbClr val="0E7C86"/>
          </a:solidFill>
          <a:ln/>
        </p:spPr>
      </p:sp>
      <p:sp>
        <p:nvSpPr>
          <p:cNvPr id="14" name="Text 12"/>
          <p:cNvSpPr txBox="1"/>
          <p:nvPr/>
        </p:nvSpPr>
        <p:spPr>
          <a:xfrm>
            <a:off x="9198864" y="1325880"/>
            <a:ext cx="2331720"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Certify</a:t>
            </a:r>
            <a:endParaRPr lang="en-US" sz="2400" dirty="0"/>
          </a:p>
        </p:txBody>
      </p:sp>
      <p:sp>
        <p:nvSpPr>
          <p:cNvPr id="15" name="Text 13"/>
          <p:cNvSpPr txBox="1"/>
          <p:nvPr/>
        </p:nvSpPr>
        <p:spPr>
          <a:xfrm>
            <a:off x="548640" y="2514600"/>
            <a:ext cx="11064240" cy="45720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Unaided = tractor-only path follower: no hitch model, no look-ahead, no limit</a:t>
            </a:r>
            <a:endParaRPr lang="en-US" sz="2400" dirty="0"/>
          </a:p>
        </p:txBody>
      </p:sp>
      <p:sp>
        <p:nvSpPr>
          <p:cNvPr id="16" name="Shape 14"/>
          <p:cNvSpPr/>
          <p:nvPr/>
        </p:nvSpPr>
        <p:spPr>
          <a:xfrm>
            <a:off x="594360" y="3218688"/>
            <a:ext cx="411480" cy="411480"/>
          </a:xfrm>
          <a:prstGeom prst="ellipse">
            <a:avLst/>
          </a:prstGeom>
          <a:solidFill>
            <a:srgbClr val="1E7A45"/>
          </a:solidFill>
          <a:ln/>
        </p:spPr>
      </p:sp>
      <p:sp>
        <p:nvSpPr>
          <p:cNvPr id="17" name="Text 15"/>
          <p:cNvSpPr txBox="1"/>
          <p:nvPr/>
        </p:nvSpPr>
        <p:spPr>
          <a:xfrm>
            <a:off x="594360" y="321868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8" name="Text 16"/>
          <p:cNvSpPr txBox="1"/>
          <p:nvPr/>
        </p:nvSpPr>
        <p:spPr>
          <a:xfrm>
            <a:off x="1188720" y="320040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No jackknife</a:t>
            </a:r>
            <a:endParaRPr lang="en-US" sz="2400" dirty="0"/>
          </a:p>
        </p:txBody>
      </p:sp>
      <p:sp>
        <p:nvSpPr>
          <p:cNvPr id="19" name="Shape 17"/>
          <p:cNvSpPr/>
          <p:nvPr/>
        </p:nvSpPr>
        <p:spPr>
          <a:xfrm>
            <a:off x="594360" y="3767328"/>
            <a:ext cx="411480" cy="411480"/>
          </a:xfrm>
          <a:prstGeom prst="ellipse">
            <a:avLst/>
          </a:prstGeom>
          <a:solidFill>
            <a:srgbClr val="1E7A45"/>
          </a:solidFill>
          <a:ln/>
        </p:spPr>
      </p:sp>
      <p:sp>
        <p:nvSpPr>
          <p:cNvPr id="20" name="Text 18"/>
          <p:cNvSpPr txBox="1"/>
          <p:nvPr/>
        </p:nvSpPr>
        <p:spPr>
          <a:xfrm>
            <a:off x="594360" y="376732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1" name="Text 19"/>
          <p:cNvSpPr txBox="1"/>
          <p:nvPr/>
        </p:nvSpPr>
        <p:spPr>
          <a:xfrm>
            <a:off x="1188720" y="374904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|ψ| ≤ 60° at every instant</a:t>
            </a:r>
            <a:endParaRPr lang="en-US" sz="2400" dirty="0"/>
          </a:p>
        </p:txBody>
      </p:sp>
      <p:sp>
        <p:nvSpPr>
          <p:cNvPr id="22" name="Shape 20"/>
          <p:cNvSpPr/>
          <p:nvPr/>
        </p:nvSpPr>
        <p:spPr>
          <a:xfrm>
            <a:off x="594360" y="4315968"/>
            <a:ext cx="411480" cy="411480"/>
          </a:xfrm>
          <a:prstGeom prst="ellipse">
            <a:avLst/>
          </a:prstGeom>
          <a:solidFill>
            <a:srgbClr val="1E7A45"/>
          </a:solidFill>
          <a:ln/>
        </p:spPr>
      </p:sp>
      <p:sp>
        <p:nvSpPr>
          <p:cNvPr id="23" name="Text 21"/>
          <p:cNvSpPr txBox="1"/>
          <p:nvPr/>
        </p:nvSpPr>
        <p:spPr>
          <a:xfrm>
            <a:off x="594360" y="431596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4" name="Text 22"/>
          <p:cNvSpPr txBox="1"/>
          <p:nvPr/>
        </p:nvSpPr>
        <p:spPr>
          <a:xfrm>
            <a:off x="1188720" y="429768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 0.10 m from every obstacle</a:t>
            </a:r>
            <a:endParaRPr lang="en-US" sz="2400" dirty="0"/>
          </a:p>
        </p:txBody>
      </p:sp>
      <p:sp>
        <p:nvSpPr>
          <p:cNvPr id="25" name="Shape 23"/>
          <p:cNvSpPr/>
          <p:nvPr/>
        </p:nvSpPr>
        <p:spPr>
          <a:xfrm>
            <a:off x="594360" y="4864608"/>
            <a:ext cx="411480" cy="411480"/>
          </a:xfrm>
          <a:prstGeom prst="ellipse">
            <a:avLst/>
          </a:prstGeom>
          <a:solidFill>
            <a:srgbClr val="1E7A45"/>
          </a:solidFill>
          <a:ln/>
        </p:spPr>
      </p:sp>
      <p:sp>
        <p:nvSpPr>
          <p:cNvPr id="26" name="Text 24"/>
          <p:cNvSpPr txBox="1"/>
          <p:nvPr/>
        </p:nvSpPr>
        <p:spPr>
          <a:xfrm>
            <a:off x="594360" y="486460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7" name="Text 25"/>
          <p:cNvSpPr txBox="1"/>
          <p:nvPr/>
        </p:nvSpPr>
        <p:spPr>
          <a:xfrm>
            <a:off x="1188720" y="484632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 0.8 m from the bay centre</a:t>
            </a:r>
            <a:endParaRPr lang="en-US" sz="2400" dirty="0"/>
          </a:p>
        </p:txBody>
      </p:sp>
      <p:sp>
        <p:nvSpPr>
          <p:cNvPr id="28" name="Shape 26"/>
          <p:cNvSpPr/>
          <p:nvPr/>
        </p:nvSpPr>
        <p:spPr>
          <a:xfrm>
            <a:off x="594360" y="5413248"/>
            <a:ext cx="411480" cy="411480"/>
          </a:xfrm>
          <a:prstGeom prst="ellipse">
            <a:avLst/>
          </a:prstGeom>
          <a:solidFill>
            <a:srgbClr val="1E7A45"/>
          </a:solidFill>
          <a:ln/>
        </p:spPr>
      </p:sp>
      <p:sp>
        <p:nvSpPr>
          <p:cNvPr id="29" name="Text 27"/>
          <p:cNvSpPr txBox="1"/>
          <p:nvPr/>
        </p:nvSpPr>
        <p:spPr>
          <a:xfrm>
            <a:off x="594360" y="541324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30" name="Text 28"/>
          <p:cNvSpPr txBox="1"/>
          <p:nvPr/>
        </p:nvSpPr>
        <p:spPr>
          <a:xfrm>
            <a:off x="1188720" y="539496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 10° heading, ≤ 12° hitch</a:t>
            </a:r>
            <a:endParaRPr lang="en-US" sz="2400" dirty="0"/>
          </a:p>
        </p:txBody>
      </p:sp>
      <p:sp>
        <p:nvSpPr>
          <p:cNvPr id="31" name="Shape 29"/>
          <p:cNvSpPr/>
          <p:nvPr/>
        </p:nvSpPr>
        <p:spPr>
          <a:xfrm>
            <a:off x="6949440" y="3200400"/>
            <a:ext cx="4663440" cy="2651760"/>
          </a:xfrm>
          <a:prstGeom prst="roundRect">
            <a:avLst>
              <a:gd name="adj" fmla="val 4138"/>
            </a:avLst>
          </a:prstGeom>
          <a:solidFill>
            <a:srgbClr val="FBF1E3"/>
          </a:solidFill>
          <a:ln/>
        </p:spPr>
      </p:sp>
      <p:sp>
        <p:nvSpPr>
          <p:cNvPr id="32" name="Text 30"/>
          <p:cNvSpPr txBox="1"/>
          <p:nvPr/>
        </p:nvSpPr>
        <p:spPr>
          <a:xfrm>
            <a:off x="7223760" y="3200400"/>
            <a:ext cx="4206240" cy="265176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Only certified bays are offered to the driver; the rest show as “too tight”</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Results at a glance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sp>
        <p:nvSpPr>
          <p:cNvPr id="4" name="Shape 2"/>
          <p:cNvSpPr/>
          <p:nvPr/>
        </p:nvSpPr>
        <p:spPr>
          <a:xfrm>
            <a:off x="548640" y="1371600"/>
            <a:ext cx="2606040" cy="3291840"/>
          </a:xfrm>
          <a:prstGeom prst="roundRect">
            <a:avLst>
              <a:gd name="adj" fmla="val 4211"/>
            </a:avLst>
          </a:prstGeom>
          <a:solidFill>
            <a:srgbClr val="E8F3F4"/>
          </a:solidFill>
          <a:ln/>
        </p:spPr>
      </p:sp>
      <p:sp>
        <p:nvSpPr>
          <p:cNvPr id="5" name="Text 3"/>
          <p:cNvSpPr txBox="1"/>
          <p:nvPr/>
        </p:nvSpPr>
        <p:spPr>
          <a:xfrm>
            <a:off x="548640" y="1600200"/>
            <a:ext cx="2606040" cy="1097280"/>
          </a:xfrm>
          <a:prstGeom prst="rect">
            <a:avLst/>
          </a:prstGeom>
          <a:noFill/>
          <a:ln/>
        </p:spPr>
        <p:txBody>
          <a:bodyPr wrap="square" lIns="0" tIns="0" rIns="0" bIns="0" rtlCol="0" anchor="ctr"/>
          <a:lstStyle/>
          <a:p>
            <a:pPr algn="ctr" indent="0" marL="0">
              <a:buNone/>
            </a:pPr>
            <a:r>
              <a:rPr lang="en-US" sz="5400" b="1" dirty="0">
                <a:solidFill>
                  <a:srgbClr val="0E7C86"/>
                </a:solidFill>
                <a:latin typeface="Cambria" pitchFamily="34" charset="0"/>
                <a:ea typeface="Cambria" pitchFamily="34" charset="-122"/>
                <a:cs typeface="Cambria" pitchFamily="34" charset="-120"/>
              </a:rPr>
              <a:t>98/110</a:t>
            </a:r>
            <a:endParaRPr lang="en-US" sz="5400" dirty="0"/>
          </a:p>
        </p:txBody>
      </p:sp>
      <p:sp>
        <p:nvSpPr>
          <p:cNvPr id="6" name="Text 4"/>
          <p:cNvSpPr txBox="1"/>
          <p:nvPr/>
        </p:nvSpPr>
        <p:spPr>
          <a:xfrm>
            <a:off x="731520"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bays certified for guidance</a:t>
            </a:r>
            <a:endParaRPr lang="en-US" sz="2400" dirty="0"/>
          </a:p>
        </p:txBody>
      </p:sp>
      <p:sp>
        <p:nvSpPr>
          <p:cNvPr id="7" name="Shape 5"/>
          <p:cNvSpPr/>
          <p:nvPr/>
        </p:nvSpPr>
        <p:spPr>
          <a:xfrm>
            <a:off x="3364992" y="1371600"/>
            <a:ext cx="2606040" cy="3291840"/>
          </a:xfrm>
          <a:prstGeom prst="roundRect">
            <a:avLst>
              <a:gd name="adj" fmla="val 4211"/>
            </a:avLst>
          </a:prstGeom>
          <a:solidFill>
            <a:srgbClr val="FBEAE8"/>
          </a:solidFill>
          <a:ln/>
        </p:spPr>
      </p:sp>
      <p:sp>
        <p:nvSpPr>
          <p:cNvPr id="8" name="Text 6"/>
          <p:cNvSpPr txBox="1"/>
          <p:nvPr/>
        </p:nvSpPr>
        <p:spPr>
          <a:xfrm>
            <a:off x="3364992" y="1600200"/>
            <a:ext cx="2606040" cy="1097280"/>
          </a:xfrm>
          <a:prstGeom prst="rect">
            <a:avLst/>
          </a:prstGeom>
          <a:noFill/>
          <a:ln/>
        </p:spPr>
        <p:txBody>
          <a:bodyPr wrap="square" lIns="0" tIns="0" rIns="0" bIns="0" rtlCol="0" anchor="ctr"/>
          <a:lstStyle/>
          <a:p>
            <a:pPr algn="ctr" indent="0" marL="0">
              <a:buNone/>
            </a:pPr>
            <a:r>
              <a:rPr lang="en-US" sz="5400" b="1" dirty="0">
                <a:solidFill>
                  <a:srgbClr val="B83227"/>
                </a:solidFill>
                <a:latin typeface="Cambria" pitchFamily="34" charset="0"/>
                <a:ea typeface="Cambria" pitchFamily="34" charset="-122"/>
                <a:cs typeface="Cambria" pitchFamily="34" charset="-120"/>
              </a:rPr>
              <a:t>60/60</a:t>
            </a:r>
            <a:endParaRPr lang="en-US" sz="5400" dirty="0"/>
          </a:p>
        </p:txBody>
      </p:sp>
      <p:sp>
        <p:nvSpPr>
          <p:cNvPr id="9" name="Text 7"/>
          <p:cNvSpPr txBox="1"/>
          <p:nvPr/>
        </p:nvSpPr>
        <p:spPr>
          <a:xfrm>
            <a:off x="3547872"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unaided reverses jackknife</a:t>
            </a:r>
            <a:endParaRPr lang="en-US" sz="2400" dirty="0"/>
          </a:p>
        </p:txBody>
      </p:sp>
      <p:sp>
        <p:nvSpPr>
          <p:cNvPr id="10" name="Shape 8"/>
          <p:cNvSpPr/>
          <p:nvPr/>
        </p:nvSpPr>
        <p:spPr>
          <a:xfrm>
            <a:off x="6181344" y="1371600"/>
            <a:ext cx="2606040" cy="3291840"/>
          </a:xfrm>
          <a:prstGeom prst="roundRect">
            <a:avLst>
              <a:gd name="adj" fmla="val 4211"/>
            </a:avLst>
          </a:prstGeom>
          <a:solidFill>
            <a:srgbClr val="E8F4ED"/>
          </a:solidFill>
          <a:ln/>
        </p:spPr>
      </p:sp>
      <p:sp>
        <p:nvSpPr>
          <p:cNvPr id="11" name="Text 9"/>
          <p:cNvSpPr txBox="1"/>
          <p:nvPr/>
        </p:nvSpPr>
        <p:spPr>
          <a:xfrm>
            <a:off x="6181344" y="1600200"/>
            <a:ext cx="2606040" cy="1097280"/>
          </a:xfrm>
          <a:prstGeom prst="rect">
            <a:avLst/>
          </a:prstGeom>
          <a:noFill/>
          <a:ln/>
        </p:spPr>
        <p:txBody>
          <a:bodyPr wrap="square" lIns="0" tIns="0" rIns="0" bIns="0" rtlCol="0" anchor="ctr"/>
          <a:lstStyle/>
          <a:p>
            <a:pPr algn="ctr" indent="0" marL="0">
              <a:buNone/>
            </a:pPr>
            <a:r>
              <a:rPr lang="en-US" sz="5400" b="1" dirty="0">
                <a:solidFill>
                  <a:srgbClr val="1E7A45"/>
                </a:solidFill>
                <a:latin typeface="Cambria" pitchFamily="34" charset="0"/>
                <a:ea typeface="Cambria" pitchFamily="34" charset="-122"/>
                <a:cs typeface="Cambria" pitchFamily="34" charset="-120"/>
              </a:rPr>
              <a:t>0</a:t>
            </a:r>
            <a:endParaRPr lang="en-US" sz="5400" dirty="0"/>
          </a:p>
        </p:txBody>
      </p:sp>
      <p:sp>
        <p:nvSpPr>
          <p:cNvPr id="12" name="Text 10"/>
          <p:cNvSpPr txBox="1"/>
          <p:nvPr/>
        </p:nvSpPr>
        <p:spPr>
          <a:xfrm>
            <a:off x="6364224"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hitch-limit violations with NMPC</a:t>
            </a:r>
            <a:endParaRPr lang="en-US" sz="2400" dirty="0"/>
          </a:p>
        </p:txBody>
      </p:sp>
      <p:sp>
        <p:nvSpPr>
          <p:cNvPr id="13" name="Shape 11"/>
          <p:cNvSpPr/>
          <p:nvPr/>
        </p:nvSpPr>
        <p:spPr>
          <a:xfrm>
            <a:off x="8997696" y="1371600"/>
            <a:ext cx="2606040" cy="3291840"/>
          </a:xfrm>
          <a:prstGeom prst="roundRect">
            <a:avLst>
              <a:gd name="adj" fmla="val 4211"/>
            </a:avLst>
          </a:prstGeom>
          <a:solidFill>
            <a:srgbClr val="FBF1E3"/>
          </a:solidFill>
          <a:ln/>
        </p:spPr>
      </p:sp>
      <p:sp>
        <p:nvSpPr>
          <p:cNvPr id="14" name="Text 12"/>
          <p:cNvSpPr txBox="1"/>
          <p:nvPr/>
        </p:nvSpPr>
        <p:spPr>
          <a:xfrm>
            <a:off x="8997696" y="1600200"/>
            <a:ext cx="2606040" cy="1097280"/>
          </a:xfrm>
          <a:prstGeom prst="rect">
            <a:avLst/>
          </a:prstGeom>
          <a:noFill/>
          <a:ln/>
        </p:spPr>
        <p:txBody>
          <a:bodyPr wrap="square" lIns="0" tIns="0" rIns="0" bIns="0" rtlCol="0" anchor="ctr"/>
          <a:lstStyle/>
          <a:p>
            <a:pPr algn="ctr" indent="0" marL="0">
              <a:buNone/>
            </a:pPr>
            <a:r>
              <a:rPr lang="en-US" sz="5400" b="1" dirty="0">
                <a:solidFill>
                  <a:srgbClr val="A8661A"/>
                </a:solidFill>
                <a:latin typeface="Cambria" pitchFamily="34" charset="0"/>
                <a:ea typeface="Cambria" pitchFamily="34" charset="-122"/>
                <a:cs typeface="Cambria" pitchFamily="34" charset="-120"/>
              </a:rPr>
              <a:t>53.3°</a:t>
            </a:r>
            <a:endParaRPr lang="en-US" sz="5400" dirty="0"/>
          </a:p>
        </p:txBody>
      </p:sp>
      <p:sp>
        <p:nvSpPr>
          <p:cNvPr id="15" name="Text 13"/>
          <p:cNvSpPr txBox="1"/>
          <p:nvPr/>
        </p:nvSpPr>
        <p:spPr>
          <a:xfrm>
            <a:off x="9180576"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worst hitch angle (limit 60°)</a:t>
            </a:r>
            <a:endParaRPr lang="en-US" sz="2400" dirty="0"/>
          </a:p>
        </p:txBody>
      </p:sp>
      <p:sp>
        <p:nvSpPr>
          <p:cNvPr id="16" name="Text 14"/>
          <p:cNvSpPr txBox="1"/>
          <p:nvPr/>
        </p:nvSpPr>
        <p:spPr>
          <a:xfrm>
            <a:off x="548640" y="5029200"/>
            <a:ext cx="11064240" cy="82296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Min. clearance 0.25 m · plans in 0.1–6 s · NMPC 94–154 ms per solve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Results by layout</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graphicFrame>
        <p:nvGraphicFramePr>
          <p:cNvPr id="4" name="Chart 0" descr=""/>
          <p:cNvGraphicFramePr/>
          <p:nvPr/>
        </p:nvGraphicFramePr>
        <p:xfrm>
          <a:off x="457200" y="1234440"/>
          <a:ext cx="658368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315200" y="1371600"/>
          <a:ext cx="4297680" cy="914400"/>
        </p:xfrm>
        <a:graphic>
          <a:graphicData uri="http://schemas.openxmlformats.org/drawingml/2006/table">
            <a:tbl>
              <a:tblPr/>
              <a:tblGrid>
                <a:gridCol w="1920240"/>
                <a:gridCol w="1188720"/>
                <a:gridCol w="1188720"/>
              </a:tblGrid>
              <a:tr h="457200">
                <a:tc>
                  <a:txBody>
                    <a:bodyPr/>
                    <a:lstStyle/>
                    <a:p>
                      <a:pPr algn="l" indent="0" marL="0">
                        <a:buNone/>
                      </a:pPr>
                      <a:r>
                        <a:rPr lang="en-US" sz="2400" b="1" dirty="0">
                          <a:solidFill>
                            <a:srgbClr val="FFFFFF"/>
                          </a:solidFill>
                          <a:latin typeface="Calibri" pitchFamily="34" charset="0"/>
                          <a:ea typeface="Calibri" pitchFamily="34" charset="-122"/>
                          <a:cs typeface="Calibri" pitchFamily="34" charset="-120"/>
                        </a:rPr>
                        <a:t>Median error</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algn="r" indent="0" marL="0">
                        <a:buNone/>
                      </a:pPr>
                      <a:r>
                        <a:rPr lang="en-US" sz="2400" b="1" dirty="0">
                          <a:solidFill>
                            <a:srgbClr val="FFFFFF"/>
                          </a:solidFill>
                          <a:latin typeface="Calibri" pitchFamily="34" charset="0"/>
                          <a:ea typeface="Calibri" pitchFamily="34" charset="-122"/>
                          <a:cs typeface="Calibri" pitchFamily="34" charset="-120"/>
                        </a:rPr>
                        <a:t>lateral</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algn="r" indent="0" marL="0">
                        <a:buNone/>
                      </a:pPr>
                      <a:r>
                        <a:rPr lang="en-US" sz="2400" b="1" dirty="0">
                          <a:solidFill>
                            <a:srgbClr val="FFFFFF"/>
                          </a:solidFill>
                          <a:latin typeface="Calibri" pitchFamily="34" charset="0"/>
                          <a:ea typeface="Calibri" pitchFamily="34" charset="-122"/>
                          <a:cs typeface="Calibri" pitchFamily="34" charset="-120"/>
                        </a:rPr>
                        <a:t>heading</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Cross</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0.58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2.0°</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Angled</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0.17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4.2°</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Parallel</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0.72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6.4°</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Tandem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0.10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3.2°</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bl>
          </a:graphicData>
        </a:graphic>
      </p:graphicFrame>
      <p:sp>
        <p:nvSpPr>
          <p:cNvPr id="6" name="Shape 2"/>
          <p:cNvSpPr/>
          <p:nvPr/>
        </p:nvSpPr>
        <p:spPr>
          <a:xfrm>
            <a:off x="7315200" y="3931920"/>
            <a:ext cx="4297680" cy="2103120"/>
          </a:xfrm>
          <a:prstGeom prst="roundRect">
            <a:avLst>
              <a:gd name="adj" fmla="val 5217"/>
            </a:avLst>
          </a:prstGeom>
          <a:solidFill>
            <a:srgbClr val="FBEAE8"/>
          </a:solidFill>
          <a:ln/>
        </p:spPr>
      </p:sp>
      <p:sp>
        <p:nvSpPr>
          <p:cNvPr id="7" name="Text 3"/>
          <p:cNvSpPr txBox="1"/>
          <p:nvPr/>
        </p:nvSpPr>
        <p:spPr>
          <a:xfrm>
            <a:off x="7498080" y="3931920"/>
            <a:ext cx="3931920" cy="210312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Unaided parks only in tandem (forward in): reversing is where guidance matters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One run in detail: cross layout, bay 6</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Hitch angle versus time: NMPC stays within plus or minus 40 degrees; unaided exceeds 60 and jackknifes at 57 s">    </p:cNvPr>
          <p:cNvPicPr>
            <a:picLocks noChangeAspect="1"/>
          </p:cNvPicPr>
          <p:nvPr/>
        </p:nvPicPr>
        <p:blipFill>
          <a:blip r:embed="rId1"/>
          <a:stretch>
            <a:fillRect/>
          </a:stretch>
        </p:blipFill>
        <p:spPr>
          <a:xfrm>
            <a:off x="320040" y="1234440"/>
            <a:ext cx="6949440" cy="4572000"/>
          </a:xfrm>
          <a:prstGeom prst="rect">
            <a:avLst/>
          </a:prstGeom>
        </p:spPr>
      </p:pic>
      <p:sp>
        <p:nvSpPr>
          <p:cNvPr id="5" name="Text 2"/>
          <p:cNvSpPr txBox="1"/>
          <p:nvPr/>
        </p:nvSpPr>
        <p:spPr>
          <a:xfrm>
            <a:off x="7635240" y="1463040"/>
            <a:ext cx="4023360" cy="73152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Same start, path and vehicle</a:t>
            </a:r>
            <a:endParaRPr lang="en-US" sz="2400" dirty="0"/>
          </a:p>
        </p:txBody>
      </p:sp>
      <p:sp>
        <p:nvSpPr>
          <p:cNvPr id="6" name="Text 3"/>
          <p:cNvSpPr txBox="1"/>
          <p:nvPr/>
        </p:nvSpPr>
        <p:spPr>
          <a:xfrm>
            <a:off x="7635240" y="2331720"/>
            <a:ext cx="4023360" cy="731520"/>
          </a:xfrm>
          <a:prstGeom prst="rect">
            <a:avLst/>
          </a:prstGeom>
          <a:noFill/>
          <a:ln/>
        </p:spPr>
        <p:txBody>
          <a:bodyPr wrap="square" lIns="0" tIns="0" rIns="0" bIns="0" rtlCol="0" anchor="ctr"/>
          <a:lstStyle/>
          <a:p>
            <a:pPr algn="l" indent="0" marL="0">
              <a:buNone/>
            </a:pPr>
            <a:r>
              <a:rPr lang="en-US" sz="2400" b="1" dirty="0">
                <a:solidFill>
                  <a:srgbClr val="0E7C86"/>
                </a:solidFill>
                <a:latin typeface="Calibri" pitchFamily="34" charset="0"/>
                <a:ea typeface="Calibri" pitchFamily="34" charset="-122"/>
                <a:cs typeface="Calibri" pitchFamily="34" charset="-120"/>
              </a:rPr>
              <a:t>Guided: peak |ψ| 40°</a:t>
            </a:r>
            <a:endParaRPr lang="en-US" sz="2400" dirty="0"/>
          </a:p>
        </p:txBody>
      </p:sp>
      <p:sp>
        <p:nvSpPr>
          <p:cNvPr id="7" name="Text 4"/>
          <p:cNvSpPr txBox="1"/>
          <p:nvPr/>
        </p:nvSpPr>
        <p:spPr>
          <a:xfrm>
            <a:off x="7635240" y="3200400"/>
            <a:ext cx="4023360" cy="731520"/>
          </a:xfrm>
          <a:prstGeom prst="rect">
            <a:avLst/>
          </a:prstGeom>
          <a:noFill/>
          <a:ln/>
        </p:spPr>
        <p:txBody>
          <a:bodyPr wrap="square" lIns="0" tIns="0" rIns="0" bIns="0" rtlCol="0" anchor="ctr"/>
          <a:lstStyle/>
          <a:p>
            <a:pPr algn="l" indent="0" marL="0">
              <a:buNone/>
            </a:pPr>
            <a:r>
              <a:rPr lang="en-US" sz="2400" dirty="0">
                <a:solidFill>
                  <a:srgbClr val="0E7C86"/>
                </a:solidFill>
                <a:latin typeface="Calibri" pitchFamily="34" charset="0"/>
                <a:ea typeface="Calibri" pitchFamily="34" charset="-122"/>
                <a:cs typeface="Calibri" pitchFamily="34" charset="-120"/>
              </a:rPr>
              <a:t>Parked 0.58 m, 4.7° off</a:t>
            </a:r>
            <a:endParaRPr lang="en-US" sz="2400" dirty="0"/>
          </a:p>
        </p:txBody>
      </p:sp>
      <p:sp>
        <p:nvSpPr>
          <p:cNvPr id="8" name="Text 5"/>
          <p:cNvSpPr txBox="1"/>
          <p:nvPr/>
        </p:nvSpPr>
        <p:spPr>
          <a:xfrm>
            <a:off x="7635240" y="4069080"/>
            <a:ext cx="4023360" cy="731520"/>
          </a:xfrm>
          <a:prstGeom prst="rect">
            <a:avLst/>
          </a:prstGeom>
          <a:noFill/>
          <a:ln/>
        </p:spPr>
        <p:txBody>
          <a:bodyPr wrap="square" lIns="0" tIns="0" rIns="0" bIns="0" rtlCol="0" anchor="ctr"/>
          <a:lstStyle/>
          <a:p>
            <a:pPr algn="l" indent="0" marL="0">
              <a:buNone/>
            </a:pPr>
            <a:r>
              <a:rPr lang="en-US" sz="2400" b="1" dirty="0">
                <a:solidFill>
                  <a:srgbClr val="B83227"/>
                </a:solidFill>
                <a:latin typeface="Calibri" pitchFamily="34" charset="0"/>
                <a:ea typeface="Calibri" pitchFamily="34" charset="-122"/>
                <a:cs typeface="Calibri" pitchFamily="34" charset="-120"/>
              </a:rPr>
              <a:t>Unaided: past 60° at 55 s</a:t>
            </a:r>
            <a:endParaRPr lang="en-US" sz="2400" dirty="0"/>
          </a:p>
        </p:txBody>
      </p:sp>
      <p:sp>
        <p:nvSpPr>
          <p:cNvPr id="9" name="Text 6"/>
          <p:cNvSpPr txBox="1"/>
          <p:nvPr/>
        </p:nvSpPr>
        <p:spPr>
          <a:xfrm>
            <a:off x="7635240" y="4937760"/>
            <a:ext cx="4023360" cy="731520"/>
          </a:xfrm>
          <a:prstGeom prst="rect">
            <a:avLst/>
          </a:prstGeom>
          <a:noFill/>
          <a:ln/>
        </p:spPr>
        <p:txBody>
          <a:bodyPr wrap="square" lIns="0" tIns="0" rIns="0" bIns="0" rtlCol="0" anchor="ctr"/>
          <a:lstStyle/>
          <a:p>
            <a:pPr algn="l" indent="0" marL="0">
              <a:buNone/>
            </a:pPr>
            <a:r>
              <a:rPr lang="en-US" sz="2400" dirty="0">
                <a:solidFill>
                  <a:srgbClr val="B83227"/>
                </a:solidFill>
                <a:latin typeface="Calibri" pitchFamily="34" charset="0"/>
                <a:ea typeface="Calibri" pitchFamily="34" charset="-122"/>
                <a:cs typeface="Calibri" pitchFamily="34" charset="-120"/>
              </a:rPr>
              <a:t>Jackknife at 57 s (75°)</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Guidance ON vs OFF, same bay</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With guidance the rig is parked in bay 6">    </p:cNvPr>
          <p:cNvPicPr>
            <a:picLocks noChangeAspect="1"/>
          </p:cNvPicPr>
          <p:nvPr/>
        </p:nvPicPr>
        <p:blipFill>
          <a:blip r:embed="rId1"/>
          <a:stretch>
            <a:fillRect/>
          </a:stretch>
        </p:blipFill>
        <p:spPr>
          <a:xfrm>
            <a:off x="548640" y="1385118"/>
            <a:ext cx="5394960" cy="3722004"/>
          </a:xfrm>
          <a:prstGeom prst="rect">
            <a:avLst/>
          </a:prstGeom>
        </p:spPr>
      </p:pic>
      <p:pic>
        <p:nvPicPr>
          <p:cNvPr id="5" name="Image 1" descr="Without guidance the rig jackknifes before reaching the bay">    </p:cNvPr>
          <p:cNvPicPr>
            <a:picLocks noChangeAspect="1"/>
          </p:cNvPicPr>
          <p:nvPr/>
        </p:nvPicPr>
        <p:blipFill>
          <a:blip r:embed="rId2"/>
          <a:stretch>
            <a:fillRect/>
          </a:stretch>
        </p:blipFill>
        <p:spPr>
          <a:xfrm>
            <a:off x="6263640" y="1385118"/>
            <a:ext cx="5394960" cy="3722004"/>
          </a:xfrm>
          <a:prstGeom prst="rect">
            <a:avLst/>
          </a:prstGeom>
        </p:spPr>
      </p:pic>
      <p:sp>
        <p:nvSpPr>
          <p:cNvPr id="6" name="Text 2"/>
          <p:cNvSpPr txBox="1"/>
          <p:nvPr/>
        </p:nvSpPr>
        <p:spPr>
          <a:xfrm>
            <a:off x="548640" y="5349240"/>
            <a:ext cx="5394960" cy="457200"/>
          </a:xfrm>
          <a:prstGeom prst="rect">
            <a:avLst/>
          </a:prstGeom>
          <a:noFill/>
          <a:ln/>
        </p:spPr>
        <p:txBody>
          <a:bodyPr wrap="square" lIns="0" tIns="0" rIns="0" bIns="0" rtlCol="0" anchor="t"/>
          <a:lstStyle/>
          <a:p>
            <a:pPr algn="ctr" indent="0" marL="0">
              <a:buNone/>
            </a:pPr>
            <a:r>
              <a:rPr lang="en-US" sz="2400" b="1" dirty="0">
                <a:solidFill>
                  <a:srgbClr val="1E7A45"/>
                </a:solidFill>
                <a:latin typeface="Calibri" pitchFamily="34" charset="0"/>
                <a:ea typeface="Calibri" pitchFamily="34" charset="-122"/>
                <a:cs typeface="Calibri" pitchFamily="34" charset="-120"/>
              </a:rPr>
              <a:t>ON: parked, 0.58 m off-centre</a:t>
            </a:r>
            <a:endParaRPr lang="en-US" sz="2400" dirty="0"/>
          </a:p>
        </p:txBody>
      </p:sp>
      <p:sp>
        <p:nvSpPr>
          <p:cNvPr id="7" name="Text 3"/>
          <p:cNvSpPr txBox="1"/>
          <p:nvPr/>
        </p:nvSpPr>
        <p:spPr>
          <a:xfrm>
            <a:off x="6263640" y="5349240"/>
            <a:ext cx="5394960" cy="457200"/>
          </a:xfrm>
          <a:prstGeom prst="rect">
            <a:avLst/>
          </a:prstGeom>
          <a:noFill/>
          <a:ln/>
        </p:spPr>
        <p:txBody>
          <a:bodyPr wrap="square" lIns="0" tIns="0" rIns="0" bIns="0" rtlCol="0" anchor="t"/>
          <a:lstStyle/>
          <a:p>
            <a:pPr algn="ctr" indent="0" marL="0">
              <a:buNone/>
            </a:pPr>
            <a:r>
              <a:rPr lang="en-US" sz="2400" b="1" dirty="0">
                <a:solidFill>
                  <a:srgbClr val="B83227"/>
                </a:solidFill>
                <a:latin typeface="Calibri" pitchFamily="34" charset="0"/>
                <a:ea typeface="Calibri" pitchFamily="34" charset="-122"/>
                <a:cs typeface="Calibri" pitchFamily="34" charset="-120"/>
              </a:rPr>
              <a:t>OFF: jackknife after 57 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The driver guidance interface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Application screenshot during step 5 of 9 with guidance bar, look-ahead, instruments, live maths and step table">    </p:cNvPr>
          <p:cNvPicPr>
            <a:picLocks noChangeAspect="1"/>
          </p:cNvPicPr>
          <p:nvPr/>
        </p:nvPicPr>
        <p:blipFill>
          <a:blip r:embed="rId1"/>
          <a:stretch>
            <a:fillRect/>
          </a:stretch>
        </p:blipFill>
        <p:spPr>
          <a:xfrm>
            <a:off x="548640" y="1234440"/>
            <a:ext cx="8503920" cy="4783455"/>
          </a:xfrm>
          <a:prstGeom prst="rect">
            <a:avLst/>
          </a:prstGeom>
        </p:spPr>
      </p:pic>
      <p:sp>
        <p:nvSpPr>
          <p:cNvPr id="5" name="Shape 2"/>
          <p:cNvSpPr/>
          <p:nvPr/>
        </p:nvSpPr>
        <p:spPr>
          <a:xfrm>
            <a:off x="1307135" y="1567739"/>
            <a:ext cx="438912" cy="438912"/>
          </a:xfrm>
          <a:prstGeom prst="ellipse">
            <a:avLst/>
          </a:prstGeom>
          <a:solidFill>
            <a:srgbClr val="A8661A"/>
          </a:solidFill>
          <a:ln/>
        </p:spPr>
      </p:sp>
      <p:sp>
        <p:nvSpPr>
          <p:cNvPr id="6" name="Text 3"/>
          <p:cNvSpPr txBox="1"/>
          <p:nvPr/>
        </p:nvSpPr>
        <p:spPr>
          <a:xfrm>
            <a:off x="1307135" y="1567739"/>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Shape 4"/>
          <p:cNvSpPr/>
          <p:nvPr/>
        </p:nvSpPr>
        <p:spPr>
          <a:xfrm>
            <a:off x="3305556" y="3013405"/>
            <a:ext cx="438912" cy="438912"/>
          </a:xfrm>
          <a:prstGeom prst="ellipse">
            <a:avLst/>
          </a:prstGeom>
          <a:solidFill>
            <a:srgbClr val="A8661A"/>
          </a:solidFill>
          <a:ln/>
        </p:spPr>
      </p:sp>
      <p:sp>
        <p:nvSpPr>
          <p:cNvPr id="8" name="Text 5"/>
          <p:cNvSpPr txBox="1"/>
          <p:nvPr/>
        </p:nvSpPr>
        <p:spPr>
          <a:xfrm>
            <a:off x="3305556" y="3013405"/>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9" name="Shape 6"/>
          <p:cNvSpPr/>
          <p:nvPr/>
        </p:nvSpPr>
        <p:spPr>
          <a:xfrm>
            <a:off x="7642555" y="1822856"/>
            <a:ext cx="438912" cy="438912"/>
          </a:xfrm>
          <a:prstGeom prst="ellipse">
            <a:avLst/>
          </a:prstGeom>
          <a:solidFill>
            <a:srgbClr val="A8661A"/>
          </a:solidFill>
          <a:ln/>
        </p:spPr>
      </p:sp>
      <p:sp>
        <p:nvSpPr>
          <p:cNvPr id="10" name="Text 7"/>
          <p:cNvSpPr txBox="1"/>
          <p:nvPr/>
        </p:nvSpPr>
        <p:spPr>
          <a:xfrm>
            <a:off x="7642555" y="1822856"/>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1" name="Shape 8"/>
          <p:cNvSpPr/>
          <p:nvPr/>
        </p:nvSpPr>
        <p:spPr>
          <a:xfrm>
            <a:off x="7642555" y="3140964"/>
            <a:ext cx="438912" cy="438912"/>
          </a:xfrm>
          <a:prstGeom prst="ellipse">
            <a:avLst/>
          </a:prstGeom>
          <a:solidFill>
            <a:srgbClr val="A8661A"/>
          </a:solidFill>
          <a:ln/>
        </p:spPr>
      </p:sp>
      <p:sp>
        <p:nvSpPr>
          <p:cNvPr id="12" name="Text 9"/>
          <p:cNvSpPr txBox="1"/>
          <p:nvPr/>
        </p:nvSpPr>
        <p:spPr>
          <a:xfrm>
            <a:off x="7642555" y="3140964"/>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3" name="Shape 10"/>
          <p:cNvSpPr/>
          <p:nvPr/>
        </p:nvSpPr>
        <p:spPr>
          <a:xfrm>
            <a:off x="3305556" y="5266944"/>
            <a:ext cx="438912" cy="438912"/>
          </a:xfrm>
          <a:prstGeom prst="ellipse">
            <a:avLst/>
          </a:prstGeom>
          <a:solidFill>
            <a:srgbClr val="A8661A"/>
          </a:solidFill>
          <a:ln/>
        </p:spPr>
      </p:sp>
      <p:sp>
        <p:nvSpPr>
          <p:cNvPr id="14" name="Text 11"/>
          <p:cNvSpPr txBox="1"/>
          <p:nvPr/>
        </p:nvSpPr>
        <p:spPr>
          <a:xfrm>
            <a:off x="3305556" y="5266944"/>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15" name="Shape 12"/>
          <p:cNvSpPr/>
          <p:nvPr/>
        </p:nvSpPr>
        <p:spPr>
          <a:xfrm>
            <a:off x="9281160" y="1371600"/>
            <a:ext cx="438912" cy="438912"/>
          </a:xfrm>
          <a:prstGeom prst="ellipse">
            <a:avLst/>
          </a:prstGeom>
          <a:solidFill>
            <a:srgbClr val="A8661A"/>
          </a:solidFill>
          <a:ln/>
        </p:spPr>
      </p:sp>
      <p:sp>
        <p:nvSpPr>
          <p:cNvPr id="16" name="Text 13"/>
          <p:cNvSpPr txBox="1"/>
          <p:nvPr/>
        </p:nvSpPr>
        <p:spPr>
          <a:xfrm>
            <a:off x="9281160" y="1371600"/>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7" name="Text 14"/>
          <p:cNvSpPr txBox="1"/>
          <p:nvPr/>
        </p:nvSpPr>
        <p:spPr>
          <a:xfrm>
            <a:off x="9829800" y="1325880"/>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Instruction vs advised</a:t>
            </a:r>
            <a:endParaRPr lang="en-US" sz="2400" dirty="0"/>
          </a:p>
        </p:txBody>
      </p:sp>
      <p:sp>
        <p:nvSpPr>
          <p:cNvPr id="18" name="Shape 15"/>
          <p:cNvSpPr/>
          <p:nvPr/>
        </p:nvSpPr>
        <p:spPr>
          <a:xfrm>
            <a:off x="9281160" y="2304288"/>
            <a:ext cx="438912" cy="438912"/>
          </a:xfrm>
          <a:prstGeom prst="ellipse">
            <a:avLst/>
          </a:prstGeom>
          <a:solidFill>
            <a:srgbClr val="A8661A"/>
          </a:solidFill>
          <a:ln/>
        </p:spPr>
      </p:sp>
      <p:sp>
        <p:nvSpPr>
          <p:cNvPr id="19" name="Text 16"/>
          <p:cNvSpPr txBox="1"/>
          <p:nvPr/>
        </p:nvSpPr>
        <p:spPr>
          <a:xfrm>
            <a:off x="9281160" y="2304288"/>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20" name="Text 17"/>
          <p:cNvSpPr txBox="1"/>
          <p:nvPr/>
        </p:nvSpPr>
        <p:spPr>
          <a:xfrm>
            <a:off x="9829800" y="2258568"/>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NMPC look-ahead</a:t>
            </a:r>
            <a:endParaRPr lang="en-US" sz="2400" dirty="0"/>
          </a:p>
        </p:txBody>
      </p:sp>
      <p:sp>
        <p:nvSpPr>
          <p:cNvPr id="21" name="Shape 18"/>
          <p:cNvSpPr/>
          <p:nvPr/>
        </p:nvSpPr>
        <p:spPr>
          <a:xfrm>
            <a:off x="9281160" y="3236976"/>
            <a:ext cx="438912" cy="438912"/>
          </a:xfrm>
          <a:prstGeom prst="ellipse">
            <a:avLst/>
          </a:prstGeom>
          <a:solidFill>
            <a:srgbClr val="A8661A"/>
          </a:solidFill>
          <a:ln/>
        </p:spPr>
      </p:sp>
      <p:sp>
        <p:nvSpPr>
          <p:cNvPr id="22" name="Text 19"/>
          <p:cNvSpPr txBox="1"/>
          <p:nvPr/>
        </p:nvSpPr>
        <p:spPr>
          <a:xfrm>
            <a:off x="9281160" y="3236976"/>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3" name="Text 20"/>
          <p:cNvSpPr txBox="1"/>
          <p:nvPr/>
        </p:nvSpPr>
        <p:spPr>
          <a:xfrm>
            <a:off x="9829800" y="3191256"/>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Instruments</a:t>
            </a:r>
            <a:endParaRPr lang="en-US" sz="2400" dirty="0"/>
          </a:p>
        </p:txBody>
      </p:sp>
      <p:sp>
        <p:nvSpPr>
          <p:cNvPr id="24" name="Shape 21"/>
          <p:cNvSpPr/>
          <p:nvPr/>
        </p:nvSpPr>
        <p:spPr>
          <a:xfrm>
            <a:off x="9281160" y="4169664"/>
            <a:ext cx="438912" cy="438912"/>
          </a:xfrm>
          <a:prstGeom prst="ellipse">
            <a:avLst/>
          </a:prstGeom>
          <a:solidFill>
            <a:srgbClr val="A8661A"/>
          </a:solidFill>
          <a:ln/>
        </p:spPr>
      </p:sp>
      <p:sp>
        <p:nvSpPr>
          <p:cNvPr id="25" name="Text 22"/>
          <p:cNvSpPr txBox="1"/>
          <p:nvPr/>
        </p:nvSpPr>
        <p:spPr>
          <a:xfrm>
            <a:off x="9281160" y="4169664"/>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6" name="Text 23"/>
          <p:cNvSpPr txBox="1"/>
          <p:nvPr/>
        </p:nvSpPr>
        <p:spPr>
          <a:xfrm>
            <a:off x="9829800" y="4123944"/>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Live maths</a:t>
            </a:r>
            <a:endParaRPr lang="en-US" sz="2400" dirty="0"/>
          </a:p>
        </p:txBody>
      </p:sp>
      <p:sp>
        <p:nvSpPr>
          <p:cNvPr id="27" name="Shape 24"/>
          <p:cNvSpPr/>
          <p:nvPr/>
        </p:nvSpPr>
        <p:spPr>
          <a:xfrm>
            <a:off x="9281160" y="5102352"/>
            <a:ext cx="438912" cy="438912"/>
          </a:xfrm>
          <a:prstGeom prst="ellipse">
            <a:avLst/>
          </a:prstGeom>
          <a:solidFill>
            <a:srgbClr val="A8661A"/>
          </a:solidFill>
          <a:ln/>
        </p:spPr>
      </p:sp>
      <p:sp>
        <p:nvSpPr>
          <p:cNvPr id="28" name="Text 25"/>
          <p:cNvSpPr txBox="1"/>
          <p:nvPr/>
        </p:nvSpPr>
        <p:spPr>
          <a:xfrm>
            <a:off x="9281160" y="5102352"/>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9" name="Text 26"/>
          <p:cNvSpPr txBox="1"/>
          <p:nvPr/>
        </p:nvSpPr>
        <p:spPr>
          <a:xfrm>
            <a:off x="9829800" y="5056632"/>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Step table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Academic alignment: syllabus integration</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Syllabus</a:t>
            </a:r>
            <a:endParaRPr lang="en-US" sz="2400" dirty="0"/>
          </a:p>
        </p:txBody>
      </p:sp>
      <p:sp>
        <p:nvSpPr>
          <p:cNvPr id="4" name="Shape 2"/>
          <p:cNvSpPr/>
          <p:nvPr/>
        </p:nvSpPr>
        <p:spPr>
          <a:xfrm>
            <a:off x="548640" y="1280160"/>
            <a:ext cx="11064240" cy="1463040"/>
          </a:xfrm>
          <a:prstGeom prst="roundRect">
            <a:avLst>
              <a:gd name="adj" fmla="val 7500"/>
            </a:avLst>
          </a:prstGeom>
          <a:solidFill>
            <a:srgbClr val="E8F3F4"/>
          </a:solidFill>
          <a:ln/>
        </p:spPr>
      </p:sp>
      <p:sp>
        <p:nvSpPr>
          <p:cNvPr id="5" name="Shape 3"/>
          <p:cNvSpPr/>
          <p:nvPr/>
        </p:nvSpPr>
        <p:spPr>
          <a:xfrm>
            <a:off x="777240" y="1463040"/>
            <a:ext cx="502920" cy="502920"/>
          </a:xfrm>
          <a:prstGeom prst="ellipse">
            <a:avLst/>
          </a:prstGeom>
          <a:solidFill>
            <a:srgbClr val="0E7C86"/>
          </a:solidFill>
          <a:ln/>
        </p:spPr>
      </p:sp>
      <p:sp>
        <p:nvSpPr>
          <p:cNvPr id="6" name="Text 4"/>
          <p:cNvSpPr txBox="1"/>
          <p:nvPr/>
        </p:nvSpPr>
        <p:spPr>
          <a:xfrm>
            <a:off x="77724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508760" y="1463040"/>
            <a:ext cx="9875520" cy="502920"/>
          </a:xfrm>
          <a:prstGeom prst="rect">
            <a:avLst/>
          </a:prstGeom>
          <a:noFill/>
          <a:ln/>
        </p:spPr>
        <p:txBody>
          <a:bodyPr wrap="square" lIns="0" tIns="0" rIns="0" bIns="0" rtlCol="0" anchor="ctr"/>
          <a:lstStyle/>
          <a:p>
            <a:pPr algn="l" indent="0" marL="0">
              <a:buNone/>
            </a:pPr>
            <a:r>
              <a:rPr lang="en-US" sz="2400" b="1" dirty="0">
                <a:solidFill>
                  <a:srgbClr val="14212B"/>
                </a:solidFill>
                <a:latin typeface="Calibri" pitchFamily="34" charset="0"/>
                <a:ea typeface="Calibri" pitchFamily="34" charset="-122"/>
                <a:cs typeface="Calibri" pitchFamily="34" charset="-120"/>
              </a:rPr>
              <a:t>Unit 1 · Rigid-body transforms: rear axle → hitch → trailer frames</a:t>
            </a:r>
            <a:endParaRPr lang="en-US" sz="2400" dirty="0"/>
          </a:p>
        </p:txBody>
      </p:sp>
      <p:pic>
        <p:nvPicPr>
          <p:cNvPr id="8" name="Image 0" descr="hitch and trailer axle positions from the tractor pose">    </p:cNvPr>
          <p:cNvPicPr>
            <a:picLocks noChangeAspect="1"/>
          </p:cNvPicPr>
          <p:nvPr/>
        </p:nvPicPr>
        <p:blipFill>
          <a:blip r:embed="rId1"/>
          <a:stretch>
            <a:fillRect/>
          </a:stretch>
        </p:blipFill>
        <p:spPr>
          <a:xfrm>
            <a:off x="1508760" y="2057400"/>
            <a:ext cx="8756904" cy="460248"/>
          </a:xfrm>
          <a:prstGeom prst="rect">
            <a:avLst/>
          </a:prstGeom>
        </p:spPr>
      </p:pic>
      <p:sp>
        <p:nvSpPr>
          <p:cNvPr id="9" name="Shape 6"/>
          <p:cNvSpPr/>
          <p:nvPr/>
        </p:nvSpPr>
        <p:spPr>
          <a:xfrm>
            <a:off x="548640" y="2907792"/>
            <a:ext cx="11064240" cy="1463040"/>
          </a:xfrm>
          <a:prstGeom prst="roundRect">
            <a:avLst>
              <a:gd name="adj" fmla="val 7500"/>
            </a:avLst>
          </a:prstGeom>
          <a:solidFill>
            <a:srgbClr val="E8F3F4"/>
          </a:solidFill>
          <a:ln/>
        </p:spPr>
      </p:sp>
      <p:sp>
        <p:nvSpPr>
          <p:cNvPr id="10" name="Shape 7"/>
          <p:cNvSpPr/>
          <p:nvPr/>
        </p:nvSpPr>
        <p:spPr>
          <a:xfrm>
            <a:off x="777240" y="3090672"/>
            <a:ext cx="502920" cy="502920"/>
          </a:xfrm>
          <a:prstGeom prst="ellipse">
            <a:avLst/>
          </a:prstGeom>
          <a:solidFill>
            <a:srgbClr val="0E7C86"/>
          </a:solidFill>
          <a:ln/>
        </p:spPr>
      </p:sp>
      <p:sp>
        <p:nvSpPr>
          <p:cNvPr id="11" name="Text 8"/>
          <p:cNvSpPr txBox="1"/>
          <p:nvPr/>
        </p:nvSpPr>
        <p:spPr>
          <a:xfrm>
            <a:off x="777240" y="3090672"/>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9"/>
          <p:cNvSpPr txBox="1"/>
          <p:nvPr/>
        </p:nvSpPr>
        <p:spPr>
          <a:xfrm>
            <a:off x="1508760" y="3090672"/>
            <a:ext cx="9875520" cy="502920"/>
          </a:xfrm>
          <a:prstGeom prst="rect">
            <a:avLst/>
          </a:prstGeom>
          <a:noFill/>
          <a:ln/>
        </p:spPr>
        <p:txBody>
          <a:bodyPr wrap="square" lIns="0" tIns="0" rIns="0" bIns="0" rtlCol="0" anchor="ctr"/>
          <a:lstStyle/>
          <a:p>
            <a:pPr algn="l" indent="0" marL="0">
              <a:buNone/>
            </a:pPr>
            <a:r>
              <a:rPr lang="en-US" sz="2400" b="1" dirty="0">
                <a:solidFill>
                  <a:srgbClr val="14212B"/>
                </a:solidFill>
                <a:latin typeface="Calibri" pitchFamily="34" charset="0"/>
                <a:ea typeface="Calibri" pitchFamily="34" charset="-122"/>
                <a:cs typeface="Calibri" pitchFamily="34" charset="-120"/>
              </a:rPr>
              <a:t>Unit 2 · Kinematics of wheeled mobile robots</a:t>
            </a:r>
            <a:endParaRPr lang="en-US" sz="2400" dirty="0"/>
          </a:p>
        </p:txBody>
      </p:sp>
      <p:pic>
        <p:nvPicPr>
          <p:cNvPr id="13" name="Image 1" descr="non-holonomic no-slip constraint">    </p:cNvPr>
          <p:cNvPicPr>
            <a:picLocks noChangeAspect="1"/>
          </p:cNvPicPr>
          <p:nvPr/>
        </p:nvPicPr>
        <p:blipFill>
          <a:blip r:embed="rId2"/>
          <a:stretch>
            <a:fillRect/>
          </a:stretch>
        </p:blipFill>
        <p:spPr>
          <a:xfrm>
            <a:off x="1508760" y="3685032"/>
            <a:ext cx="7744968" cy="438912"/>
          </a:xfrm>
          <a:prstGeom prst="rect">
            <a:avLst/>
          </a:prstGeom>
        </p:spPr>
      </p:pic>
      <p:sp>
        <p:nvSpPr>
          <p:cNvPr id="14" name="Shape 10"/>
          <p:cNvSpPr/>
          <p:nvPr/>
        </p:nvSpPr>
        <p:spPr>
          <a:xfrm>
            <a:off x="548640" y="4535424"/>
            <a:ext cx="11064240" cy="1463040"/>
          </a:xfrm>
          <a:prstGeom prst="roundRect">
            <a:avLst>
              <a:gd name="adj" fmla="val 7500"/>
            </a:avLst>
          </a:prstGeom>
          <a:solidFill>
            <a:srgbClr val="E8F3F4"/>
          </a:solidFill>
          <a:ln/>
        </p:spPr>
      </p:sp>
      <p:sp>
        <p:nvSpPr>
          <p:cNvPr id="15" name="Shape 11"/>
          <p:cNvSpPr/>
          <p:nvPr/>
        </p:nvSpPr>
        <p:spPr>
          <a:xfrm>
            <a:off x="777240" y="4718304"/>
            <a:ext cx="502920" cy="502920"/>
          </a:xfrm>
          <a:prstGeom prst="ellipse">
            <a:avLst/>
          </a:prstGeom>
          <a:solidFill>
            <a:srgbClr val="0E7C86"/>
          </a:solidFill>
          <a:ln/>
        </p:spPr>
      </p:sp>
      <p:sp>
        <p:nvSpPr>
          <p:cNvPr id="16" name="Text 12"/>
          <p:cNvSpPr txBox="1"/>
          <p:nvPr/>
        </p:nvSpPr>
        <p:spPr>
          <a:xfrm>
            <a:off x="777240" y="4718304"/>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3"/>
          <p:cNvSpPr txBox="1"/>
          <p:nvPr/>
        </p:nvSpPr>
        <p:spPr>
          <a:xfrm>
            <a:off x="1508760" y="4718304"/>
            <a:ext cx="9875520" cy="502920"/>
          </a:xfrm>
          <a:prstGeom prst="rect">
            <a:avLst/>
          </a:prstGeom>
          <a:noFill/>
          <a:ln/>
        </p:spPr>
        <p:txBody>
          <a:bodyPr wrap="square" lIns="0" tIns="0" rIns="0" bIns="0" rtlCol="0" anchor="ctr"/>
          <a:lstStyle/>
          <a:p>
            <a:pPr algn="l" indent="0" marL="0">
              <a:buNone/>
            </a:pPr>
            <a:r>
              <a:rPr lang="en-US" sz="2400" b="1" dirty="0">
                <a:solidFill>
                  <a:srgbClr val="14212B"/>
                </a:solidFill>
                <a:latin typeface="Calibri" pitchFamily="34" charset="0"/>
                <a:ea typeface="Calibri" pitchFamily="34" charset="-122"/>
                <a:cs typeface="Calibri" pitchFamily="34" charset="-120"/>
              </a:rPr>
              <a:t>Unit 3 · Advanced feedback control</a:t>
            </a:r>
            <a:endParaRPr lang="en-US" sz="2400" dirty="0"/>
          </a:p>
        </p:txBody>
      </p:sp>
      <p:pic>
        <p:nvPicPr>
          <p:cNvPr id="18" name="Image 2" descr="feedback linearisation and NMPC with a hard hitch limit">    </p:cNvPr>
          <p:cNvPicPr>
            <a:picLocks noChangeAspect="1"/>
          </p:cNvPicPr>
          <p:nvPr/>
        </p:nvPicPr>
        <p:blipFill>
          <a:blip r:embed="rId3"/>
          <a:stretch>
            <a:fillRect/>
          </a:stretch>
        </p:blipFill>
        <p:spPr>
          <a:xfrm>
            <a:off x="1508760" y="5312664"/>
            <a:ext cx="6766560" cy="661416"/>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Limitations &amp; future scope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Limitations &amp; future scope</a:t>
            </a:r>
            <a:endParaRPr lang="en-US" sz="2400" dirty="0"/>
          </a:p>
        </p:txBody>
      </p:sp>
      <p:sp>
        <p:nvSpPr>
          <p:cNvPr id="4" name="Shape 2"/>
          <p:cNvSpPr/>
          <p:nvPr/>
        </p:nvSpPr>
        <p:spPr>
          <a:xfrm>
            <a:off x="548640" y="1280160"/>
            <a:ext cx="5394960" cy="4846320"/>
          </a:xfrm>
          <a:prstGeom prst="roundRect">
            <a:avLst>
              <a:gd name="adj" fmla="val 2264"/>
            </a:avLst>
          </a:prstGeom>
          <a:solidFill>
            <a:srgbClr val="FBEAE8"/>
          </a:solidFill>
          <a:ln/>
        </p:spPr>
      </p:sp>
      <p:sp>
        <p:nvSpPr>
          <p:cNvPr id="5" name="Text 3"/>
          <p:cNvSpPr txBox="1"/>
          <p:nvPr/>
        </p:nvSpPr>
        <p:spPr>
          <a:xfrm>
            <a:off x="822960" y="1463040"/>
            <a:ext cx="4846320" cy="502920"/>
          </a:xfrm>
          <a:prstGeom prst="rect">
            <a:avLst/>
          </a:prstGeom>
          <a:noFill/>
          <a:ln/>
        </p:spPr>
        <p:txBody>
          <a:bodyPr wrap="square" lIns="0" tIns="0" rIns="0" bIns="0" rtlCol="0" anchor="t"/>
          <a:lstStyle/>
          <a:p>
            <a:pPr algn="l" indent="0" marL="0">
              <a:buNone/>
            </a:pPr>
            <a:r>
              <a:rPr lang="en-US" sz="2800" b="1" dirty="0">
                <a:solidFill>
                  <a:srgbClr val="B83227"/>
                </a:solidFill>
                <a:latin typeface="Calibri" pitchFamily="34" charset="0"/>
                <a:ea typeface="Calibri" pitchFamily="34" charset="-122"/>
                <a:cs typeface="Calibri" pitchFamily="34" charset="-120"/>
              </a:rPr>
              <a:t>Limitations</a:t>
            </a:r>
            <a:endParaRPr lang="en-US" sz="2800" dirty="0"/>
          </a:p>
        </p:txBody>
      </p:sp>
      <p:sp>
        <p:nvSpPr>
          <p:cNvPr id="6" name="Text 4"/>
          <p:cNvSpPr txBox="1"/>
          <p:nvPr/>
        </p:nvSpPr>
        <p:spPr>
          <a:xfrm>
            <a:off x="822960" y="2103120"/>
            <a:ext cx="4937760" cy="393192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Runs precomputed, then replayed</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Kinematic model: no tyre slip or load transfer</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Roomy aisles (32–40 m); 12/110 bays not certified</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One trailer, simulated yard</a:t>
            </a:r>
            <a:endParaRPr lang="en-US" sz="2400" dirty="0"/>
          </a:p>
        </p:txBody>
      </p:sp>
      <p:sp>
        <p:nvSpPr>
          <p:cNvPr id="7" name="Shape 5"/>
          <p:cNvSpPr/>
          <p:nvPr/>
        </p:nvSpPr>
        <p:spPr>
          <a:xfrm>
            <a:off x="6263640" y="1280160"/>
            <a:ext cx="5394960" cy="4846320"/>
          </a:xfrm>
          <a:prstGeom prst="roundRect">
            <a:avLst>
              <a:gd name="adj" fmla="val 2264"/>
            </a:avLst>
          </a:prstGeom>
          <a:solidFill>
            <a:srgbClr val="E8F3F4"/>
          </a:solidFill>
          <a:ln/>
        </p:spPr>
      </p:sp>
      <p:sp>
        <p:nvSpPr>
          <p:cNvPr id="8" name="Text 6"/>
          <p:cNvSpPr txBox="1"/>
          <p:nvPr/>
        </p:nvSpPr>
        <p:spPr>
          <a:xfrm>
            <a:off x="6537960" y="1463040"/>
            <a:ext cx="4846320" cy="502920"/>
          </a:xfrm>
          <a:prstGeom prst="rect">
            <a:avLst/>
          </a:prstGeom>
          <a:noFill/>
          <a:ln/>
        </p:spPr>
        <p:txBody>
          <a:bodyPr wrap="square" lIns="0" tIns="0" rIns="0" bIns="0" rtlCol="0" anchor="t"/>
          <a:lstStyle/>
          <a:p>
            <a:pPr algn="l" indent="0" marL="0">
              <a:buNone/>
            </a:pPr>
            <a:r>
              <a:rPr lang="en-US" sz="2800" b="1" dirty="0">
                <a:solidFill>
                  <a:srgbClr val="0E7C86"/>
                </a:solidFill>
                <a:latin typeface="Calibri" pitchFamily="34" charset="0"/>
                <a:ea typeface="Calibri" pitchFamily="34" charset="-122"/>
                <a:cs typeface="Calibri" pitchFamily="34" charset="-120"/>
              </a:rPr>
              <a:t>Future scope</a:t>
            </a:r>
            <a:endParaRPr lang="en-US" sz="2800" dirty="0"/>
          </a:p>
        </p:txBody>
      </p:sp>
      <p:sp>
        <p:nvSpPr>
          <p:cNvPr id="9" name="Text 7"/>
          <p:cNvSpPr txBox="1"/>
          <p:nvPr/>
        </p:nvSpPr>
        <p:spPr>
          <a:xfrm>
            <a:off x="6537960" y="2103120"/>
            <a:ext cx="4937760" cy="393192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Live solver: server or in-browser</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Faster NMPC (acados / IPOPT) for tight yards</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Camera / LiDAR pose feedback, as in [1]</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Driver-in-the-loop trials with reaction delay</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Conclusion</a:t>
            </a:r>
            <a:endParaRPr lang="en-US" sz="2400" dirty="0"/>
          </a:p>
        </p:txBody>
      </p:sp>
      <p:sp>
        <p:nvSpPr>
          <p:cNvPr id="4" name="Text 2"/>
          <p:cNvSpPr txBox="1"/>
          <p:nvPr/>
        </p:nvSpPr>
        <p:spPr>
          <a:xfrm>
            <a:off x="548640" y="1371600"/>
            <a:ext cx="6766560" cy="4754880"/>
          </a:xfrm>
          <a:prstGeom prst="rect">
            <a:avLst/>
          </a:prstGeom>
          <a:noFill/>
          <a:ln/>
        </p:spPr>
        <p:txBody>
          <a:bodyPr wrap="square" lIns="0" tIns="0" rIns="0" bIns="0" rtlCol="0" anchor="t"/>
          <a:lstStyle/>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Instability: </a:t>
            </a:r>
            <a:pPr indent="0" marL="0">
              <a:buNone/>
            </a:pPr>
            <a:r>
              <a:rPr lang="en-US" sz="2400" dirty="0">
                <a:solidFill>
                  <a:srgbClr val="14212B"/>
                </a:solidFill>
                <a:latin typeface="Calibri" pitchFamily="34" charset="0"/>
                <a:ea typeface="Calibri" pitchFamily="34" charset="-122"/>
                <a:cs typeface="Calibri" pitchFamily="34" charset="-120"/>
              </a:rPr>
              <a:t>a 2° error hits 60° in 28 m</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Hybrid A* + NMPC </a:t>
            </a:r>
            <a:pPr indent="0" marL="0">
              <a:buNone/>
            </a:pPr>
            <a:r>
              <a:rPr lang="en-US" sz="2400" dirty="0">
                <a:solidFill>
                  <a:srgbClr val="14212B"/>
                </a:solidFill>
                <a:latin typeface="Calibri" pitchFamily="34" charset="0"/>
                <a:ea typeface="Calibri" pitchFamily="34" charset="-122"/>
                <a:cs typeface="Calibri" pitchFamily="34" charset="-120"/>
              </a:rPr>
              <a:t>with a hard 60° hitch limit</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98/110 parked; </a:t>
            </a:r>
            <a:pPr indent="0" marL="0">
              <a:buNone/>
            </a:pPr>
            <a:r>
              <a:rPr lang="en-US" sz="2400" dirty="0">
                <a:solidFill>
                  <a:srgbClr val="14212B"/>
                </a:solidFill>
                <a:latin typeface="Calibri" pitchFamily="34" charset="0"/>
                <a:ea typeface="Calibri" pitchFamily="34" charset="-122"/>
                <a:cs typeface="Calibri" pitchFamily="34" charset="-120"/>
              </a:rPr>
              <a:t>60/60 unaided jackknife</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Human output: </a:t>
            </a:r>
            <a:pPr indent="0" marL="0">
              <a:buNone/>
            </a:pPr>
            <a:r>
              <a:rPr lang="en-US" sz="2400" dirty="0">
                <a:solidFill>
                  <a:srgbClr val="14212B"/>
                </a:solidFill>
                <a:latin typeface="Calibri" pitchFamily="34" charset="0"/>
                <a:ea typeface="Calibri" pitchFamily="34" charset="-122"/>
                <a:cs typeface="Calibri" pitchFamily="34" charset="-120"/>
              </a:rPr>
              <a:t>gear, km/h, wheel turns</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Built and measured </a:t>
            </a:r>
            <a:pPr indent="0" marL="0">
              <a:buNone/>
            </a:pPr>
            <a:r>
              <a:rPr lang="en-US" sz="2400" dirty="0">
                <a:solidFill>
                  <a:srgbClr val="14212B"/>
                </a:solidFill>
                <a:latin typeface="Calibri" pitchFamily="34" charset="0"/>
                <a:ea typeface="Calibri" pitchFamily="34" charset="-122"/>
                <a:cs typeface="Calibri" pitchFamily="34" charset="-120"/>
              </a:rPr>
              <a:t>what [1] proposed</a:t>
            </a:r>
            <a:endParaRPr lang="en-US" sz="2400" dirty="0"/>
          </a:p>
        </p:txBody>
      </p:sp>
      <p:pic>
        <p:nvPicPr>
          <p:cNvPr id="5" name="Image 0" descr="Rig parked in bay 6 under guidance">    </p:cNvPr>
          <p:cNvPicPr>
            <a:picLocks noChangeAspect="1"/>
          </p:cNvPicPr>
          <p:nvPr/>
        </p:nvPicPr>
        <p:blipFill>
          <a:blip r:embed="rId1"/>
          <a:stretch>
            <a:fillRect/>
          </a:stretch>
        </p:blipFill>
        <p:spPr>
          <a:xfrm>
            <a:off x="7635240" y="1995414"/>
            <a:ext cx="4023360" cy="2775732"/>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References (1/2)</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References</a:t>
            </a:r>
            <a:endParaRPr lang="en-US" sz="2400" dirty="0"/>
          </a:p>
        </p:txBody>
      </p:sp>
      <p:sp>
        <p:nvSpPr>
          <p:cNvPr id="4" name="Text 2"/>
          <p:cNvSpPr txBox="1"/>
          <p:nvPr/>
        </p:nvSpPr>
        <p:spPr>
          <a:xfrm>
            <a:off x="548640" y="1280160"/>
            <a:ext cx="11064240" cy="4846320"/>
          </a:xfrm>
          <a:prstGeom prst="rect">
            <a:avLst/>
          </a:prstGeom>
          <a:noFill/>
          <a:ln/>
        </p:spPr>
        <p:txBody>
          <a:bodyPr wrap="square" lIns="0" tIns="0" rIns="0" bIns="0" rtlCol="0" anchor="t"/>
          <a:lstStyle/>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[1]  </a:t>
            </a:r>
            <a:pPr indent="0" marL="0">
              <a:buNone/>
            </a:pPr>
            <a:r>
              <a:rPr lang="en-US" sz="2400" dirty="0">
                <a:solidFill>
                  <a:srgbClr val="14212B"/>
                </a:solidFill>
                <a:latin typeface="Calibri" pitchFamily="34" charset="0"/>
                <a:ea typeface="Calibri" pitchFamily="34" charset="-122"/>
                <a:cs typeface="Calibri" pitchFamily="34" charset="-120"/>
              </a:rPr>
              <a:t>G. Alenchery et al., “Parking Assistance for Trailer-Truck Transport Vehicles Using Sensor Fusion and Motion Planning,” arXiv:2605.02716 [cs.RO], 2026.</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[2]  </a:t>
            </a:r>
            <a:pPr indent="0" marL="0">
              <a:buNone/>
            </a:pPr>
            <a:r>
              <a:rPr lang="en-US" sz="2400" dirty="0">
                <a:solidFill>
                  <a:srgbClr val="14212B"/>
                </a:solidFill>
                <a:latin typeface="Calibri" pitchFamily="34" charset="0"/>
                <a:ea typeface="Calibri" pitchFamily="34" charset="-122"/>
                <a:cs typeface="Calibri" pitchFamily="34" charset="-120"/>
              </a:rPr>
              <a:t>M. Beglini, T. Belvedere, L. Lanari, G. Oriolo, “An Intrinsically Stable MPC Approach for Anti-Jackknifing Control of Tractor-Trailer Vehicles,” IEEE/ASME Trans. Mechatronics, 27(6), 4417–4428, 2022.</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[3]  </a:t>
            </a:r>
            <a:pPr indent="0" marL="0">
              <a:buNone/>
            </a:pPr>
            <a:r>
              <a:rPr lang="en-US" sz="2400" dirty="0">
                <a:solidFill>
                  <a:srgbClr val="14212B"/>
                </a:solidFill>
                <a:latin typeface="Calibri" pitchFamily="34" charset="0"/>
                <a:ea typeface="Calibri" pitchFamily="34" charset="-122"/>
                <a:cs typeface="Calibri" pitchFamily="34" charset="-120"/>
              </a:rPr>
              <a:t>E. Kayacan, E. Kayacan, H. Ramon, W. Saeys, “Robust Tube-Based Decentralized Nonlinear Model Predictive Control of an Autonomous Tractor-Trailer System,” IEEE/ASME Trans. Mechatronics, 20(1), 447–456, 2015.</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[4]  </a:t>
            </a:r>
            <a:pPr indent="0" marL="0">
              <a:buNone/>
            </a:pPr>
            <a:r>
              <a:rPr lang="en-US" sz="2400" dirty="0">
                <a:solidFill>
                  <a:srgbClr val="14212B"/>
                </a:solidFill>
                <a:latin typeface="Calibri" pitchFamily="34" charset="0"/>
                <a:ea typeface="Calibri" pitchFamily="34" charset="-122"/>
                <a:cs typeface="Calibri" pitchFamily="34" charset="-120"/>
              </a:rPr>
              <a:t>D. Dolgov, S. Thrun, M. Montemerlo, J. Diebel, “Path Planning for Autonomous Vehicles in Unknown Semi-structured Environments,” Int. J. Robotics Research, 29(5), 485–501, 2010.</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References (2/2)</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References</a:t>
            </a:r>
            <a:endParaRPr lang="en-US" sz="2400" dirty="0"/>
          </a:p>
        </p:txBody>
      </p:sp>
      <p:sp>
        <p:nvSpPr>
          <p:cNvPr id="4" name="Text 2"/>
          <p:cNvSpPr txBox="1"/>
          <p:nvPr/>
        </p:nvSpPr>
        <p:spPr>
          <a:xfrm>
            <a:off x="548640" y="1280160"/>
            <a:ext cx="11064240" cy="4846320"/>
          </a:xfrm>
          <a:prstGeom prst="rect">
            <a:avLst/>
          </a:prstGeom>
          <a:noFill/>
          <a:ln/>
        </p:spPr>
        <p:txBody>
          <a:bodyPr wrap="square" lIns="0" tIns="0" rIns="0" bIns="0" rtlCol="0" anchor="t"/>
          <a:lstStyle/>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[5]  </a:t>
            </a:r>
            <a:pPr indent="0" marL="0">
              <a:buNone/>
            </a:pPr>
            <a:r>
              <a:rPr lang="en-US" sz="2400" dirty="0">
                <a:solidFill>
                  <a:srgbClr val="14212B"/>
                </a:solidFill>
                <a:latin typeface="Calibri" pitchFamily="34" charset="0"/>
                <a:ea typeface="Calibri" pitchFamily="34" charset="-122"/>
                <a:cs typeface="Calibri" pitchFamily="34" charset="-120"/>
              </a:rPr>
              <a:t>L. E. Dubins, “On Curves of Minimal Length with a Constraint on Average Curvature, and with Prescribed Initial and Terminal Positions and Tangents,” American J. Mathematics, 79(3), 497–516, 1957.</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[6]  </a:t>
            </a:r>
            <a:pPr indent="0" marL="0">
              <a:buNone/>
            </a:pPr>
            <a:r>
              <a:rPr lang="en-US" sz="2400" dirty="0">
                <a:solidFill>
                  <a:srgbClr val="14212B"/>
                </a:solidFill>
                <a:latin typeface="Calibri" pitchFamily="34" charset="0"/>
                <a:ea typeface="Calibri" pitchFamily="34" charset="-122"/>
                <a:cs typeface="Calibri" pitchFamily="34" charset="-120"/>
              </a:rPr>
              <a:t>D. Kraft, “A Software Package for Sequential Quadratic Programming,” DFVLR-FB 88-28, German Aerospace Center (DLR), 1988.</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[7]  </a:t>
            </a:r>
            <a:pPr indent="0" marL="0">
              <a:buNone/>
            </a:pPr>
            <a:r>
              <a:rPr lang="en-US" sz="2400" dirty="0">
                <a:solidFill>
                  <a:srgbClr val="14212B"/>
                </a:solidFill>
                <a:latin typeface="Calibri" pitchFamily="34" charset="0"/>
                <a:ea typeface="Calibri" pitchFamily="34" charset="-122"/>
                <a:cs typeface="Calibri" pitchFamily="34" charset="-120"/>
              </a:rPr>
              <a:t>J. B. Rawlings, D. Q. Mayne, M. M. Diehl, Model Predictive Control: Theory, Computation, and Design, 2nd ed., Nob Hill Publishing, 2017.</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[8]  </a:t>
            </a:r>
            <a:pPr indent="0" marL="0">
              <a:buNone/>
            </a:pPr>
            <a:r>
              <a:rPr lang="en-US" sz="2400" dirty="0">
                <a:solidFill>
                  <a:srgbClr val="14212B"/>
                </a:solidFill>
                <a:latin typeface="Calibri" pitchFamily="34" charset="0"/>
                <a:ea typeface="Calibri" pitchFamily="34" charset="-122"/>
                <a:cs typeface="Calibri" pitchFamily="34" charset="-120"/>
              </a:rPr>
              <a:t>P. Virtanen et al., “SciPy 1.0: Fundamental Algorithms for Scientific Computing in Python,” Nature Methods, 17, 261–272, 2020.</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0"/>
            <a:ext cx="6400800" cy="1188720"/>
          </a:xfrm>
          <a:prstGeom prst="rect">
            <a:avLst/>
          </a:prstGeom>
          <a:noFill/>
          <a:ln/>
        </p:spPr>
        <p:txBody>
          <a:bodyPr wrap="square" lIns="0" tIns="0" rIns="0" bIns="0" rtlCol="0" anchor="t"/>
          <a:lstStyle/>
          <a:p>
            <a:pPr algn="l" indent="0" marL="0">
              <a:buNone/>
            </a:pPr>
            <a:r>
              <a:rPr lang="en-US" sz="5400" b="1" dirty="0">
                <a:solidFill>
                  <a:srgbClr val="14212B"/>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2468880"/>
            <a:ext cx="6400800" cy="731520"/>
          </a:xfrm>
          <a:prstGeom prst="rect">
            <a:avLst/>
          </a:prstGeom>
          <a:noFill/>
          <a:ln/>
        </p:spPr>
        <p:txBody>
          <a:bodyPr wrap="square" lIns="0" tIns="0" rIns="0" bIns="0" rtlCol="0" anchor="t"/>
          <a:lstStyle/>
          <a:p>
            <a:pPr algn="l" indent="0" marL="0">
              <a:buNone/>
            </a:pPr>
            <a:r>
              <a:rPr lang="en-US" sz="3200" b="1" dirty="0">
                <a:solidFill>
                  <a:srgbClr val="0E7C86"/>
                </a:solidFill>
                <a:latin typeface="Calibri" pitchFamily="34" charset="0"/>
                <a:ea typeface="Calibri" pitchFamily="34" charset="-122"/>
                <a:cs typeface="Calibri" pitchFamily="34" charset="-120"/>
              </a:rPr>
              <a:t>Questions?</a:t>
            </a:r>
            <a:endParaRPr lang="en-US" sz="3200" dirty="0"/>
          </a:p>
        </p:txBody>
      </p:sp>
      <p:sp>
        <p:nvSpPr>
          <p:cNvPr id="4" name="Text 2"/>
          <p:cNvSpPr txBox="1"/>
          <p:nvPr/>
        </p:nvSpPr>
        <p:spPr>
          <a:xfrm>
            <a:off x="548640" y="3383280"/>
            <a:ext cx="6309360" cy="146304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Group B9</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Harshith KV · G Venugopalan</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Rithvik Arulprakash · Vipin Sudhakar</a:t>
            </a:r>
            <a:endParaRPr lang="en-US" sz="2400" dirty="0"/>
          </a:p>
        </p:txBody>
      </p:sp>
      <p:sp>
        <p:nvSpPr>
          <p:cNvPr id="5" name="Text 3"/>
          <p:cNvSpPr txBox="1"/>
          <p:nvPr/>
        </p:nvSpPr>
        <p:spPr>
          <a:xfrm>
            <a:off x="548640" y="4937760"/>
            <a:ext cx="6309360" cy="82296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Live demo: run_demo.bat → any layout → any green bay</a:t>
            </a:r>
            <a:endParaRPr lang="en-US" sz="2400" dirty="0"/>
          </a:p>
        </p:txBody>
      </p:sp>
      <p:pic>
        <p:nvPicPr>
          <p:cNvPr id="6" name="Image 0" descr="Tractor-trailer reversing with the NMPC look-ahead">    </p:cNvPr>
          <p:cNvPicPr>
            <a:picLocks noChangeAspect="1"/>
          </p:cNvPicPr>
          <p:nvPr/>
        </p:nvPicPr>
        <p:blipFill>
          <a:blip r:embed="rId1"/>
          <a:stretch>
            <a:fillRect/>
          </a:stretch>
        </p:blipFill>
        <p:spPr>
          <a:xfrm>
            <a:off x="7132320" y="2370296"/>
            <a:ext cx="4526280" cy="2391728"/>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MPC for Automated Reverse Docking of an Articulated Tractor-Trailer</dc:title>
  <dc:subject>PptxGenJS Presentation</dc:subject>
  <dc:creator>Group B9</dc:creator>
  <cp:lastModifiedBy>Group B9</cp:lastModifiedBy>
  <cp:revision>1</cp:revision>
  <dcterms:created xsi:type="dcterms:W3CDTF">2026-09-26T14:03:09Z</dcterms:created>
  <dcterms:modified xsi:type="dcterms:W3CDTF">2026-09-26T14:03:09Z</dcterms:modified>
</cp:coreProperties>
</file>